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89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57" r:id="rId45"/>
    <p:sldId id="258" r:id="rId46"/>
    <p:sldId id="259" r:id="rId47"/>
    <p:sldId id="260" r:id="rId48"/>
    <p:sldId id="261" r:id="rId49"/>
    <p:sldId id="262" r:id="rId50"/>
    <p:sldId id="263" r:id="rId51"/>
    <p:sldId id="276" r:id="rId52"/>
    <p:sldId id="277" r:id="rId53"/>
    <p:sldId id="278" r:id="rId54"/>
    <p:sldId id="279" r:id="rId55"/>
    <p:sldId id="280" r:id="rId56"/>
    <p:sldId id="281" r:id="rId57"/>
    <p:sldId id="282" r:id="rId58"/>
    <p:sldId id="283" r:id="rId59"/>
    <p:sldId id="284" r:id="rId60"/>
    <p:sldId id="285" r:id="rId61"/>
    <p:sldId id="286" r:id="rId62"/>
    <p:sldId id="287" r:id="rId63"/>
    <p:sldId id="288" r:id="rId6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F6BB2-9EDF-43C3-AFA2-E5C0E4F3D587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E9BE4-D891-45C4-8EBC-D67C48CB6C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012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48186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8BCA06-24DB-437F-B0EF-B4FAC1AECDB6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728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75F2CA-880D-4B08-A59B-E22A4E0E4068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38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C57113-BF61-4F6D-BA31-AFF33CE8FB9A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02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A8381E-9097-4C3E-B265-09FA1704243F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21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A22D88-2B31-4F79-8441-3ADE32A2F122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144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78FDBB-F7F8-4C9C-BD73-0DF0E38B176B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8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824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D1D994-474D-4989-97D5-8C2078C7297F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9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445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FEF82A-81D1-4B15-B492-53D254ECE2BD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10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111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BB001B-3ED8-4C0F-A74F-76EC6E48ECD3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11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907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C85FD2-B534-4DD9-A015-0A2A6E580638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12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174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B7F3CC-87B8-4491-B8FD-9FFB5B739AE7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13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193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F86B65-B0AD-48EE-A83B-E73FBE94EE88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14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369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6E6EDB-DAD4-4C8C-8827-29D817A4BF12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15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049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B49343-6BDB-43C8-992B-CF464FE008B7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16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154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158973-2507-4C9A-94AA-03B3D7F82EF3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17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738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E63ECA-58E6-43EC-A5D5-EB4CA20DA5AD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18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898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4714D4-12DD-4B36-8ED8-00ED32693D0E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19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50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DC1B40-283F-44CE-A641-ED0074BC42FC}" type="slidenum">
              <a:rPr kumimoji="0" 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20</a:t>
            </a:fld>
            <a:endParaRPr kumimoji="0" lang="en-US" sz="13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34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72074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39585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61956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974964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23386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256903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24581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39593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732076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017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38820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F19E53CA-B9FE-445C-9D9A-8D91A31E1EF0}" type="slidenum">
              <a:rPr lang="en-US" sz="1200"/>
              <a:pPr/>
              <a:t>32</a:t>
            </a:fld>
            <a:endParaRPr lang="en-US" sz="12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82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7298CD5-718E-4BD2-9D81-2787D0755DE3}" type="slidenum">
              <a:rPr lang="en-US" sz="1200"/>
              <a:pPr/>
              <a:t>33</a:t>
            </a:fld>
            <a:endParaRPr lang="en-US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5050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91A384F-7AF5-4800-9867-EAF0BE195FD4}" type="slidenum">
              <a:rPr lang="en-US" sz="1200"/>
              <a:pPr/>
              <a:t>34</a:t>
            </a:fld>
            <a:endParaRPr 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3251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E9009F28-C933-4E86-9F76-828E1E1AB9D6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3585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972D63C-7176-45FF-A9B8-E9F0EC168335}" type="slidenum">
              <a:rPr lang="en-US" sz="1200"/>
              <a:pPr/>
              <a:t>36</a:t>
            </a:fld>
            <a:endParaRPr 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8521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18DCEDC-94FB-4DB0-9A39-321BA36EAB09}" type="slidenum">
              <a:rPr lang="en-US" sz="1200"/>
              <a:pPr/>
              <a:t>37</a:t>
            </a:fld>
            <a:endParaRPr lang="en-US" sz="1200"/>
          </a:p>
        </p:txBody>
      </p:sp>
      <p:sp>
        <p:nvSpPr>
          <p:cNvPr id="184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7527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897F8B5-6485-4AB1-AB94-75A5E090BC9D}" type="slidenum">
              <a:rPr lang="en-US" sz="1200"/>
              <a:pPr/>
              <a:t>38</a:t>
            </a:fld>
            <a:endParaRPr 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2103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A1396C6C-BDDC-418E-9B73-4A299FA69388}" type="slidenum">
              <a:rPr lang="en-US" sz="1200"/>
              <a:pPr/>
              <a:t>39</a:t>
            </a:fld>
            <a:endParaRPr 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9913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8456A77-B2C5-48C3-8086-1F73515CB13D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428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B4BFB3B-610E-491D-92E9-E218A518A7A1}" type="slidenum">
              <a:rPr lang="en-US" sz="1200"/>
              <a:pPr/>
              <a:t>41</a:t>
            </a:fld>
            <a:endParaRPr 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729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5DD1E20-C7C1-43D3-85C6-A656B76A717A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1651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D6CF970-329C-4CF3-9214-70E4787EACFA}" type="slidenum">
              <a:rPr lang="en-US" sz="1200"/>
              <a:pPr/>
              <a:t>43</a:t>
            </a:fld>
            <a:endParaRPr 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smtClean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09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0547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851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297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6502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2774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20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409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824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1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054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840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641" y="504053"/>
            <a:ext cx="10410240" cy="114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75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7948D-D142-424D-A870-04539EF40260}" type="datetimeFigureOut">
              <a:rPr lang="th-TH" smtClean="0"/>
              <a:t>08/08/59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A815-463D-4CD0-A940-0E79D4059E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955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HTML Form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94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8"/>
            <a:ext cx="7809939" cy="701731"/>
          </a:xfrm>
        </p:spPr>
        <p:txBody>
          <a:bodyPr>
            <a:spAutoFit/>
          </a:bodyPr>
          <a:lstStyle/>
          <a:p>
            <a:pPr eaLnBrk="1"/>
            <a:endParaRPr lang="en-US" altLang="en-US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2196072" y="3816150"/>
            <a:ext cx="7809939" cy="501676"/>
          </a:xfrm>
        </p:spPr>
        <p:txBody>
          <a:bodyPr anchor="ctr">
            <a:spAutoFit/>
          </a:bodyPr>
          <a:lstStyle/>
          <a:p>
            <a:pPr marL="0" indent="0" algn="ctr">
              <a:lnSpc>
                <a:spcPct val="95000"/>
              </a:lnSpc>
              <a:buClr>
                <a:srgbClr val="000000"/>
              </a:buClr>
              <a:buNone/>
            </a:pPr>
            <a:r>
              <a:rPr lang="en-GB" altLang="en-US" smtClean="0">
                <a:latin typeface="Times New Roman" panose="02020603050405020304" pitchFamily="18" charset="0"/>
              </a:rPr>
              <a:t>1 - Creating a form</a:t>
            </a:r>
          </a:p>
        </p:txBody>
      </p:sp>
    </p:spTree>
    <p:extLst>
      <p:ext uri="{BB962C8B-B14F-4D97-AF65-F5344CB8AC3E}">
        <p14:creationId xmlns:p14="http://schemas.microsoft.com/office/powerpoint/2010/main" val="3176091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Overview of Forms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676400"/>
            <a:ext cx="8534400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Forms are used all over the Web to </a:t>
            </a:r>
          </a:p>
          <a:p>
            <a:pPr lvl="1"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Accept information</a:t>
            </a:r>
          </a:p>
          <a:p>
            <a:pPr lvl="1"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Provide interactivity</a:t>
            </a:r>
            <a:br>
              <a:rPr lang="en-US">
                <a:cs typeface="Times New Roman" panose="02020603050405020304" pitchFamily="18" charset="0"/>
              </a:rPr>
            </a:br>
            <a:endParaRPr lang="en-US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US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US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Types of forms:</a:t>
            </a:r>
          </a:p>
          <a:p>
            <a:pPr lvl="1"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Search form, Order form, Newsletter sign-up form, Survey form,  Add to Cart form, and so on…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CB4653-BDEE-4D37-B3FE-84181372ACEB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sz="1200">
              <a:latin typeface="Times New Roman" panose="02020603050405020304" pitchFamily="18" charset="0"/>
            </a:endParaRPr>
          </a:p>
        </p:txBody>
      </p:sp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3200400"/>
            <a:ext cx="56102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5221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192088"/>
            <a:ext cx="9034463" cy="874712"/>
          </a:xfrm>
        </p:spPr>
        <p:txBody>
          <a:bodyPr/>
          <a:lstStyle/>
          <a:p>
            <a:pPr algn="r"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Two Components of Using Forms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7696200" cy="4191000"/>
          </a:xfrm>
        </p:spPr>
        <p:txBody>
          <a:bodyPr>
            <a:normAutofit fontScale="92500"/>
          </a:bodyPr>
          <a:lstStyle/>
          <a:p>
            <a:pPr marL="514350" indent="-514350">
              <a:buNone/>
              <a:defRPr/>
            </a:pPr>
            <a:r>
              <a:rPr lang="en-US" dirty="0">
                <a:cs typeface="Times New Roman" pitchFamily="18" charset="0"/>
              </a:rPr>
              <a:t>1.  The web page form</a:t>
            </a:r>
          </a:p>
          <a:p>
            <a:pPr marL="914400" lvl="1" indent="-514350">
              <a:buNone/>
              <a:defRPr/>
            </a:pPr>
            <a:r>
              <a:rPr lang="en-US" dirty="0">
                <a:cs typeface="Times New Roman" pitchFamily="18" charset="0"/>
              </a:rPr>
              <a:t>  An HTML element that contains and organizes </a:t>
            </a:r>
            <a:r>
              <a:rPr lang="en-US" b="1" dirty="0">
                <a:cs typeface="Times New Roman" pitchFamily="18" charset="0"/>
              </a:rPr>
              <a:t>form controls </a:t>
            </a:r>
            <a:r>
              <a:rPr lang="en-US" dirty="0">
                <a:cs typeface="Times New Roman" pitchFamily="18" charset="0"/>
              </a:rPr>
              <a:t>such as </a:t>
            </a:r>
            <a:r>
              <a:rPr lang="en-US" sz="700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text boxes,  check boxes,   and buttons  that can accept information from website visitors. </a:t>
            </a:r>
          </a:p>
          <a:p>
            <a:pPr marL="914400" lvl="1" indent="-514350">
              <a:buNone/>
              <a:defRPr/>
            </a:pPr>
            <a:endParaRPr lang="en-US" sz="800" dirty="0">
              <a:cs typeface="Times New Roman" pitchFamily="18" charset="0"/>
            </a:endParaRPr>
          </a:p>
          <a:p>
            <a:pPr marL="365760" indent="-283464">
              <a:buNone/>
              <a:defRPr/>
            </a:pPr>
            <a:r>
              <a:rPr lang="en-US" dirty="0">
                <a:cs typeface="Times New Roman" pitchFamily="18" charset="0"/>
              </a:rPr>
              <a:t>and </a:t>
            </a:r>
            <a:r>
              <a:rPr lang="en-US" sz="800" dirty="0">
                <a:cs typeface="Times New Roman" pitchFamily="18" charset="0"/>
              </a:rPr>
              <a:t/>
            </a:r>
            <a:br>
              <a:rPr lang="en-US" sz="800" dirty="0">
                <a:cs typeface="Times New Roman" pitchFamily="18" charset="0"/>
              </a:rPr>
            </a:br>
            <a:endParaRPr lang="en-US" sz="800" dirty="0">
              <a:cs typeface="Times New Roman" pitchFamily="18" charset="0"/>
            </a:endParaRPr>
          </a:p>
          <a:p>
            <a:pPr marL="365760" indent="-283464">
              <a:buNone/>
              <a:defRPr/>
            </a:pPr>
            <a:r>
              <a:rPr lang="en-US" dirty="0">
                <a:cs typeface="Times New Roman" pitchFamily="18" charset="0"/>
              </a:rPr>
              <a:t>2.  The server-side processing</a:t>
            </a:r>
            <a:r>
              <a:rPr lang="en-US" sz="800" dirty="0">
                <a:cs typeface="Times New Roman" pitchFamily="18" charset="0"/>
              </a:rPr>
              <a:t/>
            </a:r>
            <a:br>
              <a:rPr lang="en-US" sz="800" dirty="0">
                <a:cs typeface="Times New Roman" pitchFamily="18" charset="0"/>
              </a:rPr>
            </a:br>
            <a:endParaRPr lang="en-US" sz="800" dirty="0">
              <a:cs typeface="Times New Roman" pitchFamily="18" charset="0"/>
            </a:endParaRPr>
          </a:p>
          <a:p>
            <a:pPr marL="640080" lvl="1" indent="-237744">
              <a:buNone/>
              <a:defRPr/>
            </a:pPr>
            <a:r>
              <a:rPr lang="en-US" sz="800" dirty="0">
                <a:cs typeface="Times New Roman" pitchFamily="18" charset="0"/>
              </a:rPr>
              <a:t>	</a:t>
            </a:r>
            <a:br>
              <a:rPr lang="en-US" sz="800" dirty="0">
                <a:cs typeface="Times New Roman" pitchFamily="18" charset="0"/>
              </a:rPr>
            </a:br>
            <a:r>
              <a:rPr lang="en-US" sz="800" dirty="0">
                <a:cs typeface="Times New Roman" pitchFamily="18" charset="0"/>
              </a:rPr>
              <a:t/>
            </a:r>
            <a:br>
              <a:rPr lang="en-US" sz="800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Server-side processing works with the form data and sends e-mail, writes to a text file, updates a database, or performs some other type of processing on the server.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7DD9CD-D81A-4472-B5A5-58CA50A0866C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6556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398588"/>
          </a:xfrm>
        </p:spPr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HTML Using Forms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295400"/>
            <a:ext cx="82296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&lt;form&gt; </a:t>
            </a:r>
            <a:r>
              <a:rPr lang="en-US" sz="2000"/>
              <a:t>tag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Contains the form elements on a web page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Container tag 	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&lt;input&gt; </a:t>
            </a:r>
            <a:r>
              <a:rPr lang="en-US" sz="2000"/>
              <a:t>tag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Configures a variety of form elements including text boxes, radio buttons, check boxes, and buttons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Stand alone tag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&lt;textarea&gt; </a:t>
            </a:r>
            <a:r>
              <a:rPr lang="en-US" sz="2000"/>
              <a:t>tag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Configures a scrolling text box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Container tag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&lt;select&gt; </a:t>
            </a:r>
            <a:r>
              <a:rPr lang="en-US" sz="2000"/>
              <a:t>tag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Configures a select box (drop down list)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Container tag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&lt;option&gt; </a:t>
            </a:r>
            <a:r>
              <a:rPr lang="en-US" sz="2000"/>
              <a:t>tag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Configures an option in the select box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Container tag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890C07-FD21-4ACF-A2FB-B0F33C6F854C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2849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Sample Form HTML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00200"/>
            <a:ext cx="8686800" cy="2438400"/>
          </a:xfrm>
          <a:solidFill>
            <a:schemeClr val="accent3">
              <a:alpha val="32000"/>
            </a:schemeClr>
          </a:solidFill>
        </p:spPr>
        <p:txBody>
          <a:bodyPr>
            <a:noAutofit/>
          </a:bodyPr>
          <a:lstStyle/>
          <a:p>
            <a:pPr marL="365760" indent="-283464"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&lt;form&gt;</a:t>
            </a:r>
          </a:p>
          <a:p>
            <a:pPr marL="365760" indent="-283464"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E-mail: &lt;input type="text" name="email" id="email" &gt;</a:t>
            </a:r>
          </a:p>
          <a:p>
            <a:pPr marL="365760" indent="-283464"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&gt;&lt;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365760" indent="-283464"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&lt;input type="submit" value="Sign Me Up!"&gt; &lt;input type="reset"&gt;</a:t>
            </a:r>
          </a:p>
          <a:p>
            <a:pPr marL="365760" indent="-283464"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&lt;/form&gt;</a:t>
            </a:r>
            <a:endParaRPr lang="en-US" sz="2000" b="1" dirty="0">
              <a:cs typeface="Times New Roman" pitchFamily="18" charset="0"/>
            </a:endParaRP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ECAE53-8964-424E-92A7-75DFBFFB604B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4729163" y="22907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18438" name="Rectangle 8"/>
          <p:cNvSpPr>
            <a:spLocks noChangeArrowheads="1"/>
          </p:cNvSpPr>
          <p:nvPr/>
        </p:nvSpPr>
        <p:spPr bwMode="auto">
          <a:xfrm>
            <a:off x="3352800" y="15144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184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4267201"/>
            <a:ext cx="30099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78769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Form Element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&lt;form&gt;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839200" cy="5029200"/>
          </a:xfrm>
        </p:spPr>
        <p:txBody>
          <a:bodyPr>
            <a:normAutofit lnSpcReduction="10000"/>
          </a:bodyPr>
          <a:lstStyle/>
          <a:p>
            <a:pPr marL="365760" indent="-283464">
              <a:buFont typeface="Wingdings 2"/>
              <a:buChar char=""/>
              <a:defRPr/>
            </a:pPr>
            <a:endParaRPr lang="en-US" dirty="0" smtClean="0"/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 smtClean="0"/>
              <a:t>Container Tag</a:t>
            </a:r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 smtClean="0"/>
              <a:t>The form element attributes: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 smtClean="0"/>
              <a:t>action</a:t>
            </a:r>
          </a:p>
          <a:p>
            <a:pPr marL="886968" lvl="2">
              <a:buFont typeface="Wingdings 2"/>
              <a:buChar char=""/>
              <a:defRPr/>
            </a:pPr>
            <a:r>
              <a:rPr lang="en-US" dirty="0" smtClean="0"/>
              <a:t>Specifies the server-side program or script that will process your form data 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 smtClean="0"/>
              <a:t>method</a:t>
            </a:r>
          </a:p>
          <a:p>
            <a:pPr marL="886968" lvl="2">
              <a:buFont typeface="Wingdings 2"/>
              <a:buChar char=""/>
              <a:defRPr/>
            </a:pPr>
            <a:r>
              <a:rPr lang="en-US" dirty="0" smtClean="0"/>
              <a:t>get – default value, </a:t>
            </a:r>
            <a:br>
              <a:rPr lang="en-US" dirty="0" smtClean="0"/>
            </a:br>
            <a:r>
              <a:rPr lang="en-US" dirty="0" smtClean="0"/>
              <a:t>         form data passed in URL</a:t>
            </a:r>
          </a:p>
          <a:p>
            <a:pPr marL="886968" lvl="2">
              <a:buFont typeface="Wingdings 2"/>
              <a:buChar char=""/>
              <a:defRPr/>
            </a:pPr>
            <a:r>
              <a:rPr lang="en-US" dirty="0" smtClean="0"/>
              <a:t>post – more secure, </a:t>
            </a:r>
            <a:br>
              <a:rPr lang="en-US" dirty="0" smtClean="0"/>
            </a:br>
            <a:r>
              <a:rPr lang="en-US" dirty="0" smtClean="0"/>
              <a:t>         form data passed in HTTP Entity Body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 smtClean="0"/>
              <a:t>name</a:t>
            </a:r>
          </a:p>
          <a:p>
            <a:pPr marL="886968" lvl="2">
              <a:buFont typeface="Wingdings 2"/>
              <a:buChar char=""/>
              <a:defRPr/>
            </a:pPr>
            <a:r>
              <a:rPr lang="en-US" dirty="0" smtClean="0"/>
              <a:t>Identifies the form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 smtClean="0"/>
              <a:t>id</a:t>
            </a:r>
          </a:p>
          <a:p>
            <a:pPr marL="886968" lvl="2">
              <a:buFont typeface="Wingdings 2"/>
              <a:buChar char=""/>
              <a:defRPr/>
            </a:pPr>
            <a:r>
              <a:rPr lang="en-US" dirty="0" smtClean="0"/>
              <a:t>Identifies the form</a:t>
            </a:r>
          </a:p>
          <a:p>
            <a:pPr marL="640080" lvl="1" indent="-237744">
              <a:buNone/>
              <a:defRPr/>
            </a:pPr>
            <a:endParaRPr lang="en-US" dirty="0" smtClean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0E2C6D-0E1D-41E7-9DC0-E1C9949897DE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0774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Text Box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 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05000"/>
            <a:ext cx="6586538" cy="4191000"/>
          </a:xfrm>
        </p:spPr>
        <p:txBody>
          <a:bodyPr>
            <a:normAutofit lnSpcReduction="10000"/>
          </a:bodyPr>
          <a:lstStyle/>
          <a:p>
            <a:pPr marL="365125" indent="-282575">
              <a:buFont typeface="Wingdings 2" panose="05020102010507070707" pitchFamily="18" charset="2"/>
              <a:buChar char=""/>
              <a:defRPr/>
            </a:pPr>
            <a:r>
              <a:rPr lang="en-US" dirty="0" smtClean="0"/>
              <a:t>Accepts text information</a:t>
            </a:r>
            <a:br>
              <a:rPr lang="en-US" dirty="0" smtClean="0"/>
            </a:br>
            <a:endParaRPr lang="en-US" sz="1400" dirty="0"/>
          </a:p>
          <a:p>
            <a:pPr marL="365125" indent="-282575">
              <a:buFont typeface="Wingdings 2" panose="05020102010507070707" pitchFamily="18" charset="2"/>
              <a:buChar char=""/>
              <a:defRPr/>
            </a:pPr>
            <a:r>
              <a:rPr lang="en-US" dirty="0" smtClean="0"/>
              <a:t>Common Attributes:</a:t>
            </a:r>
          </a:p>
          <a:p>
            <a:pPr marL="639763" lvl="1" indent="-236538">
              <a:buFont typeface="Verdana" pitchFamily="34" charset="0"/>
              <a:buChar char="◦"/>
              <a:defRPr/>
            </a:pPr>
            <a:r>
              <a:rPr lang="en-US" dirty="0"/>
              <a:t>type=“text”</a:t>
            </a:r>
          </a:p>
          <a:p>
            <a:pPr marL="639763" lvl="1" indent="-236538">
              <a:buFont typeface="Verdana" pitchFamily="34" charset="0"/>
              <a:buChar char="◦"/>
              <a:defRPr/>
            </a:pPr>
            <a:r>
              <a:rPr lang="en-US" dirty="0"/>
              <a:t>name</a:t>
            </a:r>
          </a:p>
          <a:p>
            <a:pPr marL="639763" lvl="1" indent="-236538">
              <a:buFont typeface="Verdana" pitchFamily="34" charset="0"/>
              <a:buChar char="◦"/>
              <a:defRPr/>
            </a:pPr>
            <a:r>
              <a:rPr lang="en-US" dirty="0"/>
              <a:t>id</a:t>
            </a:r>
          </a:p>
          <a:p>
            <a:pPr marL="639763" lvl="1" indent="-236538">
              <a:buFont typeface="Verdana" pitchFamily="34" charset="0"/>
              <a:buChar char="◦"/>
              <a:defRPr/>
            </a:pPr>
            <a:r>
              <a:rPr lang="en-US" dirty="0"/>
              <a:t>size</a:t>
            </a:r>
          </a:p>
          <a:p>
            <a:pPr marL="639763" lvl="1" indent="-236538">
              <a:buFont typeface="Verdana" pitchFamily="34" charset="0"/>
              <a:buChar char="◦"/>
              <a:defRPr/>
            </a:pPr>
            <a:r>
              <a:rPr lang="en-US" dirty="0" err="1"/>
              <a:t>maxlength</a:t>
            </a:r>
            <a:endParaRPr lang="en-US" dirty="0"/>
          </a:p>
          <a:p>
            <a:pPr marL="639763" lvl="1" indent="-236538">
              <a:buFont typeface="Verdana" pitchFamily="34" charset="0"/>
              <a:buChar char="◦"/>
              <a:defRPr/>
            </a:pPr>
            <a:r>
              <a:rPr lang="en-US" dirty="0"/>
              <a:t>value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required (HTML5)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placeholder (HTML5)</a:t>
            </a:r>
          </a:p>
          <a:p>
            <a:pPr marL="639763" lvl="1" indent="-236538">
              <a:buFont typeface="Verdana" pitchFamily="34" charset="0"/>
              <a:buChar char="◦"/>
              <a:defRPr/>
            </a:pPr>
            <a:endParaRPr lang="en-US" dirty="0"/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72772F-06D5-449E-9AAA-CE3ADFACB6B3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20486" name="Picture 4" descr="figure5_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3505201"/>
            <a:ext cx="5029200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40737436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304800"/>
            <a:ext cx="8564563" cy="1143000"/>
          </a:xfrm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Password Box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 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1676400"/>
            <a:ext cx="7239000" cy="4648200"/>
          </a:xfrm>
        </p:spPr>
        <p:txBody>
          <a:bodyPr>
            <a:normAutofit lnSpcReduction="10000"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en-US" dirty="0" smtClean="0"/>
              <a:t>Accepts text information that needs to be hidden as it is entered</a:t>
            </a:r>
            <a:br>
              <a:rPr lang="en-US" dirty="0" smtClean="0"/>
            </a:br>
            <a:endParaRPr lang="en-US" dirty="0" smtClean="0"/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 smtClean="0"/>
              <a:t>Common Attributes: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type=“password”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name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id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size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 err="1"/>
              <a:t>maxlength</a:t>
            </a:r>
            <a:endParaRPr lang="en-US" dirty="0"/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value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required (HTML5)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placeholder (HTML5)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89B5D8-BE3E-4B1B-817A-2AAFACF252D5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24582" name="Rectangle 7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2151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3505200"/>
            <a:ext cx="4191000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51742506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Check box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7315200" cy="4191000"/>
          </a:xfrm>
        </p:spPr>
        <p:txBody>
          <a:bodyPr>
            <a:normAutofit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en-US" dirty="0" smtClean="0"/>
              <a:t>Allows the user to select one or more of a group of predetermined items</a:t>
            </a:r>
          </a:p>
          <a:p>
            <a:pPr marL="365760" indent="-283464">
              <a:buFont typeface="Wingdings 2"/>
              <a:buChar char=""/>
              <a:defRPr/>
            </a:pPr>
            <a:endParaRPr lang="en-US" dirty="0" smtClean="0"/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 smtClean="0"/>
              <a:t>Common Attributes: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type=“checkbox”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name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id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checked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dirty="0"/>
              <a:t>value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ACA2A1-5FE5-4B3D-BED7-58FA07929C46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2663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1" y="3962400"/>
            <a:ext cx="2703513" cy="186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52201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Radio Button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911350" y="1524000"/>
            <a:ext cx="7696200" cy="4191000"/>
          </a:xfrm>
        </p:spPr>
        <p:txBody>
          <a:bodyPr>
            <a:normAutofit fontScale="92500" lnSpcReduction="10000"/>
          </a:bodyPr>
          <a:lstStyle/>
          <a:p>
            <a:pPr marL="365125" indent="-282575">
              <a:buFont typeface="Wingdings 2" panose="05020102010507070707" pitchFamily="18" charset="2"/>
              <a:buChar char=""/>
            </a:pPr>
            <a:r>
              <a:rPr lang="en-US"/>
              <a:t>Allows the user to select exactly one from a group of predetermined items</a:t>
            </a:r>
            <a:br>
              <a:rPr lang="en-US"/>
            </a:br>
            <a:endParaRPr lang="en-US"/>
          </a:p>
          <a:p>
            <a:pPr marL="365125" indent="-282575">
              <a:buFont typeface="Wingdings 2" panose="05020102010507070707" pitchFamily="18" charset="2"/>
              <a:buChar char=""/>
            </a:pPr>
            <a:r>
              <a:rPr lang="en-US"/>
              <a:t>Each radio button in a group is given the same name and a unique value</a:t>
            </a:r>
          </a:p>
          <a:p>
            <a:pPr marL="365125" indent="-282575">
              <a:buFont typeface="Wingdings 2" panose="05020102010507070707" pitchFamily="18" charset="2"/>
              <a:buChar char=""/>
            </a:pPr>
            <a:endParaRPr lang="en-US"/>
          </a:p>
          <a:p>
            <a:pPr marL="365125" indent="-282575">
              <a:buFont typeface="Wingdings 2" panose="05020102010507070707" pitchFamily="18" charset="2"/>
              <a:buChar char=""/>
            </a:pPr>
            <a:r>
              <a:rPr lang="en-US"/>
              <a:t>Comon Attributes:</a:t>
            </a:r>
          </a:p>
          <a:p>
            <a:pPr marL="639763" lvl="1" indent="-236538">
              <a:buFont typeface="Verdana" panose="020B0604030504040204" pitchFamily="34" charset="0"/>
              <a:buChar char="◦"/>
            </a:pPr>
            <a:r>
              <a:rPr lang="en-US" sz="2000"/>
              <a:t>type=“radio”</a:t>
            </a:r>
          </a:p>
          <a:p>
            <a:pPr marL="639763" lvl="1" indent="-236538">
              <a:buFont typeface="Verdana" panose="020B0604030504040204" pitchFamily="34" charset="0"/>
              <a:buChar char="◦"/>
            </a:pPr>
            <a:r>
              <a:rPr lang="en-US" sz="2000"/>
              <a:t>name</a:t>
            </a:r>
          </a:p>
          <a:p>
            <a:pPr marL="639763" lvl="1" indent="-236538">
              <a:buFont typeface="Verdana" panose="020B0604030504040204" pitchFamily="34" charset="0"/>
              <a:buChar char="◦"/>
            </a:pPr>
            <a:r>
              <a:rPr lang="en-US" sz="2000"/>
              <a:t>id</a:t>
            </a:r>
          </a:p>
          <a:p>
            <a:pPr marL="639763" lvl="1" indent="-236538">
              <a:buFont typeface="Verdana" panose="020B0604030504040204" pitchFamily="34" charset="0"/>
              <a:buChar char="◦"/>
            </a:pPr>
            <a:r>
              <a:rPr lang="en-US" sz="2000"/>
              <a:t>checked</a:t>
            </a:r>
          </a:p>
          <a:p>
            <a:pPr marL="639763" lvl="1" indent="-236538">
              <a:buFont typeface="Verdana" panose="020B0604030504040204" pitchFamily="34" charset="0"/>
              <a:buChar char="◦"/>
            </a:pPr>
            <a:r>
              <a:rPr lang="en-US" sz="2000"/>
              <a:t>value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DC52D1-5651-4B06-8E03-4AF526730A89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28680" name="Rectangle 9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2868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886201"/>
            <a:ext cx="2935288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02944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274638"/>
            <a:ext cx="8172450" cy="1143000"/>
          </a:xfrm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Textarea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Element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textarea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&gt;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05000"/>
            <a:ext cx="7239000" cy="4191000"/>
          </a:xfrm>
        </p:spPr>
        <p:txBody>
          <a:bodyPr/>
          <a:lstStyle/>
          <a:p>
            <a:r>
              <a:rPr lang="en-US" smtClean="0"/>
              <a:t>Configures a scrolling text box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Common Attributes:</a:t>
            </a:r>
          </a:p>
          <a:p>
            <a:pPr lvl="1"/>
            <a:r>
              <a:rPr lang="en-US"/>
              <a:t>name</a:t>
            </a:r>
          </a:p>
          <a:p>
            <a:pPr lvl="1"/>
            <a:r>
              <a:rPr lang="en-US"/>
              <a:t>id</a:t>
            </a:r>
          </a:p>
          <a:p>
            <a:pPr lvl="1"/>
            <a:r>
              <a:rPr lang="en-US"/>
              <a:t>cols</a:t>
            </a:r>
          </a:p>
          <a:p>
            <a:pPr lvl="1"/>
            <a:r>
              <a:rPr lang="en-US"/>
              <a:t>rows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79ED74-5BDB-4247-A5D3-40F2A336A8B2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0729" name="Rectangle 10"/>
          <p:cNvSpPr>
            <a:spLocks noChangeArrowheads="1"/>
          </p:cNvSpPr>
          <p:nvPr/>
        </p:nvSpPr>
        <p:spPr bwMode="auto">
          <a:xfrm>
            <a:off x="5081588" y="29241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24586" name="Picture 9" descr="figure5_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1" y="3502025"/>
            <a:ext cx="4824413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1460854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Select Element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&lt;select&gt;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600200"/>
            <a:ext cx="7620000" cy="4572000"/>
          </a:xfrm>
        </p:spPr>
        <p:txBody>
          <a:bodyPr>
            <a:normAutofit lnSpcReduction="10000"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en-US" dirty="0">
                <a:cs typeface="Arial" pitchFamily="34" charset="0"/>
              </a:rPr>
              <a:t>Configures a select list </a:t>
            </a:r>
            <a:r>
              <a:rPr lang="en-US" sz="2000" dirty="0">
                <a:cs typeface="Arial" pitchFamily="34" charset="0"/>
              </a:rPr>
              <a:t>(along with </a:t>
            </a:r>
            <a:r>
              <a:rPr lang="en-US" sz="2000" dirty="0">
                <a:cs typeface="Times New Roman" pitchFamily="18" charset="0"/>
              </a:rPr>
              <a:t>&lt;option&gt;</a:t>
            </a:r>
            <a:r>
              <a:rPr lang="en-US" sz="2000" dirty="0">
                <a:cs typeface="Arial" pitchFamily="34" charset="0"/>
              </a:rPr>
              <a:t> tags)</a:t>
            </a:r>
            <a:br>
              <a:rPr lang="en-US" sz="2000" dirty="0">
                <a:cs typeface="Arial" pitchFamily="34" charset="0"/>
              </a:rPr>
            </a:br>
            <a:endParaRPr lang="en-US" sz="800" dirty="0">
              <a:cs typeface="Arial" pitchFamily="34" charset="0"/>
            </a:endParaRPr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>
                <a:cs typeface="Arial" pitchFamily="34" charset="0"/>
              </a:rPr>
              <a:t>Also known as: Select Box, Drop-Down List, Drop-Down Box, and Option Box. </a:t>
            </a:r>
            <a:br>
              <a:rPr lang="en-US" dirty="0">
                <a:cs typeface="Arial" pitchFamily="34" charset="0"/>
              </a:rPr>
            </a:br>
            <a:endParaRPr lang="en-US" sz="800" dirty="0">
              <a:cs typeface="Arial" pitchFamily="34" charset="0"/>
            </a:endParaRPr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>
                <a:cs typeface="Arial" pitchFamily="34" charset="0"/>
              </a:rPr>
              <a:t>Allows the user to select one or more items from a list of predetermined choices. </a:t>
            </a:r>
            <a:br>
              <a:rPr lang="en-US" dirty="0">
                <a:cs typeface="Arial" pitchFamily="34" charset="0"/>
              </a:rPr>
            </a:br>
            <a:endParaRPr lang="en-US" dirty="0"/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Common Attributes: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sz="2000" dirty="0"/>
              <a:t>name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sz="2000" dirty="0"/>
              <a:t>id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sz="2000" dirty="0"/>
              <a:t>size</a:t>
            </a:r>
          </a:p>
          <a:p>
            <a:pPr marL="640080" lvl="1" indent="-237744">
              <a:buFont typeface="Verdana"/>
              <a:buChar char="◦"/>
              <a:defRPr/>
            </a:pPr>
            <a:r>
              <a:rPr lang="en-US" sz="2000" dirty="0"/>
              <a:t>multiple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B95F4C-328F-453B-BE35-698071CD8FB4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5081588" y="29241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2778" name="Rectangle 11"/>
          <p:cNvSpPr>
            <a:spLocks noChangeArrowheads="1"/>
          </p:cNvSpPr>
          <p:nvPr/>
        </p:nvSpPr>
        <p:spPr bwMode="auto">
          <a:xfrm>
            <a:off x="5124450" y="30622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25611" name="Picture 10" descr="figure5_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4495800"/>
            <a:ext cx="3467100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92012587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Option Element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&lt;option&gt;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752600"/>
            <a:ext cx="7620000" cy="4648200"/>
          </a:xfrm>
        </p:spPr>
        <p:txBody>
          <a:bodyPr/>
          <a:lstStyle/>
          <a:p>
            <a:r>
              <a:rPr lang="en-US" smtClean="0">
                <a:cs typeface="Arial" panose="020B0604020202020204" pitchFamily="34" charset="0"/>
              </a:rPr>
              <a:t>Configures the options in a Select List</a:t>
            </a:r>
            <a:br>
              <a:rPr lang="en-US" smtClean="0">
                <a:cs typeface="Arial" panose="020B0604020202020204" pitchFamily="34" charset="0"/>
              </a:rPr>
            </a:br>
            <a:endParaRPr lang="en-US" smtClean="0">
              <a:cs typeface="Arial" panose="020B0604020202020204" pitchFamily="34" charset="0"/>
            </a:endParaRPr>
          </a:p>
          <a:p>
            <a:r>
              <a:rPr lang="en-US" smtClean="0"/>
              <a:t>Attributes:</a:t>
            </a:r>
          </a:p>
          <a:p>
            <a:pPr lvl="1"/>
            <a:r>
              <a:rPr lang="en-US"/>
              <a:t>value</a:t>
            </a:r>
          </a:p>
          <a:p>
            <a:pPr lvl="1"/>
            <a:r>
              <a:rPr lang="en-US"/>
              <a:t>selected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C09EBE-B86B-4EA1-8998-6CB15FE50264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auto">
          <a:xfrm>
            <a:off x="5081588" y="29241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4826" name="Rectangle 9"/>
          <p:cNvSpPr>
            <a:spLocks noChangeArrowheads="1"/>
          </p:cNvSpPr>
          <p:nvPr/>
        </p:nvSpPr>
        <p:spPr bwMode="auto">
          <a:xfrm>
            <a:off x="5124450" y="30622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4827" name="Rectangle 14"/>
          <p:cNvSpPr>
            <a:spLocks noChangeArrowheads="1"/>
          </p:cNvSpPr>
          <p:nvPr/>
        </p:nvSpPr>
        <p:spPr bwMode="auto">
          <a:xfrm>
            <a:off x="5205413" y="26622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3482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4495800"/>
            <a:ext cx="381476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2895601"/>
            <a:ext cx="2752725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6197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Submit Button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1828800"/>
            <a:ext cx="76200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Arial" panose="020B0604020202020204" pitchFamily="34" charset="0"/>
              </a:rPr>
              <a:t>Submits the form information</a:t>
            </a:r>
          </a:p>
          <a:p>
            <a:pPr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When clicked: </a:t>
            </a:r>
          </a:p>
          <a:p>
            <a:pPr lvl="1"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Triggers the </a:t>
            </a:r>
            <a:r>
              <a:rPr lang="en-US" b="1">
                <a:cs typeface="Times New Roman" panose="02020603050405020304" pitchFamily="18" charset="0"/>
              </a:rPr>
              <a:t>action</a:t>
            </a:r>
            <a:r>
              <a:rPr lang="en-US">
                <a:cs typeface="Times New Roman" panose="02020603050405020304" pitchFamily="18" charset="0"/>
              </a:rPr>
              <a:t> method on the &lt;</a:t>
            </a:r>
            <a:r>
              <a:rPr lang="en-US" b="1">
                <a:cs typeface="Times New Roman" panose="02020603050405020304" pitchFamily="18" charset="0"/>
              </a:rPr>
              <a:t>form&gt;</a:t>
            </a:r>
            <a:r>
              <a:rPr lang="en-US">
                <a:cs typeface="Times New Roman" panose="02020603050405020304" pitchFamily="18" charset="0"/>
              </a:rPr>
              <a:t> tag </a:t>
            </a:r>
          </a:p>
          <a:p>
            <a:pPr lvl="1">
              <a:lnSpc>
                <a:spcPct val="90000"/>
              </a:lnSpc>
            </a:pPr>
            <a:r>
              <a:rPr lang="en-US">
                <a:cs typeface="Times New Roman" panose="02020603050405020304" pitchFamily="18" charset="0"/>
              </a:rPr>
              <a:t>Sends the form data (the name=value pair for each form element) to the web server. </a:t>
            </a:r>
          </a:p>
          <a:p>
            <a:pPr lvl="1">
              <a:lnSpc>
                <a:spcPct val="90000"/>
              </a:lnSpc>
            </a:pPr>
            <a:endParaRPr lang="en-US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/>
              <a:t>Attributes: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type=“submit”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name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id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value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4C6D80-2E2D-445B-ABA0-DA1E8BA4F231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5081588" y="29241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4" name="Rectangle 9"/>
          <p:cNvSpPr>
            <a:spLocks noChangeArrowheads="1"/>
          </p:cNvSpPr>
          <p:nvPr/>
        </p:nvSpPr>
        <p:spPr bwMode="auto">
          <a:xfrm>
            <a:off x="5124450" y="30622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5205413" y="26622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6876" name="Rectangle 14"/>
          <p:cNvSpPr>
            <a:spLocks noChangeArrowheads="1"/>
          </p:cNvSpPr>
          <p:nvPr/>
        </p:nvSpPr>
        <p:spPr bwMode="auto">
          <a:xfrm>
            <a:off x="5229225" y="30241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36877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495800"/>
            <a:ext cx="3200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3294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74638"/>
            <a:ext cx="8915400" cy="1143000"/>
          </a:xfrm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Reset Button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1981200"/>
            <a:ext cx="7315200" cy="4191000"/>
          </a:xfrm>
        </p:spPr>
        <p:txBody>
          <a:bodyPr/>
          <a:lstStyle/>
          <a:p>
            <a:r>
              <a:rPr lang="en-US" smtClean="0">
                <a:cs typeface="Arial" panose="020B0604020202020204" pitchFamily="34" charset="0"/>
              </a:rPr>
              <a:t>Resets the form fields to their initial values</a:t>
            </a:r>
          </a:p>
          <a:p>
            <a:endParaRPr lang="en-US" smtClean="0">
              <a:cs typeface="Arial" panose="020B0604020202020204" pitchFamily="34" charset="0"/>
            </a:endParaRPr>
          </a:p>
          <a:p>
            <a:r>
              <a:rPr lang="en-US" smtClean="0"/>
              <a:t>Attributes:</a:t>
            </a:r>
          </a:p>
          <a:p>
            <a:pPr lvl="1"/>
            <a:r>
              <a:rPr lang="en-US"/>
              <a:t>type=“reset”</a:t>
            </a:r>
          </a:p>
          <a:p>
            <a:pPr lvl="1"/>
            <a:r>
              <a:rPr lang="en-US"/>
              <a:t>name</a:t>
            </a:r>
          </a:p>
          <a:p>
            <a:pPr lvl="1"/>
            <a:r>
              <a:rPr lang="en-US"/>
              <a:t>id</a:t>
            </a:r>
          </a:p>
          <a:p>
            <a:pPr lvl="1"/>
            <a:r>
              <a:rPr lang="en-US"/>
              <a:t>value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9ED86B-F8AD-4546-B144-E119221BD5DB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20" name="Rectangle 7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21" name="Rectangle 8"/>
          <p:cNvSpPr>
            <a:spLocks noChangeArrowheads="1"/>
          </p:cNvSpPr>
          <p:nvPr/>
        </p:nvSpPr>
        <p:spPr bwMode="auto">
          <a:xfrm>
            <a:off x="5081588" y="29241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22" name="Rectangle 9"/>
          <p:cNvSpPr>
            <a:spLocks noChangeArrowheads="1"/>
          </p:cNvSpPr>
          <p:nvPr/>
        </p:nvSpPr>
        <p:spPr bwMode="auto">
          <a:xfrm>
            <a:off x="5124450" y="30622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23" name="Rectangle 10"/>
          <p:cNvSpPr>
            <a:spLocks noChangeArrowheads="1"/>
          </p:cNvSpPr>
          <p:nvPr/>
        </p:nvSpPr>
        <p:spPr bwMode="auto">
          <a:xfrm>
            <a:off x="5205413" y="26622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24" name="Rectangle 11"/>
          <p:cNvSpPr>
            <a:spLocks noChangeArrowheads="1"/>
          </p:cNvSpPr>
          <p:nvPr/>
        </p:nvSpPr>
        <p:spPr bwMode="auto">
          <a:xfrm>
            <a:off x="5229225" y="30241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38925" name="Rectangle 14"/>
          <p:cNvSpPr>
            <a:spLocks noChangeArrowheads="1"/>
          </p:cNvSpPr>
          <p:nvPr/>
        </p:nvSpPr>
        <p:spPr bwMode="auto">
          <a:xfrm>
            <a:off x="5314950" y="30813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pic>
        <p:nvPicPr>
          <p:cNvPr id="38926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657600"/>
            <a:ext cx="35306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376320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534400" cy="1143000"/>
          </a:xfrm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Input Element Hidden Field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&lt;input&gt;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828800"/>
            <a:ext cx="84582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>
                <a:cs typeface="Times New Roman" panose="02020603050405020304" pitchFamily="18" charset="0"/>
              </a:rPr>
              <a:t>This form control is </a:t>
            </a:r>
            <a:r>
              <a:rPr lang="en-US" i="1">
                <a:cs typeface="Times New Roman" panose="02020603050405020304" pitchFamily="18" charset="0"/>
              </a:rPr>
              <a:t>not</a:t>
            </a:r>
            <a:r>
              <a:rPr lang="en-US">
                <a:cs typeface="Times New Roman" panose="02020603050405020304" pitchFamily="18" charset="0"/>
              </a:rPr>
              <a:t> displayed on the Web page. </a:t>
            </a:r>
          </a:p>
          <a:p>
            <a:pPr>
              <a:lnSpc>
                <a:spcPct val="80000"/>
              </a:lnSpc>
            </a:pPr>
            <a:endParaRPr lang="en-US" sz="1000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>
                <a:cs typeface="Times New Roman" panose="02020603050405020304" pitchFamily="18" charset="0"/>
              </a:rPr>
              <a:t>Hidden form fields </a:t>
            </a:r>
          </a:p>
          <a:p>
            <a:pPr lvl="1">
              <a:lnSpc>
                <a:spcPct val="80000"/>
              </a:lnSpc>
            </a:pPr>
            <a:r>
              <a:rPr lang="en-US">
                <a:cs typeface="Times New Roman" panose="02020603050405020304" pitchFamily="18" charset="0"/>
              </a:rPr>
              <a:t>Can be accessed by both client-side and server-side scripting </a:t>
            </a:r>
          </a:p>
          <a:p>
            <a:pPr lvl="1">
              <a:lnSpc>
                <a:spcPct val="80000"/>
              </a:lnSpc>
            </a:pPr>
            <a:endParaRPr lang="en-US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/>
              <a:t>Common Attributes: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type=“hidden”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name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id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value</a:t>
            </a:r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26F366-2E85-45F3-B6BB-50219F84C072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5072063" y="3090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4905375" y="3005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auto">
          <a:xfrm>
            <a:off x="5138738" y="28432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68" name="Rectangle 7"/>
          <p:cNvSpPr>
            <a:spLocks noChangeArrowheads="1"/>
          </p:cNvSpPr>
          <p:nvPr/>
        </p:nvSpPr>
        <p:spPr bwMode="auto">
          <a:xfrm>
            <a:off x="5310188" y="2933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auto">
          <a:xfrm>
            <a:off x="5081588" y="29241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70" name="Rectangle 9"/>
          <p:cNvSpPr>
            <a:spLocks noChangeArrowheads="1"/>
          </p:cNvSpPr>
          <p:nvPr/>
        </p:nvSpPr>
        <p:spPr bwMode="auto">
          <a:xfrm>
            <a:off x="5124450" y="30622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71" name="Rectangle 10"/>
          <p:cNvSpPr>
            <a:spLocks noChangeArrowheads="1"/>
          </p:cNvSpPr>
          <p:nvPr/>
        </p:nvSpPr>
        <p:spPr bwMode="auto">
          <a:xfrm>
            <a:off x="5205413" y="26622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72" name="Rectangle 11"/>
          <p:cNvSpPr>
            <a:spLocks noChangeArrowheads="1"/>
          </p:cNvSpPr>
          <p:nvPr/>
        </p:nvSpPr>
        <p:spPr bwMode="auto">
          <a:xfrm>
            <a:off x="5229225" y="30241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73" name="Rectangle 12"/>
          <p:cNvSpPr>
            <a:spLocks noChangeArrowheads="1"/>
          </p:cNvSpPr>
          <p:nvPr/>
        </p:nvSpPr>
        <p:spPr bwMode="auto">
          <a:xfrm>
            <a:off x="5314950" y="30813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  <p:sp>
        <p:nvSpPr>
          <p:cNvPr id="40974" name="Rectangle 13"/>
          <p:cNvSpPr>
            <a:spLocks noChangeArrowheads="1"/>
          </p:cNvSpPr>
          <p:nvPr/>
        </p:nvSpPr>
        <p:spPr bwMode="auto">
          <a:xfrm>
            <a:off x="5357813" y="30384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01742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Label Element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&lt;label&gt;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600200"/>
            <a:ext cx="8077200" cy="46482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dirty="0" smtClean="0">
                <a:cs typeface="Times New Roman" pitchFamily="18" charset="0"/>
              </a:rPr>
              <a:t>Associates a text label with a form control</a:t>
            </a:r>
            <a:br>
              <a:rPr lang="en-US" dirty="0" smtClean="0">
                <a:cs typeface="Times New Roman" pitchFamily="18" charset="0"/>
              </a:rPr>
            </a:br>
            <a:r>
              <a:rPr lang="en-US" sz="800" dirty="0">
                <a:cs typeface="Times New Roman" pitchFamily="18" charset="0"/>
              </a:rPr>
              <a:t/>
            </a:r>
            <a:br>
              <a:rPr lang="en-US" sz="800" dirty="0">
                <a:cs typeface="Times New Roman" pitchFamily="18" charset="0"/>
              </a:rPr>
            </a:br>
            <a:endParaRPr lang="en-US" sz="800" dirty="0"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 smtClean="0">
                <a:cs typeface="Times New Roman" pitchFamily="18" charset="0"/>
              </a:rPr>
              <a:t>Two Different Formats:</a:t>
            </a:r>
            <a:r>
              <a:rPr lang="en-US" sz="800" dirty="0">
                <a:cs typeface="Times New Roman" pitchFamily="18" charset="0"/>
              </a:rPr>
              <a:t/>
            </a:r>
            <a:br>
              <a:rPr lang="en-US" sz="800" dirty="0">
                <a:cs typeface="Times New Roman" pitchFamily="18" charset="0"/>
              </a:rPr>
            </a:br>
            <a:r>
              <a:rPr lang="en-US" sz="800" dirty="0">
                <a:cs typeface="Times New Roman" pitchFamily="18" charset="0"/>
              </a:rPr>
              <a:t/>
            </a:r>
            <a:br>
              <a:rPr lang="en-US" sz="800" dirty="0"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&lt;label&gt;Email: &lt;input type="text" name="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CustEmail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  id ="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CustEmail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"&gt;&lt;/label&gt; 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lnSpc>
                <a:spcPct val="80000"/>
              </a:lnSpc>
              <a:buNone/>
              <a:defRPr/>
            </a:pPr>
            <a:r>
              <a:rPr lang="en-US" sz="3600" dirty="0">
                <a:cs typeface="Times New Roman" pitchFamily="18" charset="0"/>
              </a:rPr>
              <a:t>Or</a:t>
            </a:r>
            <a:br>
              <a:rPr lang="en-US" sz="3600" dirty="0">
                <a:cs typeface="Times New Roman" pitchFamily="18" charset="0"/>
              </a:rPr>
            </a:br>
            <a:r>
              <a:rPr lang="en-US" sz="3600" dirty="0">
                <a:cs typeface="Times New Roman" pitchFamily="18" charset="0"/>
              </a:rPr>
              <a:t/>
            </a:r>
            <a:br>
              <a:rPr lang="en-US" sz="3600" dirty="0"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&lt;label for="email"&gt;Email: &lt;/label&gt;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&lt;input type="text" name="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CustEmail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 id= "email" /&gt;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9A57AE-2E9E-450D-BD3D-3C29B52F0096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69414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1" y="76200"/>
            <a:ext cx="8296275" cy="1066800"/>
          </a:xfrm>
        </p:spPr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Fieldset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&amp; Legend Elements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143000"/>
            <a:ext cx="7620000" cy="4191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600">
                <a:cs typeface="Times New Roman" panose="02020603050405020304" pitchFamily="18" charset="0"/>
              </a:rPr>
              <a:t>The Fieldset Element </a:t>
            </a:r>
            <a:br>
              <a:rPr lang="en-US" sz="2600">
                <a:cs typeface="Times New Roman" panose="02020603050405020304" pitchFamily="18" charset="0"/>
              </a:rPr>
            </a:b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&lt;fieldset&gt;</a:t>
            </a:r>
          </a:p>
          <a:p>
            <a:pPr lvl="1">
              <a:lnSpc>
                <a:spcPct val="80000"/>
              </a:lnSpc>
            </a:pPr>
            <a:r>
              <a:rPr lang="en-US" sz="2200">
                <a:cs typeface="Times New Roman" panose="02020603050405020304" pitchFamily="18" charset="0"/>
              </a:rPr>
              <a:t>Container tag</a:t>
            </a:r>
          </a:p>
          <a:p>
            <a:pPr lvl="1">
              <a:lnSpc>
                <a:spcPct val="80000"/>
              </a:lnSpc>
            </a:pPr>
            <a:r>
              <a:rPr lang="en-US" sz="2200">
                <a:cs typeface="Times New Roman" panose="02020603050405020304" pitchFamily="18" charset="0"/>
              </a:rPr>
              <a:t>Creates a visual </a:t>
            </a:r>
            <a:br>
              <a:rPr lang="en-US" sz="2200">
                <a:cs typeface="Times New Roman" panose="02020603050405020304" pitchFamily="18" charset="0"/>
              </a:rPr>
            </a:br>
            <a:r>
              <a:rPr lang="en-US" sz="2200">
                <a:cs typeface="Times New Roman" panose="02020603050405020304" pitchFamily="18" charset="0"/>
              </a:rPr>
              <a:t>group of form controls </a:t>
            </a:r>
            <a:br>
              <a:rPr lang="en-US" sz="2200">
                <a:cs typeface="Times New Roman" panose="02020603050405020304" pitchFamily="18" charset="0"/>
              </a:rPr>
            </a:br>
            <a:r>
              <a:rPr lang="en-US" sz="2200">
                <a:cs typeface="Times New Roman" panose="02020603050405020304" pitchFamily="18" charset="0"/>
              </a:rPr>
              <a:t>on a web page</a:t>
            </a:r>
          </a:p>
          <a:p>
            <a:pPr>
              <a:lnSpc>
                <a:spcPct val="80000"/>
              </a:lnSpc>
            </a:pPr>
            <a:r>
              <a:rPr lang="en-US" sz="2600">
                <a:cs typeface="Times New Roman" panose="02020603050405020304" pitchFamily="18" charset="0"/>
              </a:rPr>
              <a:t>The Legend Element </a:t>
            </a:r>
            <a:br>
              <a:rPr lang="en-US" sz="2600">
                <a:cs typeface="Times New Roman" panose="02020603050405020304" pitchFamily="18" charset="0"/>
              </a:rPr>
            </a:b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&lt;legend&gt;</a:t>
            </a:r>
          </a:p>
          <a:p>
            <a:pPr lvl="1">
              <a:lnSpc>
                <a:spcPct val="80000"/>
              </a:lnSpc>
            </a:pPr>
            <a:r>
              <a:rPr lang="en-US" sz="2200">
                <a:cs typeface="Times New Roman" panose="02020603050405020304" pitchFamily="18" charset="0"/>
              </a:rPr>
              <a:t>Container tag</a:t>
            </a:r>
          </a:p>
          <a:p>
            <a:pPr lvl="1">
              <a:lnSpc>
                <a:spcPct val="80000"/>
              </a:lnSpc>
            </a:pPr>
            <a:r>
              <a:rPr lang="en-US" sz="2200">
                <a:cs typeface="Times New Roman" panose="02020603050405020304" pitchFamily="18" charset="0"/>
              </a:rPr>
              <a:t>Creates a text label within the fieldset</a:t>
            </a:r>
            <a:r>
              <a:rPr lang="en-US" sz="2000">
                <a:cs typeface="Times New Roman" panose="02020603050405020304" pitchFamily="18" charset="0"/>
              </a:rPr>
              <a:t/>
            </a:r>
            <a:br>
              <a:rPr lang="en-US" sz="2000">
                <a:cs typeface="Times New Roman" panose="02020603050405020304" pitchFamily="18" charset="0"/>
              </a:rPr>
            </a:br>
            <a:endParaRPr lang="en-US" sz="2000">
              <a:cs typeface="Times New Roman" panose="02020603050405020304" pitchFamily="18" charset="0"/>
            </a:endParaRP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A23A8B-6E92-4B67-ABC4-101CE878D7C9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2774" name="TextBox 5"/>
          <p:cNvSpPr txBox="1">
            <a:spLocks noChangeArrowheads="1"/>
          </p:cNvSpPr>
          <p:nvPr/>
        </p:nvSpPr>
        <p:spPr bwMode="auto">
          <a:xfrm>
            <a:off x="1676400" y="4737100"/>
            <a:ext cx="8991600" cy="1816100"/>
          </a:xfrm>
          <a:prstGeom prst="rect">
            <a:avLst/>
          </a:prstGeom>
          <a:solidFill>
            <a:schemeClr val="accent3">
              <a:alpha val="74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000" b="1" dirty="0">
                <a:cs typeface="Times New Roman" pitchFamily="18" charset="0"/>
              </a:rPr>
              <a:t>&lt;</a:t>
            </a:r>
            <a:r>
              <a:rPr lang="en-US" sz="2000" b="1" dirty="0" err="1">
                <a:cs typeface="Times New Roman" pitchFamily="18" charset="0"/>
              </a:rPr>
              <a:t>fieldset</a:t>
            </a:r>
            <a:r>
              <a:rPr lang="en-US" sz="2000" b="1" dirty="0">
                <a:cs typeface="Times New Roman" pitchFamily="18" charset="0"/>
              </a:rPr>
              <a:t>&gt;&lt;legend&gt;Customer Information&lt;/legend&gt;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b="1" dirty="0">
                <a:cs typeface="Times New Roman" pitchFamily="18" charset="0"/>
              </a:rPr>
              <a:t>   &lt;label&gt;Name: </a:t>
            </a:r>
            <a:br>
              <a:rPr lang="en-US" sz="2000" b="1" dirty="0">
                <a:cs typeface="Times New Roman" pitchFamily="18" charset="0"/>
              </a:rPr>
            </a:br>
            <a:r>
              <a:rPr lang="en-US" sz="2000" b="1" dirty="0">
                <a:cs typeface="Times New Roman" pitchFamily="18" charset="0"/>
              </a:rPr>
              <a:t>  &lt;input type="text" name="</a:t>
            </a:r>
            <a:r>
              <a:rPr lang="en-US" sz="2000" b="1" dirty="0" err="1">
                <a:cs typeface="Times New Roman" pitchFamily="18" charset="0"/>
              </a:rPr>
              <a:t>CName</a:t>
            </a:r>
            <a:r>
              <a:rPr lang="en-US" sz="2000" b="1" dirty="0">
                <a:cs typeface="Times New Roman" pitchFamily="18" charset="0"/>
              </a:rPr>
              <a:t>"  id="</a:t>
            </a:r>
            <a:r>
              <a:rPr lang="en-US" sz="2000" b="1" dirty="0" err="1">
                <a:cs typeface="Times New Roman" pitchFamily="18" charset="0"/>
              </a:rPr>
              <a:t>CName</a:t>
            </a:r>
            <a:r>
              <a:rPr lang="en-US" sz="2000" b="1" dirty="0">
                <a:cs typeface="Times New Roman" pitchFamily="18" charset="0"/>
              </a:rPr>
              <a:t>" size="30"&gt;&lt;/label&gt;           &lt;</a:t>
            </a:r>
            <a:r>
              <a:rPr lang="en-US" sz="2000" b="1" dirty="0" err="1">
                <a:cs typeface="Times New Roman" pitchFamily="18" charset="0"/>
              </a:rPr>
              <a:t>br</a:t>
            </a:r>
            <a:r>
              <a:rPr lang="en-US" sz="2000" b="1" dirty="0">
                <a:cs typeface="Times New Roman" pitchFamily="18" charset="0"/>
              </a:rPr>
              <a:t>&gt;&lt;</a:t>
            </a:r>
            <a:r>
              <a:rPr lang="en-US" sz="2000" b="1" dirty="0" err="1">
                <a:cs typeface="Times New Roman" pitchFamily="18" charset="0"/>
              </a:rPr>
              <a:t>br</a:t>
            </a:r>
            <a:r>
              <a:rPr lang="en-US" sz="2000" b="1" dirty="0">
                <a:cs typeface="Times New Roman" pitchFamily="18" charset="0"/>
              </a:rPr>
              <a:t> &gt;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b="1" dirty="0">
                <a:cs typeface="Times New Roman" pitchFamily="18" charset="0"/>
              </a:rPr>
              <a:t>   &lt;label&gt;Email: </a:t>
            </a:r>
            <a:br>
              <a:rPr lang="en-US" sz="2000" b="1" dirty="0">
                <a:cs typeface="Times New Roman" pitchFamily="18" charset="0"/>
              </a:rPr>
            </a:br>
            <a:r>
              <a:rPr lang="en-US" sz="2000" b="1" dirty="0">
                <a:cs typeface="Times New Roman" pitchFamily="18" charset="0"/>
              </a:rPr>
              <a:t>  &lt;input type="text" name="</a:t>
            </a:r>
            <a:r>
              <a:rPr lang="en-US" sz="2000" b="1" dirty="0" err="1">
                <a:cs typeface="Times New Roman" pitchFamily="18" charset="0"/>
              </a:rPr>
              <a:t>CEmail</a:t>
            </a:r>
            <a:r>
              <a:rPr lang="en-US" sz="2000" b="1" dirty="0">
                <a:cs typeface="Times New Roman" pitchFamily="18" charset="0"/>
              </a:rPr>
              <a:t>"  id="</a:t>
            </a:r>
            <a:r>
              <a:rPr lang="en-US" sz="2000" b="1" dirty="0" err="1">
                <a:cs typeface="Times New Roman" pitchFamily="18" charset="0"/>
              </a:rPr>
              <a:t>CEmail</a:t>
            </a:r>
            <a:r>
              <a:rPr lang="en-US" sz="2000" b="1" dirty="0">
                <a:cs typeface="Times New Roman" pitchFamily="18" charset="0"/>
              </a:rPr>
              <a:t>"&gt;&lt;/label&gt;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b="1" dirty="0">
                <a:cs typeface="Times New Roman" pitchFamily="18" charset="0"/>
              </a:rPr>
              <a:t> &lt;/</a:t>
            </a:r>
            <a:r>
              <a:rPr lang="en-US" sz="2000" b="1" dirty="0" err="1">
                <a:cs typeface="Times New Roman" pitchFamily="18" charset="0"/>
              </a:rPr>
              <a:t>fieldset</a:t>
            </a:r>
            <a:r>
              <a:rPr lang="en-US" sz="2000" b="1" dirty="0">
                <a:cs typeface="Times New Roman" pitchFamily="18" charset="0"/>
              </a:rPr>
              <a:t>&gt; </a:t>
            </a:r>
            <a:endParaRPr lang="en-US" sz="2000" dirty="0"/>
          </a:p>
        </p:txBody>
      </p:sp>
      <p:pic>
        <p:nvPicPr>
          <p:cNvPr id="450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2600"/>
            <a:ext cx="41021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9894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0"/>
            <a:ext cx="7848600" cy="1143000"/>
          </a:xfrm>
        </p:spPr>
        <p:txBody>
          <a:bodyPr/>
          <a:lstStyle/>
          <a:p>
            <a:pPr algn="r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Using CSS to Style a Form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334000" y="1143000"/>
            <a:ext cx="5334000" cy="47244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b="1" smtClean="0">
                <a:cs typeface="Times New Roman" panose="02020603050405020304" pitchFamily="18" charset="0"/>
              </a:rPr>
              <a:t> </a:t>
            </a:r>
            <a:endParaRPr lang="en-US" sz="2400">
              <a:cs typeface="Times New Roman" panose="02020603050405020304" pitchFamily="18" charset="0"/>
            </a:endParaRPr>
          </a:p>
        </p:txBody>
      </p:sp>
      <p:sp>
        <p:nvSpPr>
          <p:cNvPr id="4710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E7AF69-3A09-4F91-9476-66ECC72D1918}" type="slidenum">
              <a:rPr lang="en-US" sz="12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39941" name="Text Box 7"/>
          <p:cNvSpPr txBox="1">
            <a:spLocks noChangeArrowheads="1"/>
          </p:cNvSpPr>
          <p:nvPr/>
        </p:nvSpPr>
        <p:spPr bwMode="auto">
          <a:xfrm>
            <a:off x="1828800" y="4179888"/>
            <a:ext cx="8686800" cy="3539430"/>
          </a:xfrm>
          <a:prstGeom prst="rect">
            <a:avLst/>
          </a:prstGeom>
          <a:solidFill>
            <a:schemeClr val="accent3">
              <a:alpha val="36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form { background-color:#</a:t>
            </a:r>
            <a:r>
              <a:rPr lang="en-US" dirty="0" err="1"/>
              <a:t>eaeaea</a:t>
            </a:r>
            <a:r>
              <a:rPr lang="en-US" dirty="0"/>
              <a:t>; font-family: Arial, sans-serif;</a:t>
            </a:r>
          </a:p>
          <a:p>
            <a:pPr eaLnBrk="1" hangingPunct="1">
              <a:defRPr/>
            </a:pPr>
            <a:r>
              <a:rPr lang="en-US" dirty="0"/>
              <a:t>	 width: 350px; padding: 10px;}</a:t>
            </a:r>
          </a:p>
          <a:p>
            <a:pPr eaLnBrk="1" hangingPunct="1">
              <a:defRPr/>
            </a:pPr>
            <a:r>
              <a:rPr lang="en-US" dirty="0"/>
              <a:t>label { float: left; clear: left;  display: block; width: 100px; </a:t>
            </a:r>
          </a:p>
          <a:p>
            <a:pPr eaLnBrk="1" hangingPunct="1">
              <a:defRPr/>
            </a:pPr>
            <a:r>
              <a:rPr lang="en-US" dirty="0"/>
              <a:t>	    text-align: right;  padding-right: 10px;  margin-top: 10px; }</a:t>
            </a:r>
          </a:p>
          <a:p>
            <a:pPr eaLnBrk="1" hangingPunct="1">
              <a:defRPr/>
            </a:pPr>
            <a:r>
              <a:rPr lang="en-US" dirty="0"/>
              <a:t>input, </a:t>
            </a:r>
            <a:r>
              <a:rPr lang="en-US" dirty="0" err="1"/>
              <a:t>textarea</a:t>
            </a:r>
            <a:r>
              <a:rPr lang="en-US" dirty="0"/>
              <a:t> { margin-top: 10px;  display: block;}</a:t>
            </a:r>
          </a:p>
          <a:p>
            <a:pPr eaLnBrk="1" hangingPunct="1">
              <a:defRPr/>
            </a:pPr>
            <a:r>
              <a:rPr lang="en-US" dirty="0"/>
              <a:t>#</a:t>
            </a:r>
            <a:r>
              <a:rPr lang="en-US" dirty="0" err="1"/>
              <a:t>mySubmit</a:t>
            </a:r>
            <a:r>
              <a:rPr lang="en-US" dirty="0"/>
              <a:t> { margin-left: 110px; }</a:t>
            </a:r>
          </a:p>
        </p:txBody>
      </p:sp>
      <p:pic>
        <p:nvPicPr>
          <p:cNvPr id="4711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62050"/>
            <a:ext cx="3124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066800"/>
            <a:ext cx="32766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09266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Form - &lt;form&gt;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4996176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form</a:t>
            </a:r>
            <a:r>
              <a:rPr lang="en-GB" altLang="en-US" smtClean="0">
                <a:latin typeface="Courier New" panose="02070309020205020404" pitchFamily="49" charset="0"/>
              </a:rPr>
              <a:t> action = ".."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method = "..."&gt;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...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&lt;/</a:t>
            </a:r>
            <a:r>
              <a:rPr lang="en-GB" altLang="en-US" b="1" smtClean="0">
                <a:latin typeface="Courier New" panose="02070309020205020404" pitchFamily="49" charset="0"/>
              </a:rPr>
              <a:t>form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/>
          </a:p>
          <a:p>
            <a:pPr>
              <a:lnSpc>
                <a:spcPct val="89000"/>
              </a:lnSpc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action = URL</a:t>
            </a:r>
          </a:p>
          <a:p>
            <a:pPr>
              <a:lnSpc>
                <a:spcPct val="89000"/>
              </a:lnSpc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method = get | post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/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177"/>
              <a:t>http://www.w3schools.com/tags/tag_form.asp</a:t>
            </a:r>
          </a:p>
        </p:txBody>
      </p:sp>
    </p:spTree>
    <p:extLst>
      <p:ext uri="{BB962C8B-B14F-4D97-AF65-F5344CB8AC3E}">
        <p14:creationId xmlns:p14="http://schemas.microsoft.com/office/powerpoint/2010/main" val="24540276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Text field - &lt;input&gt;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4996176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For single line text input: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input</a:t>
            </a:r>
            <a:r>
              <a:rPr lang="en-GB" altLang="en-US" smtClean="0">
                <a:latin typeface="Courier New" panose="02070309020205020404" pitchFamily="49" charset="0"/>
              </a:rPr>
              <a:t> </a:t>
            </a:r>
            <a:r>
              <a:rPr lang="en-GB" altLang="en-US" b="1" smtClean="0">
                <a:latin typeface="Courier New" panose="02070309020205020404" pitchFamily="49" charset="0"/>
              </a:rPr>
              <a:t>type = "text"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name = "mytextfield"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value = "initial value"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size = "50"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maxlength = "50"/&gt;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/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/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177"/>
              <a:t>http://www.w3schools.com/tags/tag_input.asp</a:t>
            </a:r>
          </a:p>
        </p:txBody>
      </p:sp>
    </p:spTree>
    <p:extLst>
      <p:ext uri="{BB962C8B-B14F-4D97-AF65-F5344CB8AC3E}">
        <p14:creationId xmlns:p14="http://schemas.microsoft.com/office/powerpoint/2010/main" val="10759924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Password - &lt;input&gt;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2011063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For single line </a:t>
            </a:r>
            <a:r>
              <a:rPr lang="en-GB" altLang="en-US" i="1" smtClean="0"/>
              <a:t>masked </a:t>
            </a:r>
            <a:r>
              <a:rPr lang="en-GB" altLang="en-US" smtClean="0"/>
              <a:t>text input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input</a:t>
            </a:r>
            <a:r>
              <a:rPr lang="en-GB" altLang="en-US" smtClean="0">
                <a:latin typeface="Courier New" panose="02070309020205020404" pitchFamily="49" charset="0"/>
              </a:rPr>
              <a:t> </a:t>
            </a:r>
            <a:r>
              <a:rPr lang="en-GB" altLang="en-US" b="1" smtClean="0">
                <a:latin typeface="Courier New" panose="02070309020205020404" pitchFamily="49" charset="0"/>
              </a:rPr>
              <a:t>type = "password"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name = "pwd"/&gt;</a:t>
            </a:r>
          </a:p>
        </p:txBody>
      </p:sp>
    </p:spTree>
    <p:extLst>
      <p:ext uri="{BB962C8B-B14F-4D97-AF65-F5344CB8AC3E}">
        <p14:creationId xmlns:p14="http://schemas.microsoft.com/office/powerpoint/2010/main" val="36811459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Radio button - &lt;input&gt;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2778068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Single choice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Male: &lt;</a:t>
            </a:r>
            <a:r>
              <a:rPr lang="en-GB" altLang="en-US" b="1" smtClean="0">
                <a:latin typeface="Courier New" panose="02070309020205020404" pitchFamily="49" charset="0"/>
              </a:rPr>
              <a:t>input type = "radio"</a:t>
            </a:r>
            <a:r>
              <a:rPr lang="en-GB" altLang="en-US" smtClean="0">
                <a:latin typeface="Courier New" panose="02070309020205020404" pitchFamily="49" charset="0"/>
              </a:rPr>
              <a:t> name = "gender" value="Male"/&gt;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Female: &lt;</a:t>
            </a:r>
            <a:r>
              <a:rPr lang="en-GB" altLang="en-US" b="1" smtClean="0">
                <a:latin typeface="Courier New" panose="02070309020205020404" pitchFamily="49" charset="0"/>
              </a:rPr>
              <a:t>input type = "radio"</a:t>
            </a:r>
            <a:r>
              <a:rPr lang="en-GB" altLang="en-US" smtClean="0">
                <a:latin typeface="Courier New" panose="02070309020205020404" pitchFamily="49" charset="0"/>
              </a:rPr>
              <a:t> name = "gender" value="Female"/&gt;</a:t>
            </a:r>
          </a:p>
        </p:txBody>
      </p:sp>
    </p:spTree>
    <p:extLst>
      <p:ext uri="{BB962C8B-B14F-4D97-AF65-F5344CB8AC3E}">
        <p14:creationId xmlns:p14="http://schemas.microsoft.com/office/powerpoint/2010/main" val="953664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Checkbox - &lt;input&gt;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2011063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Multiple choice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input type = "checkbox</a:t>
            </a:r>
            <a:r>
              <a:rPr lang="en-GB" altLang="en-US" smtClean="0">
                <a:latin typeface="Courier New" panose="02070309020205020404" pitchFamily="49" charset="0"/>
              </a:rPr>
              <a:t>"</a:t>
            </a:r>
            <a:endParaRPr lang="en-GB" altLang="en-US" b="1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b="1" smtClean="0">
                <a:latin typeface="Courier New" panose="02070309020205020404" pitchFamily="49" charset="0"/>
              </a:rPr>
              <a:t>       </a:t>
            </a:r>
            <a:r>
              <a:rPr lang="en-GB" altLang="en-US" smtClean="0">
                <a:latin typeface="Courier New" panose="02070309020205020404" pitchFamily="49" charset="0"/>
              </a:rPr>
              <a:t>name = "sailing"/&gt;</a:t>
            </a:r>
          </a:p>
        </p:txBody>
      </p:sp>
    </p:spTree>
    <p:extLst>
      <p:ext uri="{BB962C8B-B14F-4D97-AF65-F5344CB8AC3E}">
        <p14:creationId xmlns:p14="http://schemas.microsoft.com/office/powerpoint/2010/main" val="25485081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GB" altLang="en-US" smtClean="0"/>
              <a:t>Labelling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GB" altLang="en-US" smtClean="0"/>
              <a:t>Old School (Strict DTD only):</a:t>
            </a:r>
          </a:p>
          <a:p>
            <a:pPr eaLnBrk="1">
              <a:buFont typeface="StarSymbol" charset="0"/>
              <a:buNone/>
            </a:pPr>
            <a:r>
              <a:rPr lang="en-GB" altLang="en-US" sz="2540">
                <a:latin typeface="Courier New" panose="02070309020205020404" pitchFamily="49" charset="0"/>
              </a:rPr>
              <a:t>&lt;input type="checkbox" name="choice1"&gt; Choice 1</a:t>
            </a:r>
          </a:p>
          <a:p>
            <a:pPr eaLnBrk="1">
              <a:buFont typeface="StarSymbol" charset="0"/>
              <a:buNone/>
            </a:pPr>
            <a:r>
              <a:rPr lang="en-GB" altLang="en-US" sz="2540">
                <a:latin typeface="Courier New" panose="02070309020205020404" pitchFamily="49" charset="0"/>
              </a:rPr>
              <a:t>&lt;/input&gt;</a:t>
            </a:r>
            <a:r>
              <a:rPr lang="en-GB" altLang="en-US" smtClean="0">
                <a:latin typeface="Courier New" panose="02070309020205020404" pitchFamily="49" charset="0"/>
              </a:rPr>
              <a:t> </a:t>
            </a:r>
          </a:p>
          <a:p>
            <a:pPr eaLnBrk="1"/>
            <a:r>
              <a:rPr lang="en-GB" altLang="en-US" smtClean="0"/>
              <a:t>Strict DTD compliant:</a:t>
            </a:r>
          </a:p>
          <a:p>
            <a:pPr eaLnBrk="1">
              <a:buFont typeface="StarSymbol" charset="0"/>
              <a:buNone/>
            </a:pPr>
            <a:r>
              <a:rPr lang="en-GB" altLang="en-US" sz="2540">
                <a:latin typeface="Courier New" panose="02070309020205020404" pitchFamily="49" charset="0"/>
              </a:rPr>
              <a:t>Choice 1: &lt;input type="checkbox" name="choice1/&gt;</a:t>
            </a:r>
          </a:p>
          <a:p>
            <a:pPr eaLnBrk="1"/>
            <a:r>
              <a:rPr lang="en-GB" altLang="en-US" smtClean="0"/>
              <a:t>Elegant:</a:t>
            </a:r>
          </a:p>
          <a:p>
            <a:pPr eaLnBrk="1">
              <a:buFont typeface="StarSymbol" charset="0"/>
              <a:buNone/>
            </a:pPr>
            <a:r>
              <a:rPr lang="en-GB" altLang="en-US" sz="2540">
                <a:latin typeface="Courier New" panose="02070309020205020404" pitchFamily="49" charset="0"/>
              </a:rPr>
              <a:t>&lt;label </a:t>
            </a:r>
            <a:r>
              <a:rPr lang="en-GB" altLang="en-US" sz="2540" b="1">
                <a:latin typeface="Courier New" panose="02070309020205020404" pitchFamily="49" charset="0"/>
              </a:rPr>
              <a:t>for="choice1ID"</a:t>
            </a:r>
            <a:r>
              <a:rPr lang="en-GB" altLang="en-US" sz="2540">
                <a:latin typeface="Courier New" panose="02070309020205020404" pitchFamily="49" charset="0"/>
              </a:rPr>
              <a:t>&gt;Choice 1&lt;/label&gt;</a:t>
            </a:r>
          </a:p>
          <a:p>
            <a:pPr eaLnBrk="1">
              <a:buFont typeface="StarSymbol" charset="0"/>
              <a:buNone/>
            </a:pPr>
            <a:r>
              <a:rPr lang="en-GB" altLang="en-US" sz="2540">
                <a:latin typeface="Courier New" panose="02070309020205020404" pitchFamily="49" charset="0"/>
              </a:rPr>
              <a:t>&lt;input type="checkbox" name="choice1 </a:t>
            </a:r>
            <a:r>
              <a:rPr lang="en-GB" altLang="en-US" sz="2540" b="1">
                <a:latin typeface="Courier New" panose="02070309020205020404" pitchFamily="49" charset="0"/>
              </a:rPr>
              <a:t>id="choice1ID"</a:t>
            </a:r>
            <a:r>
              <a:rPr lang="en-GB" altLang="en-US" sz="2540">
                <a:latin typeface="Courier New" panose="02070309020205020404" pitchFamily="49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322728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421670"/>
            <a:ext cx="7809939" cy="1311128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Drop-down list</a:t>
            </a:r>
            <a:br>
              <a:rPr lang="en-GB" altLang="en-US" smtClean="0"/>
            </a:br>
            <a:r>
              <a:rPr lang="en-GB" altLang="en-US" smtClean="0"/>
              <a:t>&lt;select&gt;&lt;option&gt;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5592044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Single choice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select</a:t>
            </a:r>
            <a:r>
              <a:rPr lang="en-GB" altLang="en-US" smtClean="0">
                <a:latin typeface="Courier New" panose="02070309020205020404" pitchFamily="49" charset="0"/>
              </a:rPr>
              <a:t> name="country" size="1"&gt;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&lt;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 value="UK"&gt;United   Kingdom&lt;/option&gt;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&lt;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 value="USA"&gt;United States of America&lt;/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&lt;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 value="NK"&gt;North Korea&lt;/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&lt;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 value="BE"&gt;Belgium&lt;/</a:t>
            </a:r>
            <a:r>
              <a:rPr lang="en-GB" altLang="en-US" b="1" smtClean="0">
                <a:latin typeface="Courier New" panose="02070309020205020404" pitchFamily="49" charset="0"/>
              </a:rPr>
              <a:t>option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&lt;/</a:t>
            </a:r>
            <a:r>
              <a:rPr lang="en-GB" altLang="en-US" b="1" smtClean="0">
                <a:latin typeface="Courier New" panose="02070309020205020404" pitchFamily="49" charset="0"/>
              </a:rPr>
              <a:t>select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227560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421670"/>
            <a:ext cx="7809939" cy="1311128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(multiple) selection list</a:t>
            </a:r>
            <a:br>
              <a:rPr lang="en-GB" altLang="en-US" smtClean="0"/>
            </a:br>
            <a:r>
              <a:rPr lang="en-GB" altLang="en-US" smtClean="0"/>
              <a:t>&lt;select&gt;&lt;option&gt;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5164234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/>
              <a:t>Multiple choice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z="254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>
                <a:latin typeface="Courier New" panose="02070309020205020404" pitchFamily="49" charset="0"/>
              </a:rPr>
              <a:t>&lt;</a:t>
            </a:r>
            <a:r>
              <a:rPr lang="en-GB" altLang="en-US" sz="2540" b="1">
                <a:latin typeface="Courier New" panose="02070309020205020404" pitchFamily="49" charset="0"/>
              </a:rPr>
              <a:t>select</a:t>
            </a:r>
            <a:r>
              <a:rPr lang="en-GB" altLang="en-US" sz="2540">
                <a:latin typeface="Courier New" panose="02070309020205020404" pitchFamily="49" charset="0"/>
              </a:rPr>
              <a:t> name="country</a:t>
            </a:r>
            <a:r>
              <a:rPr lang="en-GB" altLang="en-US" sz="2540" b="1">
                <a:latin typeface="Courier New" panose="02070309020205020404" pitchFamily="49" charset="0"/>
              </a:rPr>
              <a:t>[]</a:t>
            </a:r>
            <a:r>
              <a:rPr lang="en-GB" altLang="en-US" sz="2540">
                <a:latin typeface="Courier New" panose="02070309020205020404" pitchFamily="49" charset="0"/>
              </a:rPr>
              <a:t>" </a:t>
            </a:r>
            <a:r>
              <a:rPr lang="en-GB" altLang="en-US" sz="2540" b="1">
                <a:latin typeface="Courier New" panose="02070309020205020404" pitchFamily="49" charset="0"/>
              </a:rPr>
              <a:t>size="3"</a:t>
            </a:r>
            <a:r>
              <a:rPr lang="en-GB" altLang="en-US" sz="2540">
                <a:latin typeface="Courier New" panose="02070309020205020404" pitchFamily="49" charset="0"/>
              </a:rPr>
              <a:t> </a:t>
            </a:r>
            <a:r>
              <a:rPr lang="en-GB" altLang="en-US" sz="2540" b="1">
                <a:latin typeface="Courier New" panose="02070309020205020404" pitchFamily="49" charset="0"/>
              </a:rPr>
              <a:t>multiple="multiple"</a:t>
            </a:r>
            <a:r>
              <a:rPr lang="en-GB" altLang="en-US" sz="254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>
                <a:latin typeface="Courier New" panose="02070309020205020404" pitchFamily="49" charset="0"/>
              </a:rPr>
              <a:t>  &lt;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 value="UK"&gt;United Kingdom&lt;/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>
                <a:latin typeface="Courier New" panose="02070309020205020404" pitchFamily="49" charset="0"/>
              </a:rPr>
              <a:t>  &lt;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 value="USA"&gt;United States of America&lt;/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>
                <a:latin typeface="Courier New" panose="02070309020205020404" pitchFamily="49" charset="0"/>
              </a:rPr>
              <a:t>  &lt;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 value="NK"&gt;North Korea&lt;/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>
                <a:latin typeface="Courier New" panose="02070309020205020404" pitchFamily="49" charset="0"/>
              </a:rPr>
              <a:t>  &lt;</a:t>
            </a:r>
            <a:r>
              <a:rPr lang="en-GB" altLang="en-US" sz="2540" b="1">
                <a:latin typeface="Courier New" panose="02070309020205020404" pitchFamily="49" charset="0"/>
              </a:rPr>
              <a:t>option</a:t>
            </a:r>
            <a:r>
              <a:rPr lang="en-GB" altLang="en-US" sz="2540">
                <a:latin typeface="Courier New" panose="02070309020205020404" pitchFamily="49" charset="0"/>
              </a:rPr>
              <a:t> value="BE"&gt;Belgium&lt;/option&gt;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540">
                <a:latin typeface="Courier New" panose="02070309020205020404" pitchFamily="49" charset="0"/>
              </a:rPr>
              <a:t>&lt;/</a:t>
            </a:r>
            <a:r>
              <a:rPr lang="en-GB" altLang="en-US" sz="2540" b="1">
                <a:latin typeface="Courier New" panose="02070309020205020404" pitchFamily="49" charset="0"/>
              </a:rPr>
              <a:t>select</a:t>
            </a:r>
            <a:r>
              <a:rPr lang="en-GB" altLang="en-US" sz="2540">
                <a:latin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845014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Text area - &lt;textarea&gt;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4996176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For multiple line text input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textarea</a:t>
            </a:r>
            <a:r>
              <a:rPr lang="en-GB" altLang="en-US" smtClean="0">
                <a:latin typeface="Courier New" panose="02070309020205020404" pitchFamily="49" charset="0"/>
              </a:rPr>
              <a:t> name="myTextArea"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   cols="30"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   rows="5"&gt;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&lt;/</a:t>
            </a:r>
            <a:r>
              <a:rPr lang="en-GB" altLang="en-US" b="1" smtClean="0">
                <a:latin typeface="Courier New" panose="02070309020205020404" pitchFamily="49" charset="0"/>
              </a:rPr>
              <a:t>textarea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z="2177"/>
              <a:t>http://www.w3schools.com/tags/tag_textarea.asp</a:t>
            </a:r>
          </a:p>
        </p:txBody>
      </p:sp>
    </p:spTree>
    <p:extLst>
      <p:ext uri="{BB962C8B-B14F-4D97-AF65-F5344CB8AC3E}">
        <p14:creationId xmlns:p14="http://schemas.microsoft.com/office/powerpoint/2010/main" val="6385114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GB" altLang="en-US" smtClean="0"/>
              <a:t>Hidden fields - &lt;input&gt;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r>
              <a:rPr lang="en-GB" altLang="en-US" smtClean="0"/>
              <a:t>To send information with the form</a:t>
            </a:r>
          </a:p>
          <a:p>
            <a:pPr eaLnBrk="1">
              <a:buFont typeface="StarSymbol" charset="0"/>
              <a:buNone/>
            </a:pPr>
            <a:endParaRPr lang="en-GB" altLang="en-US" smtClean="0"/>
          </a:p>
          <a:p>
            <a:pPr eaLnBrk="1">
              <a:buFont typeface="StarSymbol" charset="0"/>
              <a:buNone/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input</a:t>
            </a:r>
            <a:r>
              <a:rPr lang="en-GB" altLang="en-US" smtClean="0">
                <a:latin typeface="Courier New" panose="02070309020205020404" pitchFamily="49" charset="0"/>
              </a:rPr>
              <a:t> </a:t>
            </a:r>
            <a:r>
              <a:rPr lang="en-GB" altLang="en-US" b="1" smtClean="0">
                <a:latin typeface="Courier New" panose="02070309020205020404" pitchFamily="49" charset="0"/>
              </a:rPr>
              <a:t>type="hidden"</a:t>
            </a:r>
          </a:p>
          <a:p>
            <a:pPr eaLnBrk="1">
              <a:buFont typeface="StarSymbol" charset="0"/>
              <a:buNone/>
            </a:pPr>
            <a:r>
              <a:rPr lang="en-GB" altLang="en-US" smtClean="0">
                <a:latin typeface="Courier New" panose="02070309020205020404" pitchFamily="49" charset="0"/>
              </a:rPr>
              <a:t>       name="hidden1"</a:t>
            </a:r>
          </a:p>
          <a:p>
            <a:pPr eaLnBrk="1">
              <a:buFont typeface="StarSymbol" charset="0"/>
              <a:buNone/>
            </a:pPr>
            <a:r>
              <a:rPr lang="en-GB" altLang="en-US" smtClean="0">
                <a:latin typeface="Courier New" panose="02070309020205020404" pitchFamily="49" charset="0"/>
              </a:rPr>
              <a:t>       value="Form example for demo"/&gt;</a:t>
            </a:r>
          </a:p>
        </p:txBody>
      </p:sp>
    </p:spTree>
    <p:extLst>
      <p:ext uri="{BB962C8B-B14F-4D97-AF65-F5344CB8AC3E}">
        <p14:creationId xmlns:p14="http://schemas.microsoft.com/office/powerpoint/2010/main" val="3423980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726369"/>
            <a:ext cx="7809939" cy="701731"/>
          </a:xfrm>
        </p:spPr>
        <p:txBody>
          <a:bodyPr>
            <a:sp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/>
              <a:t>Button - &lt;input&gt; or &lt;button&gt;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1906761"/>
            <a:ext cx="7809939" cy="4569777"/>
          </a:xfrm>
        </p:spPr>
        <p:txBody>
          <a:bodyPr>
            <a:spAutoFit/>
          </a:bodyPr>
          <a:lstStyle/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input type="submit"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name="submitButton"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value="Submit Form"/&gt;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</a:t>
            </a:r>
            <a:r>
              <a:rPr lang="en-GB" altLang="en-US" b="1" smtClean="0">
                <a:latin typeface="Courier New" panose="02070309020205020404" pitchFamily="49" charset="0"/>
              </a:rPr>
              <a:t>button type="submit"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      name="submitButton"&gt;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  SubmitForm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altLang="en-US" smtClean="0">
                <a:latin typeface="Courier New" panose="02070309020205020404" pitchFamily="49" charset="0"/>
              </a:rPr>
              <a:t>&lt;/</a:t>
            </a:r>
            <a:r>
              <a:rPr lang="en-GB" altLang="en-US" b="1" smtClean="0">
                <a:latin typeface="Courier New" panose="02070309020205020404" pitchFamily="49" charset="0"/>
              </a:rPr>
              <a:t>button</a:t>
            </a:r>
            <a:r>
              <a:rPr lang="en-GB" altLang="en-US" smtClean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9000"/>
              </a:lnSpc>
              <a:buNone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endParaRPr lang="en-GB" altLang="en-US" smtClean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2222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6DC26B-F6EB-4887-AB0F-0C7EAB54FD1A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are forms?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&lt;form&gt; </a:t>
            </a:r>
            <a:r>
              <a:rPr lang="en-US" sz="2400"/>
              <a:t>is just another kind of XHTML/HTML tag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Forms are used to create (rather primitive) GUIs on Web pages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Usually the purpose is to ask the user for information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The information is then sent back to the server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 </a:t>
            </a:r>
            <a:r>
              <a:rPr lang="en-US" sz="2400">
                <a:solidFill>
                  <a:schemeClr val="tx2"/>
                </a:solidFill>
              </a:rPr>
              <a:t>form</a:t>
            </a:r>
            <a:r>
              <a:rPr lang="en-US" sz="2400"/>
              <a:t> is an area that can contain </a:t>
            </a:r>
            <a:r>
              <a:rPr lang="en-US" sz="2400">
                <a:solidFill>
                  <a:schemeClr val="tx2"/>
                </a:solidFill>
              </a:rPr>
              <a:t>form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The syntax is: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&lt;form </a:t>
            </a:r>
            <a:r>
              <a:rPr lang="en-US" sz="2000" b="1" i="1">
                <a:solidFill>
                  <a:schemeClr val="hlink"/>
                </a:solidFill>
              </a:rPr>
              <a:t>parameters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&gt;</a:t>
            </a:r>
            <a:r>
              <a:rPr lang="en-US" sz="2000" b="1">
                <a:solidFill>
                  <a:schemeClr val="hlink"/>
                </a:solidFill>
              </a:rPr>
              <a:t> </a:t>
            </a:r>
            <a:r>
              <a:rPr lang="en-US" sz="2000" b="1" i="1">
                <a:solidFill>
                  <a:schemeClr val="hlink"/>
                </a:solidFill>
              </a:rPr>
              <a:t>...form elements...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&lt;/form&gt;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Form elements include: buttons, checkboxes, text fields, radio buttons, drop-down menus, etc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Other kinds of tags can be mixed in with the form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A form usually contains a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Submit</a:t>
            </a:r>
            <a:r>
              <a:rPr lang="en-US" sz="2000"/>
              <a:t> button to send the information in he form elements to the server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The form’s </a:t>
            </a:r>
            <a:r>
              <a:rPr lang="en-US" sz="2000" b="1" i="1">
                <a:solidFill>
                  <a:schemeClr val="hlink"/>
                </a:solidFill>
              </a:rPr>
              <a:t>parameters</a:t>
            </a:r>
            <a:r>
              <a:rPr lang="en-US" sz="2000">
                <a:solidFill>
                  <a:schemeClr val="accent2"/>
                </a:solidFill>
              </a:rPr>
              <a:t> </a:t>
            </a:r>
            <a:r>
              <a:rPr lang="en-US" sz="2000"/>
              <a:t>tell JavaScript how to send the information to the server (there are two different ways it could be sent)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Forms can be used for other things, such as a GUI for simple programs</a:t>
            </a:r>
            <a:endParaRPr lang="en-US" sz="20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529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132E5E-3DC4-469C-8B9C-856B8A775A2A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Forms and JavaScript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>
                <a:solidFill>
                  <a:schemeClr val="tx2"/>
                </a:solidFill>
              </a:rPr>
              <a:t>JavaScript</a:t>
            </a:r>
            <a:r>
              <a:rPr lang="en-US" sz="2400"/>
              <a:t> language can be used to make pages that “do something”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You </a:t>
            </a:r>
            <a:r>
              <a:rPr lang="en-US" sz="2000" i="1"/>
              <a:t>can</a:t>
            </a:r>
            <a:r>
              <a:rPr lang="en-US" sz="2000"/>
              <a:t> use JavaScript to write complete programs, but...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Usually you just use snippets of JavaScript here and there throughout your Web page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JavaScript code snippets can be attached to various form elements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For example, you might want to check that a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zipcode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/>
              <a:t>field contains a 5-digit integer before you send that information to the server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Microsoft calls its version of JavaScript “active scripting”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Forms can be used without JavaScript, and JavaScript can be used without forms, but they work well together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JavaScript for forms is covered in a separate lecture</a:t>
            </a:r>
          </a:p>
        </p:txBody>
      </p:sp>
    </p:spTree>
    <p:extLst>
      <p:ext uri="{BB962C8B-B14F-4D97-AF65-F5344CB8AC3E}">
        <p14:creationId xmlns:p14="http://schemas.microsoft.com/office/powerpoint/2010/main" val="3916555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3F499A-9234-4BCF-901D-1DCF461D9FF0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smtClean="0">
                <a:solidFill>
                  <a:schemeClr val="tx1"/>
                </a:solidFill>
                <a:latin typeface="Trebuchet MS" panose="020B0603020202020204" pitchFamily="34" charset="0"/>
              </a:rPr>
              <a:t>&lt;form&gt;</a:t>
            </a:r>
            <a:r>
              <a:rPr lang="en-US" smtClean="0"/>
              <a:t> tag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924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The</a:t>
            </a:r>
            <a:r>
              <a:rPr lang="en-US" sz="2400">
                <a:solidFill>
                  <a:schemeClr val="accent2"/>
                </a:solidFill>
              </a:rPr>
              <a:t>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&lt;form </a:t>
            </a:r>
            <a:r>
              <a:rPr lang="en-US" sz="2400" b="1" i="1">
                <a:solidFill>
                  <a:schemeClr val="hlink"/>
                </a:solidFill>
              </a:rPr>
              <a:t>arguments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&gt; ... &lt;/form&gt;</a:t>
            </a:r>
            <a:r>
              <a:rPr lang="en-US" sz="2400"/>
              <a:t> tag encloses form elements (and probably other elements as well)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The arguments to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form</a:t>
            </a:r>
            <a:r>
              <a:rPr lang="en-US" sz="2400"/>
              <a:t> tell what to do with the user input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action="</a:t>
            </a:r>
            <a:r>
              <a:rPr lang="en-US" sz="2000" b="1" i="1">
                <a:solidFill>
                  <a:schemeClr val="hlink"/>
                </a:solidFill>
              </a:rPr>
              <a:t>url</a:t>
            </a:r>
            <a:r>
              <a:rPr lang="en-US" sz="2000">
                <a:solidFill>
                  <a:schemeClr val="accent2"/>
                </a:solidFill>
              </a:rPr>
              <a:t>"	</a:t>
            </a:r>
            <a:r>
              <a:rPr lang="en-US" sz="2000"/>
              <a:t>(required)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Specifies where to send the data when the</a:t>
            </a:r>
            <a:r>
              <a:rPr lang="en-US" sz="1800">
                <a:solidFill>
                  <a:schemeClr val="accent2"/>
                </a:solidFill>
              </a:rPr>
              <a:t>  </a:t>
            </a: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Submit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/>
              <a:t>button is clicked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method="get"</a:t>
            </a:r>
            <a:r>
              <a:rPr lang="en-US" sz="2000"/>
              <a:t>	(default)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Form data is sent as a URL with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?form_data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/>
              <a:t>info appended to the end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Can be used </a:t>
            </a:r>
            <a:r>
              <a:rPr lang="en-US" sz="1800" i="1"/>
              <a:t>only</a:t>
            </a:r>
            <a:r>
              <a:rPr lang="en-US" sz="1800"/>
              <a:t> if data is all ASCII and not more than 100 characters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method="post"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Form data is sent in the body of the URL request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Cannot be bookmarked by most browsers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target="</a:t>
            </a:r>
            <a:r>
              <a:rPr lang="en-US" sz="2000" b="1" i="1">
                <a:solidFill>
                  <a:schemeClr val="hlink"/>
                </a:solidFill>
              </a:rPr>
              <a:t>target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Tells where to open the page sent as a result of the request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b="1" i="1">
                <a:solidFill>
                  <a:schemeClr val="hlink"/>
                </a:solidFill>
              </a:rPr>
              <a:t>target</a:t>
            </a:r>
            <a:r>
              <a:rPr lang="en-US" sz="1800" b="1">
                <a:solidFill>
                  <a:schemeClr val="accent2"/>
                </a:solidFill>
              </a:rPr>
              <a:t>=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_blank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/>
              <a:t>means open in a new window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b="1" i="1">
                <a:solidFill>
                  <a:schemeClr val="hlink"/>
                </a:solidFill>
              </a:rPr>
              <a:t>target</a:t>
            </a:r>
            <a:r>
              <a:rPr lang="en-US" sz="1800" b="1">
                <a:solidFill>
                  <a:schemeClr val="accent2"/>
                </a:solidFill>
              </a:rPr>
              <a:t>=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_top</a:t>
            </a:r>
            <a:r>
              <a:rPr lang="en-US" sz="1800"/>
              <a:t> means use the same window</a:t>
            </a:r>
          </a:p>
        </p:txBody>
      </p:sp>
    </p:spTree>
    <p:extLst>
      <p:ext uri="{BB962C8B-B14F-4D97-AF65-F5344CB8AC3E}">
        <p14:creationId xmlns:p14="http://schemas.microsoft.com/office/powerpoint/2010/main" val="3392872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0BAF2A-9ED7-41D6-9479-FE630561B941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</a:t>
            </a:r>
            <a:r>
              <a:rPr lang="en-US" smtClean="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mtClean="0">
                <a:solidFill>
                  <a:schemeClr val="tx1"/>
                </a:solidFill>
                <a:latin typeface="Trebuchet MS" panose="020B0603020202020204" pitchFamily="34" charset="0"/>
              </a:rPr>
              <a:t>&lt;input&gt;</a:t>
            </a:r>
            <a:r>
              <a:rPr lang="en-US" smtClean="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mtClean="0"/>
              <a:t>tag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/>
              <a:t>Most, but not all, form elements use the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input</a:t>
            </a:r>
            <a:r>
              <a:rPr lang="en-US" sz="2400"/>
              <a:t> tag, with a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type="..."</a:t>
            </a:r>
            <a:r>
              <a:rPr lang="en-US" sz="2400">
                <a:solidFill>
                  <a:schemeClr val="accent2"/>
                </a:solidFill>
              </a:rPr>
              <a:t> </a:t>
            </a:r>
            <a:r>
              <a:rPr lang="en-US" sz="2400"/>
              <a:t>argument to tell which kind of element it is</a:t>
            </a:r>
          </a:p>
          <a:p>
            <a:pPr lvl="1"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type</a:t>
            </a:r>
            <a:r>
              <a:rPr lang="en-US" sz="2000"/>
              <a:t> can be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text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checkbox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radio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password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hidden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submit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reset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button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file</a:t>
            </a:r>
            <a:r>
              <a:rPr lang="en-US" sz="2000"/>
              <a:t>,</a:t>
            </a:r>
            <a:r>
              <a:rPr lang="en-US" sz="20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2000"/>
              <a:t>or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image</a:t>
            </a:r>
          </a:p>
          <a:p>
            <a:pPr eaLnBrk="1" hangingPunct="1"/>
            <a:r>
              <a:rPr lang="en-US" sz="2400"/>
              <a:t>Other common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input</a:t>
            </a:r>
            <a:r>
              <a:rPr lang="en-US" sz="2400"/>
              <a:t> tag arguments include:</a:t>
            </a:r>
            <a:endParaRPr lang="en-US" sz="2400">
              <a:solidFill>
                <a:srgbClr val="FFFF7F"/>
              </a:solidFill>
              <a:latin typeface="Trebuchet MS" panose="020B0603020202020204" pitchFamily="34" charset="0"/>
            </a:endParaRPr>
          </a:p>
          <a:p>
            <a:pPr lvl="1"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name</a:t>
            </a:r>
            <a:r>
              <a:rPr lang="en-US" sz="2000"/>
              <a:t>: the name of the element</a:t>
            </a:r>
            <a:endParaRPr lang="en-US" sz="2000">
              <a:solidFill>
                <a:schemeClr val="accent2"/>
              </a:solidFill>
              <a:latin typeface="Trebuchet MS" panose="020B0603020202020204" pitchFamily="34" charset="0"/>
            </a:endParaRPr>
          </a:p>
          <a:p>
            <a:pPr lvl="1"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id</a:t>
            </a:r>
            <a:r>
              <a:rPr lang="en-US" sz="2000"/>
              <a:t>: a unique identifier for the element</a:t>
            </a:r>
          </a:p>
          <a:p>
            <a:pPr lvl="1"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value</a:t>
            </a:r>
            <a:r>
              <a:rPr lang="en-US" sz="2000"/>
              <a:t>: the “value” of the element; used in different ways for different values of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type</a:t>
            </a:r>
            <a:r>
              <a:rPr lang="en-US" sz="2000"/>
              <a:t> </a:t>
            </a:r>
          </a:p>
          <a:p>
            <a:pPr lvl="1"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readonly</a:t>
            </a:r>
            <a:r>
              <a:rPr lang="en-US" sz="2000"/>
              <a:t>: the value cannot be changed</a:t>
            </a:r>
          </a:p>
          <a:p>
            <a:pPr lvl="1"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disabled</a:t>
            </a:r>
            <a:r>
              <a:rPr lang="en-US" sz="2000"/>
              <a:t>: the user can’t do anything with this element</a:t>
            </a:r>
          </a:p>
          <a:p>
            <a:pPr lvl="1" eaLnBrk="1" hangingPunct="1"/>
            <a:r>
              <a:rPr lang="en-US" sz="2000"/>
              <a:t>Other arguments are defined for the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input</a:t>
            </a:r>
            <a:r>
              <a:rPr lang="en-US" sz="2000"/>
              <a:t> tag but have meaning only for certain values of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type</a:t>
            </a:r>
            <a:r>
              <a:rPr 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8740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ตัวยึดหมายเลขภาพนิ่ง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1028A6-9E12-4CCD-8425-F5897C20C31D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Text input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25676"/>
            <a:ext cx="47244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2130425" y="1447801"/>
            <a:ext cx="8153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text field: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&lt;input type="text" name="textfield" value="with an initial value" /&gt;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2057400" y="2987676"/>
            <a:ext cx="7772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multi-line text field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&lt;textarea name="textarea" cols="24" rows="2"&gt;Hello&lt;/textarea&gt;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071689" y="4587876"/>
            <a:ext cx="7292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password field: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&lt;input type="password" name="textfield3" value="secret" /&gt;</a:t>
            </a:r>
          </a:p>
        </p:txBody>
      </p:sp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197475"/>
            <a:ext cx="59436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133600" y="597535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>
                <a:latin typeface="Times" panose="02020603050405020304" pitchFamily="18" charset="0"/>
              </a:rPr>
              <a:t>• Note that two of these use the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input</a:t>
            </a:r>
            <a:r>
              <a:rPr lang="en-US" sz="2400">
                <a:latin typeface="Times" panose="02020603050405020304" pitchFamily="18" charset="0"/>
              </a:rPr>
              <a:t> tag, but one uses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textarea</a:t>
            </a:r>
            <a:endParaRPr lang="en-US" sz="2400">
              <a:solidFill>
                <a:schemeClr val="accent2"/>
              </a:solidFill>
              <a:latin typeface="Times" panose="02020603050405020304" pitchFamily="18" charset="0"/>
            </a:endParaRPr>
          </a:p>
        </p:txBody>
      </p:sp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73476"/>
            <a:ext cx="52578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879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utoUpdateAnimBg="0"/>
      <p:bldP spid="8199" grpId="0" autoUpdateAnimBg="0"/>
      <p:bldP spid="8201" grpId="0" autoUpdateAnimBg="0"/>
      <p:bldP spid="820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ตัวยึดหมายเลขภาพนิ่ง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445A77-12F7-4D24-9809-3EC51D1D695E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Buttons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00200"/>
            <a:ext cx="7848600" cy="14478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A submit button: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    &lt;input type="submit" name="Submit" value="Submit" /&gt;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reset button: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    &lt;input type="reset" name="Submit2" value="Reset" /&gt;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plain button: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    &lt;input type="button" name="Submit3" value="Push Me" /&gt;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endParaRPr lang="en-US" sz="2000">
              <a:solidFill>
                <a:schemeClr val="accent2"/>
              </a:solidFill>
              <a:latin typeface="Trebuchet MS" panose="020B0603020202020204" pitchFamily="34" charset="0"/>
            </a:endParaRP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5410201" y="3657600"/>
            <a:ext cx="5127625" cy="2497138"/>
          </a:xfrm>
        </p:spPr>
        <p:txBody>
          <a:bodyPr/>
          <a:lstStyle/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submit</a:t>
            </a:r>
            <a:r>
              <a:rPr lang="en-US" sz="2400"/>
              <a:t>: send data</a:t>
            </a:r>
            <a:br>
              <a:rPr lang="en-US" sz="2400"/>
            </a:br>
            <a:endParaRPr lang="en-US" sz="800"/>
          </a:p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reset</a:t>
            </a:r>
            <a:r>
              <a:rPr lang="en-US" sz="2400"/>
              <a:t>: restore all form elements to their initial state</a:t>
            </a:r>
          </a:p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button</a:t>
            </a:r>
            <a:r>
              <a:rPr lang="en-US" sz="2400"/>
              <a:t>: take some action as specified by JavaScript</a:t>
            </a: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581400"/>
            <a:ext cx="2819400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286000" y="57912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>
                <a:latin typeface="Times" panose="02020603050405020304" pitchFamily="18" charset="0"/>
              </a:rPr>
              <a:t>• Note that the type is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input</a:t>
            </a:r>
            <a:r>
              <a:rPr lang="en-US" sz="2400">
                <a:latin typeface="Times" panose="02020603050405020304" pitchFamily="18" charset="0"/>
              </a:rPr>
              <a:t>, not “button”</a:t>
            </a:r>
          </a:p>
        </p:txBody>
      </p:sp>
    </p:spTree>
    <p:extLst>
      <p:ext uri="{BB962C8B-B14F-4D97-AF65-F5344CB8AC3E}">
        <p14:creationId xmlns:p14="http://schemas.microsoft.com/office/powerpoint/2010/main" val="76713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bldLvl="5" autoUpdateAnimBg="0"/>
      <p:bldP spid="10245" grpId="0" build="p" bldLvl="5" autoUpdateAnimBg="0"/>
      <p:bldP spid="1024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ตัวยึดหมายเลขภาพนิ่ง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B4FCD7-D373-4CF4-BD73-D5BB03DE6A56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Radio buttons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447800"/>
            <a:ext cx="8458200" cy="137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FFFF7F"/>
              </a:buClr>
              <a:buFont typeface="Wingdings" panose="05000000000000000000" pitchFamily="2" charset="2"/>
              <a:buNone/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Radio buttons:&lt;br&gt;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&lt;input type="radio" name="radiobutton" value="myValue1" /&gt;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male&lt;br&gt;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&lt;input type="radio" name="radiobutton" value="myValue2”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      checked="checked" /&gt;female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905000" y="4025900"/>
            <a:ext cx="8574088" cy="2527300"/>
          </a:xfrm>
        </p:spPr>
        <p:txBody>
          <a:bodyPr/>
          <a:lstStyle/>
          <a:p>
            <a:pPr eaLnBrk="1" hangingPunct="1"/>
            <a:r>
              <a:rPr lang="en-US" sz="2400"/>
              <a:t>If two or more radio buttons have the same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name</a:t>
            </a:r>
            <a:r>
              <a:rPr lang="en-US" sz="2400"/>
              <a:t>, the user can only select one of them at a time</a:t>
            </a:r>
          </a:p>
          <a:p>
            <a:pPr lvl="1" eaLnBrk="1" hangingPunct="1"/>
            <a:r>
              <a:rPr lang="en-US" sz="2000"/>
              <a:t>This is how you make a radio button “group”</a:t>
            </a:r>
          </a:p>
          <a:p>
            <a:pPr eaLnBrk="1" hangingPunct="1"/>
            <a:r>
              <a:rPr lang="en-US" sz="2400"/>
              <a:t>If you ask for the value of that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name</a:t>
            </a:r>
            <a:r>
              <a:rPr lang="en-US" sz="2400"/>
              <a:t>, you will get the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value</a:t>
            </a:r>
            <a:r>
              <a:rPr lang="en-US" sz="2400"/>
              <a:t> specified for the selected radio button</a:t>
            </a:r>
          </a:p>
          <a:p>
            <a:pPr eaLnBrk="1" hangingPunct="1"/>
            <a:r>
              <a:rPr lang="en-US" sz="2400"/>
              <a:t>As with checkboxes, radio buttons do not contain any text</a:t>
            </a: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881313"/>
            <a:ext cx="220980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14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5" autoUpdateAnimBg="0"/>
      <p:bldP spid="17412" grpId="0" build="p" bldLvl="5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46EAD0-5E28-41E8-A8E8-3733B6379B2B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Labels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371600"/>
            <a:ext cx="8382000" cy="4876800"/>
          </a:xfrm>
        </p:spPr>
        <p:txBody>
          <a:bodyPr/>
          <a:lstStyle/>
          <a:p>
            <a:pPr eaLnBrk="1" hangingPunct="1"/>
            <a:r>
              <a:rPr lang="en-US" sz="2400"/>
              <a:t>In many cases, the labels for controls are not part of the control</a:t>
            </a:r>
          </a:p>
          <a:p>
            <a:pPr lvl="1" eaLnBrk="1" hangingPunct="1"/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&lt;input type="radio" name="gender" value="m" /&gt;male</a:t>
            </a:r>
          </a:p>
          <a:p>
            <a:pPr lvl="1" eaLnBrk="1" hangingPunct="1"/>
            <a:r>
              <a:rPr lang="en-US" sz="2000"/>
              <a:t>In this case, clicking on the word “male” has no effect</a:t>
            </a:r>
          </a:p>
          <a:p>
            <a:pPr eaLnBrk="1" hangingPunct="1"/>
            <a:r>
              <a:rPr lang="en-US" sz="2400"/>
              <a:t>A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label</a:t>
            </a:r>
            <a:r>
              <a:rPr lang="en-US" sz="2400"/>
              <a:t> tag will bind the text to the control</a:t>
            </a:r>
            <a:endParaRPr lang="en-US" sz="2400">
              <a:solidFill>
                <a:schemeClr val="accent2"/>
              </a:solidFill>
              <a:latin typeface="Trebuchet MS" panose="020B0603020202020204" pitchFamily="34" charset="0"/>
            </a:endParaRPr>
          </a:p>
          <a:p>
            <a:pPr lvl="1" eaLnBrk="1" hangingPunct="1"/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&lt;label&gt;&lt;input type="radio" name="gender" value="m" /&gt;male&lt;/label&gt;</a:t>
            </a:r>
          </a:p>
          <a:p>
            <a:pPr lvl="1" eaLnBrk="1" hangingPunct="1"/>
            <a:r>
              <a:rPr lang="en-US" sz="2000"/>
              <a:t>Clicking on the word “male” now clicks the radio button</a:t>
            </a:r>
          </a:p>
          <a:p>
            <a:pPr eaLnBrk="1" hangingPunct="1"/>
            <a:r>
              <a:rPr lang="en-US" sz="2400"/>
              <a:t>w3schools says that you should use the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for</a:t>
            </a:r>
            <a:r>
              <a:rPr lang="en-US" sz="2400"/>
              <a:t> attribute:</a:t>
            </a:r>
          </a:p>
          <a:p>
            <a:pPr lvl="1" eaLnBrk="1" hangingPunct="1"/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&lt;label for="lname"&gt;Last Name:&lt;/label&gt;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&lt;input type="text" name="lastname" id="lname" /&gt;</a:t>
            </a:r>
          </a:p>
          <a:p>
            <a:pPr lvl="1" eaLnBrk="1" hangingPunct="1"/>
            <a:r>
              <a:rPr lang="en-US" sz="2000"/>
              <a:t>In my testing (Firefox and Opera), this isn’t necessary, but it may be for some browsers</a:t>
            </a:r>
          </a:p>
          <a:p>
            <a:pPr eaLnBrk="1" hangingPunct="1"/>
            <a:r>
              <a:rPr lang="en-US" sz="2400"/>
              <a:t>Labels also help page readers read the page correctly</a:t>
            </a:r>
          </a:p>
          <a:p>
            <a:pPr eaLnBrk="1" hangingPunct="1"/>
            <a:r>
              <a:rPr lang="en-US" sz="2400"/>
              <a:t>Some browsers may render labels differently</a:t>
            </a:r>
          </a:p>
        </p:txBody>
      </p:sp>
    </p:spTree>
    <p:extLst>
      <p:ext uri="{BB962C8B-B14F-4D97-AF65-F5344CB8AC3E}">
        <p14:creationId xmlns:p14="http://schemas.microsoft.com/office/powerpoint/2010/main" val="286361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ตัวยึดหมายเลขภาพนิ่ง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C888A6-0618-4F78-A038-891B1E17F783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Checkboxes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371601"/>
            <a:ext cx="8574088" cy="1014413"/>
          </a:xfrm>
        </p:spPr>
        <p:txBody>
          <a:bodyPr/>
          <a:lstStyle/>
          <a:p>
            <a:pPr eaLnBrk="1" hangingPunct="1"/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checkbox: 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&lt;input type="checkbox" name="checkbox"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           value="checkbox" checked="checked"&gt;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2133600" y="3303588"/>
            <a:ext cx="7848600" cy="2552700"/>
          </a:xfrm>
        </p:spPr>
        <p:txBody>
          <a:bodyPr/>
          <a:lstStyle/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type</a:t>
            </a:r>
            <a:r>
              <a:rPr lang="en-US" sz="2400">
                <a:solidFill>
                  <a:schemeClr val="accent2"/>
                </a:solidFill>
              </a:rPr>
              <a:t>: </a:t>
            </a: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"checkbox"</a:t>
            </a:r>
          </a:p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name</a:t>
            </a:r>
            <a:r>
              <a:rPr lang="en-US" sz="2400"/>
              <a:t>: used to reference this form element from JavaScript</a:t>
            </a:r>
          </a:p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value</a:t>
            </a:r>
            <a:r>
              <a:rPr lang="en-US" sz="2400"/>
              <a:t>: value to be returned when element is checked</a:t>
            </a:r>
          </a:p>
          <a:p>
            <a:pPr eaLnBrk="1" hangingPunct="1"/>
            <a:r>
              <a:rPr lang="en-US" sz="2400"/>
              <a:t>Note that there is </a:t>
            </a:r>
            <a:r>
              <a:rPr lang="en-US" sz="2400" i="1"/>
              <a:t>no text</a:t>
            </a:r>
            <a:r>
              <a:rPr lang="en-US" sz="2400"/>
              <a:t> associated with the checkbox</a:t>
            </a:r>
          </a:p>
          <a:p>
            <a:pPr lvl="1" eaLnBrk="1" hangingPunct="1"/>
            <a:r>
              <a:rPr lang="en-US" sz="2000"/>
              <a:t>Unless you use a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label</a:t>
            </a:r>
            <a:r>
              <a:rPr lang="en-US" sz="2000"/>
              <a:t> tag, only clicking on the box itself has any effect</a:t>
            </a:r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667001"/>
            <a:ext cx="2286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755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bldLvl="5" autoUpdateAnimBg="0"/>
      <p:bldP spid="13317" grpId="0" build="p" bldLvl="5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ตัวยึดหมายเลขภาพนิ่ง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8E42A7-1A06-450B-AA6F-CCA642CFD6F8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Drop-down menu or list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527176"/>
            <a:ext cx="8574088" cy="17954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A menu or list: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&lt;select name="select"&gt;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&lt;option value="red"&gt;red&lt;/option&gt;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&lt;option value="green"&gt;green&lt;/option&gt;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   &lt;option value="BLUE"&gt;blue&lt;/option&gt;</a:t>
            </a:r>
            <a:b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&lt;/select&gt;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133600" y="4268788"/>
            <a:ext cx="7772400" cy="21320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/>
              <a:t>Additional arguments: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size</a:t>
            </a:r>
            <a:r>
              <a:rPr lang="en-US" sz="1800"/>
              <a:t>: the number of items visible in the list (default is</a:t>
            </a:r>
            <a:r>
              <a:rPr lang="en-US" sz="18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"1"</a:t>
            </a:r>
            <a:r>
              <a:rPr lang="en-US" sz="180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multiple</a:t>
            </a:r>
            <a:endParaRPr lang="en-US" sz="1800"/>
          </a:p>
          <a:p>
            <a:pPr lvl="2" eaLnBrk="1" hangingPunct="1">
              <a:lnSpc>
                <a:spcPct val="90000"/>
              </a:lnSpc>
            </a:pPr>
            <a:r>
              <a:rPr lang="en-US" sz="1600"/>
              <a:t>if set to </a:t>
            </a:r>
            <a:r>
              <a:rPr lang="en-US" sz="1600">
                <a:solidFill>
                  <a:schemeClr val="accent2"/>
                </a:solidFill>
                <a:latin typeface="Trebuchet MS" panose="020B0603020202020204" pitchFamily="34" charset="0"/>
              </a:rPr>
              <a:t>"true"</a:t>
            </a:r>
            <a:r>
              <a:rPr lang="en-US" sz="1600"/>
              <a:t> (or just about anything else), any number of items may be selected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/>
              <a:t>if omitted, only one item may be selected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/>
              <a:t>if set to </a:t>
            </a:r>
            <a:r>
              <a:rPr lang="en-US" sz="1600">
                <a:solidFill>
                  <a:schemeClr val="accent2"/>
                </a:solidFill>
                <a:latin typeface="Trebuchet MS" panose="020B0603020202020204" pitchFamily="34" charset="0"/>
              </a:rPr>
              <a:t>"false"</a:t>
            </a:r>
            <a:r>
              <a:rPr lang="en-US" sz="1600"/>
              <a:t>, behavior depends on the particular browser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352801"/>
            <a:ext cx="3875088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713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bldLvl="5" autoUpdateAnimBg="0"/>
      <p:bldP spid="18436" grpId="0" build="p" bldLvl="5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ตัวยึดหมายเลขภาพนิ่ง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560CEA-DC17-4762-A43F-0A63C0A96161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Hidden fields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371601"/>
            <a:ext cx="8574088" cy="936625"/>
          </a:xfrm>
        </p:spPr>
        <p:txBody>
          <a:bodyPr/>
          <a:lstStyle/>
          <a:p>
            <a:pPr eaLnBrk="1" hangingPunct="1"/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&lt;input type="hidden" name="hiddenField" value="nyah"&gt;</a:t>
            </a:r>
            <a:b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    &amp;lt;-- right there, don't you see it?</a:t>
            </a:r>
            <a:endParaRPr lang="en-US" smtClean="0">
              <a:solidFill>
                <a:schemeClr val="accent2"/>
              </a:solidFill>
            </a:endParaRP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905000" y="3244851"/>
            <a:ext cx="8574088" cy="2887663"/>
          </a:xfrm>
        </p:spPr>
        <p:txBody>
          <a:bodyPr/>
          <a:lstStyle/>
          <a:p>
            <a:pPr eaLnBrk="1" hangingPunct="1"/>
            <a:r>
              <a:rPr lang="en-US" sz="2400"/>
              <a:t>What good is this?</a:t>
            </a:r>
          </a:p>
          <a:p>
            <a:pPr lvl="1" eaLnBrk="1" hangingPunct="1"/>
            <a:r>
              <a:rPr lang="en-US" sz="2000"/>
              <a:t>All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 input</a:t>
            </a:r>
            <a:r>
              <a:rPr lang="en-US" sz="2000"/>
              <a:t> fields are sent back to the server, including hidden fields</a:t>
            </a:r>
          </a:p>
          <a:p>
            <a:pPr lvl="1" eaLnBrk="1" hangingPunct="1"/>
            <a:r>
              <a:rPr lang="en-US" sz="2000"/>
              <a:t>This is a way to include information that the user doesn’t need to see (or that you don’t want her to see)</a:t>
            </a:r>
          </a:p>
          <a:p>
            <a:pPr lvl="1" eaLnBrk="1" hangingPunct="1"/>
            <a:r>
              <a:rPr lang="en-US" sz="2000"/>
              <a:t>The </a:t>
            </a:r>
            <a:r>
              <a:rPr 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value</a:t>
            </a:r>
            <a:r>
              <a:rPr lang="en-US" sz="2000"/>
              <a:t> of a hidden field can be set programmatically (by JavaScript) before the form is submitted</a:t>
            </a:r>
          </a:p>
        </p:txBody>
      </p: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522538"/>
            <a:ext cx="7467600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87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5" autoUpdateAnimBg="0"/>
      <p:bldP spid="19460" grpId="0" build="p" bldLvl="5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5A4604-F4E6-4C85-A9E6-3B1AD175F44D}" type="slidenum">
              <a:rPr 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sz="140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complete example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77976"/>
            <a:ext cx="8534400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FF7F"/>
              </a:buClr>
              <a:buFontTx/>
              <a:buChar char=" "/>
            </a:pP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&lt;html&gt;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&lt;head&gt;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&lt;title&gt;Get Identity&lt;/title&gt;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&lt;meta http-equiv="Content-Type" content="text/html;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         charset=iso-8859-1"&gt;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&lt;/head&gt;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&lt;body&gt;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&lt;p&gt;&lt;b&gt;Who are you?&lt;/b&gt;&lt;/p&gt;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&lt;form method="post" action=""&gt;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&lt;p&gt;Name: 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  &lt;input type="text" name="textfield"&gt;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&lt;/p&gt;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&lt;p&gt;Gender: 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  &lt;label&gt;&lt;input type="radio" name="gender" value="m" /&gt;Male&lt;label&gt;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  &lt;label&gt;&lt;input type="radio" name="gender" value="f" /&gt;Female&lt;/label&gt;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&lt;/p&gt;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  &lt;/form&gt;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&lt;/body&gt;</a:t>
            </a:r>
            <a:b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sz="1800">
                <a:solidFill>
                  <a:schemeClr val="accent2"/>
                </a:solidFill>
                <a:latin typeface="Trebuchet MS" panose="020B0603020202020204" pitchFamily="34" charset="0"/>
              </a:rPr>
              <a:t>&lt;/html&gt;</a:t>
            </a:r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779714"/>
            <a:ext cx="3454400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61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โครงสร้าง </a:t>
            </a:r>
            <a:r>
              <a:rPr lang="en-US" dirty="0" smtClean="0"/>
              <a:t>Element </a:t>
            </a:r>
            <a:r>
              <a:rPr lang="th-TH" dirty="0" smtClean="0"/>
              <a:t>สำหรับสร้างแบบฟอร์ม</a:t>
            </a:r>
            <a:br>
              <a:rPr lang="th-TH" dirty="0" smtClean="0"/>
            </a:br>
            <a:r>
              <a:rPr lang="th-TH" dirty="0" smtClean="0"/>
              <a:t>&lt;</a:t>
            </a:r>
            <a:r>
              <a:rPr lang="en-US" dirty="0" smtClean="0"/>
              <a:t>form name="</a:t>
            </a:r>
            <a:r>
              <a:rPr lang="en-US" dirty="0" err="1" smtClean="0"/>
              <a:t>form_name</a:t>
            </a:r>
            <a:r>
              <a:rPr lang="en-US" dirty="0" smtClean="0"/>
              <a:t>" method="get | post" action="</a:t>
            </a:r>
            <a:r>
              <a:rPr lang="en-US" dirty="0" err="1" smtClean="0"/>
              <a:t>url</a:t>
            </a:r>
            <a:r>
              <a:rPr lang="en-US" dirty="0" smtClean="0"/>
              <a:t>" target="window name"&gt;....&lt;/form&gt; </a:t>
            </a:r>
          </a:p>
          <a:p>
            <a:r>
              <a:rPr lang="en-US" dirty="0" smtClean="0"/>
              <a:t>- name="</a:t>
            </a:r>
            <a:r>
              <a:rPr lang="th-TH" dirty="0" smtClean="0"/>
              <a:t>ชื่อของ </a:t>
            </a:r>
            <a:r>
              <a:rPr lang="en-US" dirty="0" smtClean="0"/>
              <a:t>Form"</a:t>
            </a:r>
            <a:br>
              <a:rPr lang="en-US" dirty="0" smtClean="0"/>
            </a:br>
            <a:r>
              <a:rPr lang="en-US" dirty="0" smtClean="0"/>
              <a:t>- method="get | post" </a:t>
            </a:r>
            <a:r>
              <a:rPr lang="th-TH" dirty="0" smtClean="0"/>
              <a:t>เป็นรูปแบบของวิธีในการส่งข้อมูล มี 2 รูปแบบ</a:t>
            </a:r>
            <a:br>
              <a:rPr lang="th-TH" dirty="0" smtClean="0"/>
            </a:br>
            <a:r>
              <a:rPr lang="th-TH" dirty="0" smtClean="0"/>
              <a:t>      </a:t>
            </a:r>
            <a:r>
              <a:rPr lang="en-US" dirty="0" smtClean="0"/>
              <a:t>get </a:t>
            </a:r>
            <a:r>
              <a:rPr lang="th-TH" dirty="0" smtClean="0"/>
              <a:t>เป็นตัวรับ - ส่ง ข้อมูลขนาดจำกัดจาก </a:t>
            </a:r>
            <a:r>
              <a:rPr lang="en-US" dirty="0" smtClean="0"/>
              <a:t>Server </a:t>
            </a:r>
            <a:r>
              <a:rPr lang="th-TH" dirty="0" smtClean="0"/>
              <a:t>ไม่เกิน 256 ตัวอักษร </a:t>
            </a:r>
            <a:br>
              <a:rPr lang="th-TH" dirty="0" smtClean="0"/>
            </a:br>
            <a:r>
              <a:rPr lang="th-TH" dirty="0" smtClean="0"/>
              <a:t>      </a:t>
            </a:r>
            <a:r>
              <a:rPr lang="en-US" dirty="0" smtClean="0"/>
              <a:t>post </a:t>
            </a:r>
            <a:r>
              <a:rPr lang="th-TH" dirty="0" smtClean="0"/>
              <a:t>เป็นตัวรับ - ส่ง ข้อมูลไม่จำกัดจาก </a:t>
            </a:r>
            <a:r>
              <a:rPr lang="en-US" dirty="0" smtClean="0"/>
              <a:t>Server </a:t>
            </a:r>
            <a:br>
              <a:rPr lang="en-US" dirty="0" smtClean="0"/>
            </a:br>
            <a:r>
              <a:rPr lang="en-US" dirty="0" smtClean="0"/>
              <a:t>- action="URL" </a:t>
            </a:r>
            <a:r>
              <a:rPr lang="th-TH" dirty="0" smtClean="0"/>
              <a:t>คือตำแหน่งหรือ </a:t>
            </a:r>
            <a:r>
              <a:rPr lang="en-US" dirty="0" smtClean="0"/>
              <a:t>URL </a:t>
            </a:r>
            <a:r>
              <a:rPr lang="th-TH" dirty="0" smtClean="0"/>
              <a:t>ของ </a:t>
            </a:r>
            <a:r>
              <a:rPr lang="en-US" dirty="0" smtClean="0"/>
              <a:t>Script </a:t>
            </a:r>
            <a:r>
              <a:rPr lang="th-TH" dirty="0" smtClean="0"/>
              <a:t>ที่วางไว้ที่ </a:t>
            </a:r>
            <a:r>
              <a:rPr lang="en-US" dirty="0" smtClean="0"/>
              <a:t>Server </a:t>
            </a:r>
            <a:br>
              <a:rPr lang="en-US" dirty="0" smtClean="0"/>
            </a:br>
            <a:r>
              <a:rPr lang="en-US" dirty="0" smtClean="0"/>
              <a:t>- target="_blank | _self | _parent" </a:t>
            </a:r>
            <a:r>
              <a:rPr lang="th-TH" dirty="0" smtClean="0"/>
              <a:t>หน้าต่างที่จะให้ผลของ </a:t>
            </a:r>
            <a:r>
              <a:rPr lang="en-US" dirty="0" smtClean="0"/>
              <a:t>Script </a:t>
            </a:r>
            <a:r>
              <a:rPr lang="th-TH" dirty="0" smtClean="0"/>
              <a:t>แสดงผล </a:t>
            </a:r>
            <a:endParaRPr lang="en-US" dirty="0" smtClean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27685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ภายใน </a:t>
            </a:r>
            <a:r>
              <a:rPr lang="en-US" dirty="0" smtClean="0"/>
              <a:t>Element &lt;form&gt;...&lt;/form&gt; </a:t>
            </a:r>
            <a:r>
              <a:rPr lang="th-TH" dirty="0" smtClean="0"/>
              <a:t>จะประกอบด้วยช่อง </a:t>
            </a:r>
            <a:r>
              <a:rPr lang="en-US" dirty="0" smtClean="0"/>
              <a:t>element 3 </a:t>
            </a:r>
            <a:r>
              <a:rPr lang="th-TH" dirty="0" smtClean="0"/>
              <a:t>ประเภท คือ</a:t>
            </a:r>
            <a:br>
              <a:rPr lang="th-TH" dirty="0" smtClean="0"/>
            </a:br>
            <a:r>
              <a:rPr lang="th-TH" dirty="0" smtClean="0"/>
              <a:t>1. &lt;</a:t>
            </a:r>
            <a:r>
              <a:rPr lang="en-US" dirty="0" smtClean="0"/>
              <a:t>input&gt;...&lt;/input&gt;</a:t>
            </a:r>
            <a:br>
              <a:rPr lang="en-US" dirty="0" smtClean="0"/>
            </a:br>
            <a:r>
              <a:rPr lang="en-US" dirty="0" smtClean="0"/>
              <a:t>2. &lt;select&gt;...&lt;/select&gt;</a:t>
            </a:r>
            <a:br>
              <a:rPr lang="en-US" dirty="0" smtClean="0"/>
            </a:br>
            <a:r>
              <a:rPr lang="en-US" dirty="0" smtClean="0"/>
              <a:t>3. &lt;</a:t>
            </a:r>
            <a:r>
              <a:rPr lang="en-US" dirty="0" err="1" smtClean="0"/>
              <a:t>textarea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101914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Input </a:t>
            </a:r>
          </a:p>
          <a:p>
            <a:r>
              <a:rPr lang="en-US" dirty="0" smtClean="0"/>
              <a:t>input </a:t>
            </a:r>
            <a:r>
              <a:rPr lang="th-TH" dirty="0" smtClean="0"/>
              <a:t>มีหลายประเภท ได้แก่</a:t>
            </a:r>
            <a:br>
              <a:rPr lang="th-TH" dirty="0" smtClean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97621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1) Text Fields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&lt; input type="text" name="</a:t>
            </a:r>
            <a:r>
              <a:rPr lang="th-TH" dirty="0" smtClean="0"/>
              <a:t>ชื่อช่องกรอกข้อมูล" </a:t>
            </a:r>
            <a:r>
              <a:rPr lang="en-US" dirty="0" smtClean="0"/>
              <a:t>value="</a:t>
            </a:r>
            <a:r>
              <a:rPr lang="th-TH" dirty="0" smtClean="0"/>
              <a:t>ข้อมูล" </a:t>
            </a:r>
            <a:r>
              <a:rPr lang="en-US" dirty="0" smtClean="0"/>
              <a:t>size="number" </a:t>
            </a:r>
            <a:r>
              <a:rPr lang="en-US" dirty="0" err="1" smtClean="0"/>
              <a:t>maxlength</a:t>
            </a:r>
            <a:r>
              <a:rPr lang="en-US" dirty="0" smtClean="0"/>
              <a:t>="number" disabled </a:t>
            </a:r>
            <a:r>
              <a:rPr lang="en-US" dirty="0" err="1" smtClean="0"/>
              <a:t>readonly</a:t>
            </a:r>
            <a:r>
              <a:rPr lang="en-US" dirty="0" smtClean="0"/>
              <a:t> /&gt;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th-TH" dirty="0" smtClean="0"/>
              <a:t>หรือ เพื่อให้เป็นไปตามมาตรฐานของ (</a:t>
            </a:r>
            <a:r>
              <a:rPr lang="en-US" dirty="0" smtClean="0"/>
              <a:t>X)HTML </a:t>
            </a:r>
            <a:r>
              <a:rPr lang="th-TH" dirty="0" smtClean="0"/>
              <a:t>รุ่นใหม่ จะเขียนแบบนี้ &lt;</a:t>
            </a:r>
            <a:r>
              <a:rPr lang="en-US" dirty="0" smtClean="0"/>
              <a:t>form&gt;</a:t>
            </a:r>
            <a:br>
              <a:rPr lang="en-US" dirty="0" smtClean="0"/>
            </a:br>
            <a:r>
              <a:rPr lang="en-US" dirty="0" smtClean="0"/>
              <a:t>&lt;input type="text" name="</a:t>
            </a:r>
            <a:r>
              <a:rPr lang="th-TH" dirty="0" smtClean="0"/>
              <a:t>ชื่อช่องกรอกข้อมูล" </a:t>
            </a:r>
            <a:r>
              <a:rPr lang="en-US" dirty="0" smtClean="0"/>
              <a:t>value="</a:t>
            </a:r>
            <a:r>
              <a:rPr lang="th-TH" dirty="0" smtClean="0"/>
              <a:t>ข้อมูล" </a:t>
            </a:r>
            <a:r>
              <a:rPr lang="en-US" dirty="0" smtClean="0"/>
              <a:t>size="number" </a:t>
            </a:r>
            <a:r>
              <a:rPr lang="en-US" dirty="0" err="1" smtClean="0"/>
              <a:t>maxlength</a:t>
            </a:r>
            <a:r>
              <a:rPr lang="en-US" dirty="0" smtClean="0"/>
              <a:t>="number" disabled="disabled" </a:t>
            </a:r>
            <a:r>
              <a:rPr lang="en-US" dirty="0" err="1" smtClean="0"/>
              <a:t>readonly</a:t>
            </a:r>
            <a:r>
              <a:rPr lang="en-US" dirty="0" smtClean="0"/>
              <a:t>="</a:t>
            </a:r>
            <a:r>
              <a:rPr lang="en-US" dirty="0" err="1" smtClean="0"/>
              <a:t>readonly</a:t>
            </a:r>
            <a:r>
              <a:rPr lang="en-US" dirty="0" smtClean="0"/>
              <a:t>" /&gt;</a:t>
            </a:r>
            <a:br>
              <a:rPr lang="en-US" dirty="0" smtClean="0"/>
            </a:br>
            <a:r>
              <a:rPr lang="en-US" dirty="0" smtClean="0"/>
              <a:t>&lt;/form&gt;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- size="number" </a:t>
            </a:r>
            <a:r>
              <a:rPr lang="th-TH" dirty="0" smtClean="0"/>
              <a:t>ความกว้างของช่องกรอกข้อมูล</a:t>
            </a:r>
            <a:br>
              <a:rPr lang="th-TH" dirty="0" smtClean="0"/>
            </a:br>
            <a:r>
              <a:rPr lang="th-TH" dirty="0" smtClean="0"/>
              <a:t>- </a:t>
            </a:r>
            <a:r>
              <a:rPr lang="en-US" dirty="0" err="1" smtClean="0"/>
              <a:t>maxlengt</a:t>
            </a:r>
            <a:r>
              <a:rPr lang="en-US" dirty="0" smtClean="0"/>
              <a:t>="number" </a:t>
            </a:r>
            <a:r>
              <a:rPr lang="th-TH" dirty="0" smtClean="0"/>
              <a:t>จำนวนตัวอักษรสูงสุดที่กรอกได้</a:t>
            </a:r>
            <a:br>
              <a:rPr lang="th-TH" dirty="0" smtClean="0"/>
            </a:br>
            <a:r>
              <a:rPr lang="th-TH" dirty="0" smtClean="0"/>
              <a:t>- </a:t>
            </a:r>
            <a:r>
              <a:rPr lang="en-US" dirty="0" smtClean="0"/>
              <a:t>disabled lock </a:t>
            </a:r>
            <a:r>
              <a:rPr lang="th-TH" dirty="0" smtClean="0"/>
              <a:t>ไม่ให้ช่องกรอกข้อมูลใช้งานได้</a:t>
            </a:r>
            <a:br>
              <a:rPr lang="th-TH" dirty="0" smtClean="0"/>
            </a:br>
            <a:r>
              <a:rPr lang="th-TH" dirty="0" smtClean="0"/>
              <a:t>- </a:t>
            </a:r>
            <a:r>
              <a:rPr lang="en-US" dirty="0" err="1" smtClean="0"/>
              <a:t>readonly</a:t>
            </a:r>
            <a:r>
              <a:rPr lang="en-US" dirty="0" smtClean="0"/>
              <a:t> </a:t>
            </a:r>
            <a:r>
              <a:rPr lang="th-TH" dirty="0" smtClean="0"/>
              <a:t>ให้ช่องกรอกข้อมูลอ่านได้อย่างเดียว กรอกข้อมูลไม่ได้</a:t>
            </a:r>
            <a:br>
              <a:rPr lang="th-TH" dirty="0" smtClean="0"/>
            </a:br>
            <a:r>
              <a:rPr lang="th-TH" dirty="0" smtClean="0"/>
              <a:t/>
            </a:r>
            <a:br>
              <a:rPr lang="th-TH" dirty="0" smtClean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44405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</a:p>
          <a:p>
            <a:r>
              <a:rPr lang="en-US" dirty="0" smtClean="0"/>
              <a:t>&lt;input type="text" name="</a:t>
            </a:r>
            <a:r>
              <a:rPr lang="en-US" dirty="0" err="1" smtClean="0"/>
              <a:t>txt_user</a:t>
            </a:r>
            <a:r>
              <a:rPr lang="en-US" dirty="0" smtClean="0"/>
              <a:t>" value="default value" size="20" </a:t>
            </a:r>
            <a:r>
              <a:rPr lang="en-US" dirty="0" err="1" smtClean="0"/>
              <a:t>maxlength</a:t>
            </a:r>
            <a:r>
              <a:rPr lang="en-US" dirty="0" smtClean="0"/>
              <a:t>="30"/&gt; </a:t>
            </a:r>
            <a:br>
              <a:rPr lang="en-US" dirty="0" smtClean="0"/>
            </a:br>
            <a:r>
              <a:rPr lang="en-US" dirty="0" smtClean="0"/>
              <a:t>&lt;input type="text" name="</a:t>
            </a:r>
            <a:r>
              <a:rPr lang="en-US" dirty="0" err="1" smtClean="0"/>
              <a:t>txt_user</a:t>
            </a:r>
            <a:r>
              <a:rPr lang="en-US" dirty="0" smtClean="0"/>
              <a:t>" value="default value" size="40" </a:t>
            </a:r>
            <a:r>
              <a:rPr lang="en-US" dirty="0" err="1" smtClean="0"/>
              <a:t>maxlength</a:t>
            </a:r>
            <a:r>
              <a:rPr lang="en-US" dirty="0" smtClean="0"/>
              <a:t>="30" disabled="disabled" /&gt;</a:t>
            </a:r>
            <a:br>
              <a:rPr lang="en-US" dirty="0" smtClean="0"/>
            </a:br>
            <a:r>
              <a:rPr lang="en-US" dirty="0" smtClean="0"/>
              <a:t>&lt;input type="text" name="</a:t>
            </a:r>
            <a:r>
              <a:rPr lang="en-US" dirty="0" err="1" smtClean="0"/>
              <a:t>txt_user</a:t>
            </a:r>
            <a:r>
              <a:rPr lang="en-US" dirty="0" smtClean="0"/>
              <a:t>" value="</a:t>
            </a:r>
            <a:r>
              <a:rPr lang="en-US" dirty="0" err="1" smtClean="0"/>
              <a:t>readonly</a:t>
            </a:r>
            <a:r>
              <a:rPr lang="en-US" dirty="0" smtClean="0"/>
              <a:t>" size="20" </a:t>
            </a:r>
            <a:r>
              <a:rPr lang="en-US" dirty="0" err="1" smtClean="0"/>
              <a:t>maxlength</a:t>
            </a:r>
            <a:r>
              <a:rPr lang="en-US" dirty="0" smtClean="0"/>
              <a:t>="30" </a:t>
            </a:r>
            <a:r>
              <a:rPr lang="en-US" dirty="0" err="1" smtClean="0"/>
              <a:t>readonly</a:t>
            </a:r>
            <a:r>
              <a:rPr lang="en-US" dirty="0" smtClean="0"/>
              <a:t>="</a:t>
            </a:r>
            <a:r>
              <a:rPr lang="en-US" dirty="0" err="1" smtClean="0"/>
              <a:t>readonly</a:t>
            </a:r>
            <a:r>
              <a:rPr lang="en-US" dirty="0" smtClean="0"/>
              <a:t>" /&gt;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Output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275090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2) Checkbox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&lt; input type="checkbox" name="</a:t>
            </a:r>
            <a:r>
              <a:rPr lang="th-TH" dirty="0" smtClean="0"/>
              <a:t>ชื่อ </a:t>
            </a:r>
            <a:r>
              <a:rPr lang="en-US" dirty="0" smtClean="0"/>
              <a:t>checkbox" value="</a:t>
            </a:r>
            <a:r>
              <a:rPr lang="th-TH" dirty="0" smtClean="0"/>
              <a:t>ค่าข้อมูล" </a:t>
            </a:r>
            <a:r>
              <a:rPr lang="en-US" dirty="0" smtClean="0"/>
              <a:t>checked&gt;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th-TH" dirty="0" smtClean="0"/>
              <a:t>หรือ เพื่อให้เป็นไปตามมาตรฐานของ (</a:t>
            </a:r>
            <a:r>
              <a:rPr lang="en-US" dirty="0" smtClean="0"/>
              <a:t>X)HTML </a:t>
            </a:r>
            <a:r>
              <a:rPr lang="th-TH" dirty="0" smtClean="0"/>
              <a:t>รุ่นใหม่ จะเขียนแบบนี้ &lt;</a:t>
            </a:r>
            <a:r>
              <a:rPr lang="en-US" dirty="0" smtClean="0"/>
              <a:t>form&gt;</a:t>
            </a:r>
            <a:br>
              <a:rPr lang="en-US" dirty="0" smtClean="0"/>
            </a:br>
            <a:r>
              <a:rPr lang="en-US" dirty="0" smtClean="0"/>
              <a:t>&lt;input type="checkbox" name="</a:t>
            </a:r>
            <a:r>
              <a:rPr lang="th-TH" dirty="0" smtClean="0"/>
              <a:t>ชื่อ </a:t>
            </a:r>
            <a:r>
              <a:rPr lang="en-US" dirty="0" smtClean="0"/>
              <a:t>checkbox" value="</a:t>
            </a:r>
            <a:r>
              <a:rPr lang="th-TH" dirty="0" smtClean="0"/>
              <a:t>ค่าข้อมูล" </a:t>
            </a:r>
            <a:r>
              <a:rPr lang="en-US" dirty="0" smtClean="0"/>
              <a:t>checked="checked" /&gt;</a:t>
            </a:r>
            <a:br>
              <a:rPr lang="en-US" dirty="0" smtClean="0"/>
            </a:br>
            <a:r>
              <a:rPr lang="en-US" dirty="0" smtClean="0"/>
              <a:t>&lt;/form&gt;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- checked = </a:t>
            </a:r>
            <a:r>
              <a:rPr lang="th-TH" dirty="0" smtClean="0"/>
              <a:t>ให้ </a:t>
            </a:r>
            <a:r>
              <a:rPr lang="en-US" dirty="0" smtClean="0"/>
              <a:t>checkbox </a:t>
            </a:r>
            <a:r>
              <a:rPr lang="th-TH" dirty="0" smtClean="0"/>
              <a:t>นั้นถูกเลือก (</a:t>
            </a:r>
            <a:r>
              <a:rPr lang="en-US" dirty="0" smtClean="0"/>
              <a:t>tick / </a:t>
            </a:r>
            <a:r>
              <a:rPr lang="th-TH" dirty="0" smtClean="0"/>
              <a:t>ที่ </a:t>
            </a:r>
            <a:r>
              <a:rPr lang="en-US" dirty="0" smtClean="0"/>
              <a:t>checkbox)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318366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r>
              <a:rPr lang="en-US" dirty="0" smtClean="0"/>
              <a:t> &lt;input type="checkbox" name="selection1" value="Yes" checked="checked" /&gt; Selection 1</a:t>
            </a:r>
            <a:br>
              <a:rPr lang="en-US" dirty="0" smtClean="0"/>
            </a:br>
            <a:r>
              <a:rPr lang="en-US" dirty="0" smtClean="0"/>
              <a:t>&lt;input type="checkbox" name="selection2" value="Yes" /&gt; Selection 2</a:t>
            </a:r>
            <a:br>
              <a:rPr lang="en-US" dirty="0" smtClean="0"/>
            </a:br>
            <a:r>
              <a:rPr lang="en-US" dirty="0" smtClean="0"/>
              <a:t>&lt;input type="checkbox" name="selection3" value="Yes" /&gt; Selection 3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932036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3) Radio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&lt; input type="radio" name="</a:t>
            </a:r>
            <a:r>
              <a:rPr lang="th-TH" dirty="0" smtClean="0"/>
              <a:t>ชื่อ </a:t>
            </a:r>
            <a:r>
              <a:rPr lang="en-US" dirty="0" smtClean="0"/>
              <a:t>radio" value="</a:t>
            </a:r>
            <a:r>
              <a:rPr lang="th-TH" dirty="0" smtClean="0"/>
              <a:t>ค่าข้อมูล"</a:t>
            </a:r>
            <a:r>
              <a:rPr lang="en-US" dirty="0" smtClean="0"/>
              <a:t>checked="checked" /&gt;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en-US" dirty="0" smtClean="0"/>
              <a:t>- checked = </a:t>
            </a:r>
            <a:r>
              <a:rPr lang="th-TH" dirty="0" smtClean="0"/>
              <a:t>ให้ </a:t>
            </a:r>
            <a:r>
              <a:rPr lang="en-US" dirty="0" smtClean="0"/>
              <a:t>option </a:t>
            </a:r>
            <a:r>
              <a:rPr lang="th-TH" dirty="0" smtClean="0"/>
              <a:t>นั้นถูกเลือก</a:t>
            </a:r>
            <a:br>
              <a:rPr lang="th-TH" dirty="0" smtClean="0"/>
            </a:br>
            <a:r>
              <a:rPr lang="th-TH" dirty="0" smtClean="0"/>
              <a:t/>
            </a:r>
            <a:br>
              <a:rPr lang="th-TH" dirty="0" smtClean="0"/>
            </a:br>
            <a:r>
              <a:rPr lang="en-US" dirty="0" smtClean="0"/>
              <a:t>Example &lt;input type="radio" name="sex" value="M" checked="checked" /&gt;</a:t>
            </a:r>
            <a:br>
              <a:rPr lang="en-US" dirty="0" smtClean="0"/>
            </a:br>
            <a:r>
              <a:rPr lang="en-US" dirty="0" smtClean="0"/>
              <a:t>&lt;input type="radio" name="sex" value="F" /&gt; Female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11390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4) Password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&lt; input type="password" name="</a:t>
            </a:r>
            <a:r>
              <a:rPr lang="th-TH" dirty="0" smtClean="0"/>
              <a:t>ชื่อ </a:t>
            </a:r>
            <a:r>
              <a:rPr lang="en-US" dirty="0" smtClean="0"/>
              <a:t>input password" value="</a:t>
            </a:r>
            <a:r>
              <a:rPr lang="th-TH" dirty="0" smtClean="0"/>
              <a:t>ค่าข้อมูล" </a:t>
            </a:r>
            <a:r>
              <a:rPr lang="en-US" dirty="0" smtClean="0"/>
              <a:t>size="number" </a:t>
            </a:r>
            <a:r>
              <a:rPr lang="en-US" dirty="0" err="1" smtClean="0"/>
              <a:t>maxlength</a:t>
            </a:r>
            <a:r>
              <a:rPr lang="en-US" dirty="0" smtClean="0"/>
              <a:t>="number" /&gt; 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en-US" dirty="0" smtClean="0"/>
              <a:t>Example &lt;input type="password" name="</a:t>
            </a:r>
            <a:r>
              <a:rPr lang="en-US" dirty="0" err="1" smtClean="0"/>
              <a:t>txt_passw</a:t>
            </a:r>
            <a:r>
              <a:rPr lang="en-US" dirty="0" smtClean="0"/>
              <a:t>" value="1234" size="10" </a:t>
            </a:r>
            <a:r>
              <a:rPr lang="en-US" dirty="0" err="1" smtClean="0"/>
              <a:t>maxlength</a:t>
            </a:r>
            <a:r>
              <a:rPr lang="en-US" dirty="0" smtClean="0"/>
              <a:t>="30" /&gt;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54335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5) File upload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   &lt; input type="file" name="</a:t>
            </a:r>
            <a:r>
              <a:rPr lang="th-TH" dirty="0" smtClean="0"/>
              <a:t>ชื่อ </a:t>
            </a:r>
            <a:r>
              <a:rPr lang="en-US" dirty="0" smtClean="0"/>
              <a:t>input file" value="</a:t>
            </a:r>
            <a:r>
              <a:rPr lang="th-TH" dirty="0" smtClean="0"/>
              <a:t>ค่าข้อมูล" </a:t>
            </a:r>
            <a:r>
              <a:rPr lang="en-US" dirty="0" smtClean="0"/>
              <a:t>size="number" </a:t>
            </a:r>
            <a:r>
              <a:rPr lang="en-US" dirty="0" err="1" smtClean="0"/>
              <a:t>maxlength</a:t>
            </a:r>
            <a:r>
              <a:rPr lang="en-US" dirty="0" smtClean="0"/>
              <a:t>="number" /&gt; 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en-US" dirty="0" smtClean="0"/>
              <a:t>Example &lt;input type="file" name="filename" size="30" /&gt;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86576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6) Hidden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   &lt; input type="hidden" name="</a:t>
            </a:r>
            <a:r>
              <a:rPr lang="th-TH" dirty="0" smtClean="0"/>
              <a:t>ชื่อ </a:t>
            </a:r>
            <a:r>
              <a:rPr lang="en-US" dirty="0" smtClean="0"/>
              <a:t>input hidden" value="</a:t>
            </a:r>
            <a:r>
              <a:rPr lang="th-TH" dirty="0" smtClean="0"/>
              <a:t>ค่าข้อมูล" /&gt; </a:t>
            </a:r>
            <a:br>
              <a:rPr lang="th-TH" dirty="0" smtClean="0"/>
            </a:br>
            <a:r>
              <a:rPr lang="th-TH" dirty="0" smtClean="0"/>
              <a:t>&lt; /</a:t>
            </a:r>
            <a:r>
              <a:rPr lang="en-US" dirty="0" smtClean="0"/>
              <a:t>form&gt;</a:t>
            </a:r>
          </a:p>
          <a:p>
            <a:r>
              <a:rPr lang="en-US" dirty="0" smtClean="0"/>
              <a:t>Example &lt;input type="hidden" name="id" value="1234" /&gt;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100194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7) Button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   &lt; input type="button" name="</a:t>
            </a:r>
            <a:r>
              <a:rPr lang="th-TH" dirty="0" smtClean="0"/>
              <a:t>ชื่อ </a:t>
            </a:r>
            <a:r>
              <a:rPr lang="en-US" dirty="0" smtClean="0"/>
              <a:t>button" value="</a:t>
            </a:r>
            <a:r>
              <a:rPr lang="th-TH" dirty="0" smtClean="0"/>
              <a:t>ค่าข้อมูล" /&gt; </a:t>
            </a:r>
            <a:br>
              <a:rPr lang="th-TH" dirty="0" smtClean="0"/>
            </a:br>
            <a:r>
              <a:rPr lang="th-TH" dirty="0" smtClean="0"/>
              <a:t>&lt; /</a:t>
            </a:r>
            <a:r>
              <a:rPr lang="en-US" dirty="0" smtClean="0"/>
              <a:t>form&gt;</a:t>
            </a:r>
          </a:p>
          <a:p>
            <a:r>
              <a:rPr lang="en-US" dirty="0" smtClean="0"/>
              <a:t>Example &lt;input type="button" name="cancel" value="Cancel" /&gt;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6546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8) Submit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   &lt; input type="button" name="</a:t>
            </a:r>
            <a:r>
              <a:rPr lang="th-TH" dirty="0" smtClean="0"/>
              <a:t>ชื่อ </a:t>
            </a:r>
            <a:r>
              <a:rPr lang="en-US" dirty="0" smtClean="0"/>
              <a:t>button" value="</a:t>
            </a:r>
            <a:r>
              <a:rPr lang="th-TH" dirty="0" smtClean="0"/>
              <a:t>ค่าข้อมูล" /&gt; </a:t>
            </a:r>
            <a:br>
              <a:rPr lang="th-TH" dirty="0" smtClean="0"/>
            </a:br>
            <a:r>
              <a:rPr lang="th-TH" dirty="0" smtClean="0"/>
              <a:t>&lt; /</a:t>
            </a:r>
            <a:r>
              <a:rPr lang="en-US" dirty="0" smtClean="0"/>
              <a:t>form&gt;</a:t>
            </a:r>
          </a:p>
          <a:p>
            <a:r>
              <a:rPr lang="en-US" dirty="0" smtClean="0"/>
              <a:t>Example &lt;input type="button" name="save" value="Save" /&gt;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76818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9) Reset</a:t>
            </a:r>
            <a:r>
              <a:rPr lang="en-US" dirty="0" smtClean="0"/>
              <a:t> &lt;form&gt;</a:t>
            </a:r>
            <a:br>
              <a:rPr lang="en-US" dirty="0" smtClean="0"/>
            </a:br>
            <a:r>
              <a:rPr lang="en-US" dirty="0" smtClean="0"/>
              <a:t>   &lt; input type="button" name="</a:t>
            </a:r>
            <a:r>
              <a:rPr lang="th-TH" dirty="0" smtClean="0"/>
              <a:t>ชื่อ </a:t>
            </a:r>
            <a:r>
              <a:rPr lang="en-US" dirty="0" smtClean="0"/>
              <a:t>button" /&gt; 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en-US" dirty="0" smtClean="0"/>
              <a:t>Example &lt;input type="reset" name="Clear" /&gt;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09050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2. Select </a:t>
            </a:r>
          </a:p>
          <a:p>
            <a:r>
              <a:rPr lang="en-US" dirty="0" smtClean="0"/>
              <a:t>&lt;form&gt;</a:t>
            </a:r>
            <a:br>
              <a:rPr lang="en-US" dirty="0" smtClean="0"/>
            </a:br>
            <a:r>
              <a:rPr lang="en-US" dirty="0" smtClean="0"/>
              <a:t>&lt; select name="</a:t>
            </a:r>
            <a:r>
              <a:rPr lang="th-TH" dirty="0" smtClean="0"/>
              <a:t>ชื่อ </a:t>
            </a:r>
            <a:r>
              <a:rPr lang="en-US" dirty="0" smtClean="0"/>
              <a:t>select" size="5" multiple&gt;</a:t>
            </a:r>
            <a:br>
              <a:rPr lang="en-US" dirty="0" smtClean="0"/>
            </a:br>
            <a:r>
              <a:rPr lang="en-US" dirty="0" smtClean="0"/>
              <a:t>&lt; option value="1" selected="selected"&gt;option 1&lt;/option&gt;</a:t>
            </a:r>
            <a:br>
              <a:rPr lang="en-US" dirty="0" smtClean="0"/>
            </a:br>
            <a:r>
              <a:rPr lang="en-US" dirty="0" smtClean="0"/>
              <a:t>&lt; option value="2"&gt;option 2&lt;/option&gt;</a:t>
            </a:r>
            <a:br>
              <a:rPr lang="en-US" dirty="0" smtClean="0"/>
            </a:br>
            <a:r>
              <a:rPr lang="en-US" dirty="0" smtClean="0"/>
              <a:t>&lt; option value="3"&gt;option 3&lt;/option&gt;</a:t>
            </a:r>
            <a:br>
              <a:rPr lang="en-US" dirty="0" smtClean="0"/>
            </a:br>
            <a:r>
              <a:rPr lang="en-US" dirty="0" smtClean="0"/>
              <a:t>&lt; option value="4"&gt;option 4&lt;/option&gt;</a:t>
            </a:r>
            <a:br>
              <a:rPr lang="en-US" dirty="0" smtClean="0"/>
            </a:br>
            <a:r>
              <a:rPr lang="en-US" dirty="0" smtClean="0"/>
              <a:t>&lt; option value="5"&gt;option 5&lt;/option&gt;</a:t>
            </a:r>
            <a:br>
              <a:rPr lang="en-US" dirty="0" smtClean="0"/>
            </a:br>
            <a:r>
              <a:rPr lang="en-US" dirty="0" smtClean="0"/>
              <a:t>&lt; /select&gt;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en-US" dirty="0" smtClean="0"/>
              <a:t>- size = </a:t>
            </a:r>
            <a:r>
              <a:rPr lang="th-TH" dirty="0" smtClean="0"/>
              <a:t>จำนวนตัวเลือกที่ให้มองเห็น</a:t>
            </a:r>
            <a:br>
              <a:rPr lang="th-TH" dirty="0" smtClean="0"/>
            </a:br>
            <a:r>
              <a:rPr lang="th-TH" dirty="0" smtClean="0"/>
              <a:t>- </a:t>
            </a:r>
            <a:r>
              <a:rPr lang="en-US" dirty="0" smtClean="0"/>
              <a:t>multiple = </a:t>
            </a:r>
            <a:r>
              <a:rPr lang="th-TH" dirty="0" smtClean="0"/>
              <a:t>ให้ผู้ใช้งานเลือกหลายตัวเลือกได้ โดยกดปุ่ม </a:t>
            </a:r>
            <a:r>
              <a:rPr lang="en-US" dirty="0" smtClean="0"/>
              <a:t>Ctrl</a:t>
            </a:r>
            <a:br>
              <a:rPr lang="en-US" dirty="0" smtClean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588645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</a:p>
          <a:p>
            <a:r>
              <a:rPr lang="en-US" dirty="0" smtClean="0"/>
              <a:t>&lt;select name="list"&gt;</a:t>
            </a:r>
            <a:br>
              <a:rPr lang="en-US" dirty="0" smtClean="0"/>
            </a:br>
            <a:r>
              <a:rPr lang="en-US" dirty="0" smtClean="0"/>
              <a:t>&lt;option value="1"&gt;option 1&lt;/option&gt;</a:t>
            </a:r>
            <a:br>
              <a:rPr lang="en-US" dirty="0" smtClean="0"/>
            </a:br>
            <a:r>
              <a:rPr lang="en-US" dirty="0" smtClean="0"/>
              <a:t>&lt;option value="2"&gt;option 2&lt;/option&gt;</a:t>
            </a:r>
            <a:br>
              <a:rPr lang="en-US" dirty="0" smtClean="0"/>
            </a:br>
            <a:r>
              <a:rPr lang="en-US" dirty="0" smtClean="0"/>
              <a:t>&lt;option value="3"selected="selected"&gt;option 3&lt;/option&gt;</a:t>
            </a:r>
            <a:br>
              <a:rPr lang="en-US" dirty="0" smtClean="0"/>
            </a:br>
            <a:r>
              <a:rPr lang="en-US" dirty="0" smtClean="0"/>
              <a:t>&lt;option value="4"&gt;option 4&lt;/option&gt;</a:t>
            </a:r>
            <a:br>
              <a:rPr lang="en-US" dirty="0" smtClean="0"/>
            </a:br>
            <a:r>
              <a:rPr lang="en-US" dirty="0" smtClean="0"/>
              <a:t>&lt;option value="5"&gt;option 5&lt;/option&gt;</a:t>
            </a:r>
            <a:br>
              <a:rPr lang="en-US" dirty="0" smtClean="0"/>
            </a:br>
            <a:r>
              <a:rPr lang="en-US" dirty="0" smtClean="0"/>
              <a:t>&lt;/select&gt;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186790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</a:p>
          <a:p>
            <a:r>
              <a:rPr lang="en-US" dirty="0" smtClean="0"/>
              <a:t>&lt;select name="list" size="3"&gt;</a:t>
            </a:r>
            <a:br>
              <a:rPr lang="en-US" dirty="0" smtClean="0"/>
            </a:br>
            <a:r>
              <a:rPr lang="en-US" dirty="0" smtClean="0"/>
              <a:t>&lt;option value="1"&gt;option 1&lt;/option&gt;</a:t>
            </a:r>
            <a:br>
              <a:rPr lang="en-US" dirty="0" smtClean="0"/>
            </a:br>
            <a:r>
              <a:rPr lang="en-US" dirty="0" smtClean="0"/>
              <a:t>&lt;option value="2"&gt;option 2&lt;/option&gt;</a:t>
            </a:r>
            <a:br>
              <a:rPr lang="en-US" dirty="0" smtClean="0"/>
            </a:br>
            <a:r>
              <a:rPr lang="en-US" dirty="0" smtClean="0"/>
              <a:t>&lt;option value="3" selected="selected"&gt;option 3&lt;/option&gt;</a:t>
            </a:r>
            <a:br>
              <a:rPr lang="en-US" dirty="0" smtClean="0"/>
            </a:br>
            <a:r>
              <a:rPr lang="en-US" dirty="0" smtClean="0"/>
              <a:t>&lt;option value="4"&gt;option 4&lt;/option&gt;</a:t>
            </a:r>
            <a:br>
              <a:rPr lang="en-US" dirty="0" smtClean="0"/>
            </a:br>
            <a:r>
              <a:rPr lang="en-US" dirty="0" smtClean="0"/>
              <a:t>&lt;option value="5"&gt;option 5&lt;/option&gt;</a:t>
            </a:r>
            <a:br>
              <a:rPr lang="en-US" dirty="0" smtClean="0"/>
            </a:br>
            <a:r>
              <a:rPr lang="en-US" dirty="0" smtClean="0"/>
              <a:t>&lt;/select&gt;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81056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</a:p>
          <a:p>
            <a:r>
              <a:rPr lang="en-US" dirty="0" smtClean="0"/>
              <a:t>&lt;select name="list" size="5" multiple&gt;</a:t>
            </a:r>
            <a:br>
              <a:rPr lang="en-US" dirty="0" smtClean="0"/>
            </a:br>
            <a:r>
              <a:rPr lang="en-US" dirty="0" smtClean="0"/>
              <a:t>&lt;option value="1"&gt;option 1&lt;/option&gt;</a:t>
            </a:r>
            <a:br>
              <a:rPr lang="en-US" dirty="0" smtClean="0"/>
            </a:br>
            <a:r>
              <a:rPr lang="en-US" dirty="0" smtClean="0"/>
              <a:t>&lt;option value="2"&gt;option 2&lt;/option&gt;</a:t>
            </a:r>
            <a:br>
              <a:rPr lang="en-US" dirty="0" smtClean="0"/>
            </a:br>
            <a:r>
              <a:rPr lang="en-US" dirty="0" smtClean="0"/>
              <a:t>&lt;option value="3" selected="selected"&gt;option 3&lt;/option&gt;</a:t>
            </a:r>
            <a:br>
              <a:rPr lang="en-US" dirty="0" smtClean="0"/>
            </a:br>
            <a:r>
              <a:rPr lang="en-US" dirty="0" smtClean="0"/>
              <a:t>&lt;option value="4"&gt;option 4&lt;/option&gt;</a:t>
            </a:r>
            <a:br>
              <a:rPr lang="en-US" dirty="0" smtClean="0"/>
            </a:br>
            <a:r>
              <a:rPr lang="en-US" dirty="0" smtClean="0"/>
              <a:t>&lt;option value="5"&gt;option 5&lt;/option&gt;</a:t>
            </a:r>
            <a:br>
              <a:rPr lang="en-US" dirty="0" smtClean="0"/>
            </a:br>
            <a:r>
              <a:rPr lang="en-US" dirty="0" smtClean="0"/>
              <a:t>&lt;/select&gt;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744182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&lt;form&gt;</a:t>
            </a:r>
            <a:br>
              <a:rPr lang="en-US" dirty="0" smtClean="0"/>
            </a:br>
            <a:r>
              <a:rPr lang="en-US" dirty="0" smtClean="0"/>
              <a:t>&lt; </a:t>
            </a:r>
            <a:r>
              <a:rPr lang="en-US" dirty="0" err="1" smtClean="0"/>
              <a:t>textarea</a:t>
            </a:r>
            <a:r>
              <a:rPr lang="en-US" dirty="0" smtClean="0"/>
              <a:t> name="</a:t>
            </a:r>
            <a:r>
              <a:rPr lang="th-TH" dirty="0" smtClean="0"/>
              <a:t>ชื่อ </a:t>
            </a:r>
            <a:r>
              <a:rPr lang="en-US" dirty="0" err="1" smtClean="0"/>
              <a:t>textarea</a:t>
            </a:r>
            <a:r>
              <a:rPr lang="en-US" dirty="0" smtClean="0"/>
              <a:t>" rows="number" cols="number" wrap="off"&gt;</a:t>
            </a:r>
            <a:br>
              <a:rPr lang="en-US" dirty="0" smtClean="0"/>
            </a:br>
            <a:r>
              <a:rPr lang="th-TH" dirty="0" smtClean="0"/>
              <a:t>ข้อความใน </a:t>
            </a:r>
            <a:r>
              <a:rPr lang="en-US" dirty="0" err="1" smtClean="0"/>
              <a:t>textareas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 /</a:t>
            </a:r>
            <a:r>
              <a:rPr lang="en-US" dirty="0" err="1" smtClean="0"/>
              <a:t>textarea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&lt; /form&gt;</a:t>
            </a:r>
          </a:p>
          <a:p>
            <a:r>
              <a:rPr lang="en-US" dirty="0" smtClean="0"/>
              <a:t>- wrap </a:t>
            </a:r>
            <a:r>
              <a:rPr lang="th-TH" dirty="0" smtClean="0"/>
              <a:t>การกำหนดการตัดคำหรือขึ้นบรรทัดใหม่ให้ข้อความที่ยาวต่อเนื่องกันมากๆ ใน </a:t>
            </a:r>
            <a:r>
              <a:rPr lang="en-US" dirty="0" err="1" smtClean="0"/>
              <a:t>textarea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th-TH" dirty="0" smtClean="0"/>
              <a:t>มีค่าได้ 3 แบบ คือ</a:t>
            </a:r>
            <a:br>
              <a:rPr lang="th-TH" dirty="0" smtClean="0"/>
            </a:br>
            <a:r>
              <a:rPr lang="th-TH" dirty="0" smtClean="0"/>
              <a:t>1. </a:t>
            </a:r>
            <a:r>
              <a:rPr lang="en-US" dirty="0" smtClean="0"/>
              <a:t>off (</a:t>
            </a:r>
            <a:r>
              <a:rPr lang="th-TH" dirty="0" smtClean="0"/>
              <a:t>เป็นค่า </a:t>
            </a:r>
            <a:r>
              <a:rPr lang="en-US" dirty="0" smtClean="0"/>
              <a:t>default) </a:t>
            </a:r>
            <a:r>
              <a:rPr lang="th-TH" dirty="0" smtClean="0"/>
              <a:t>ไม่มีการตัดคำหรือขึ้นบรรทัดใหม่ ข้อความจะถูกพิมพ์ไปเรื่อย ๆ และขึ้นบรรทัดใหม่เมื่อผู้กรอกเคาะ </a:t>
            </a:r>
            <a:r>
              <a:rPr lang="en-US" dirty="0" smtClean="0"/>
              <a:t>Enter </a:t>
            </a:r>
            <a:r>
              <a:rPr lang="th-TH" dirty="0" smtClean="0"/>
              <a:t>เท่านั้น</a:t>
            </a:r>
            <a:br>
              <a:rPr lang="th-TH" dirty="0" smtClean="0"/>
            </a:br>
            <a:r>
              <a:rPr lang="th-TH" dirty="0" smtClean="0"/>
              <a:t>2. </a:t>
            </a:r>
            <a:r>
              <a:rPr lang="en-US" dirty="0" smtClean="0"/>
              <a:t>physical </a:t>
            </a:r>
            <a:r>
              <a:rPr lang="th-TH" dirty="0" smtClean="0"/>
              <a:t>หรือ </a:t>
            </a:r>
            <a:r>
              <a:rPr lang="en-US" dirty="0" smtClean="0"/>
              <a:t>soft </a:t>
            </a:r>
            <a:r>
              <a:rPr lang="th-TH" dirty="0" smtClean="0"/>
              <a:t>ข้อความจะถูกพิมพ์ไปเรื่อย ๆ และ้ตัดคำหรือขึ้นบรรทัดใหม่ เมื่อข้อความยาวกว่าขนาดของ </a:t>
            </a:r>
            <a:r>
              <a:rPr lang="en-US" dirty="0" err="1" smtClean="0"/>
              <a:t>textarea</a:t>
            </a:r>
            <a:r>
              <a:rPr lang="en-US" dirty="0" smtClean="0"/>
              <a:t> </a:t>
            </a:r>
            <a:r>
              <a:rPr lang="th-TH" dirty="0" smtClean="0"/>
              <a:t>และจุดใดที่ผู้ใช้เคาะ </a:t>
            </a:r>
            <a:r>
              <a:rPr lang="en-US" dirty="0" smtClean="0"/>
              <a:t>Enter </a:t>
            </a:r>
            <a:r>
              <a:rPr lang="th-TH" dirty="0" smtClean="0"/>
              <a:t>ก็จะขึ้นบรรทัดใหม่ให้ตามที่พิมพ์</a:t>
            </a:r>
            <a:br>
              <a:rPr lang="th-TH" dirty="0" smtClean="0"/>
            </a:br>
            <a:r>
              <a:rPr lang="th-TH" dirty="0" smtClean="0"/>
              <a:t>3. </a:t>
            </a:r>
            <a:r>
              <a:rPr lang="en-US" dirty="0" smtClean="0"/>
              <a:t>virtual </a:t>
            </a:r>
            <a:r>
              <a:rPr lang="th-TH" dirty="0" smtClean="0"/>
              <a:t>หรือ </a:t>
            </a:r>
            <a:r>
              <a:rPr lang="en-US" dirty="0" smtClean="0"/>
              <a:t>hard </a:t>
            </a:r>
            <a:r>
              <a:rPr lang="th-TH" dirty="0" smtClean="0"/>
              <a:t>ข้อความจะถูกพิมพ์ไปเรื่อย ๆ และ้ตัดคำหรือขึ้นบรรทัดใหม่ เมื่อข้อความยาวกว่าขนาดของ </a:t>
            </a:r>
            <a:r>
              <a:rPr lang="en-US" dirty="0" err="1" smtClean="0"/>
              <a:t>textarea</a:t>
            </a:r>
            <a:r>
              <a:rPr lang="en-US" dirty="0" smtClean="0"/>
              <a:t> </a:t>
            </a:r>
            <a:r>
              <a:rPr lang="th-TH" dirty="0" smtClean="0"/>
              <a:t>แต่เป็นการปัดหลอกๆ ในหน้ากรอกข้อความ เวลารับค่าจะเป็นบรรทัดเดียว</a:t>
            </a:r>
            <a:br>
              <a:rPr lang="th-TH" dirty="0" smtClean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93942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059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2065</Words>
  <Application>Microsoft Office PowerPoint</Application>
  <PresentationFormat>Widescreen</PresentationFormat>
  <Paragraphs>461</Paragraphs>
  <Slides>63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7" baseType="lpstr">
      <vt:lpstr>Angsana New</vt:lpstr>
      <vt:lpstr>Arial</vt:lpstr>
      <vt:lpstr>Calibri</vt:lpstr>
      <vt:lpstr>Calibri Light</vt:lpstr>
      <vt:lpstr>Cordia New</vt:lpstr>
      <vt:lpstr>Courier New</vt:lpstr>
      <vt:lpstr>StarSymbol</vt:lpstr>
      <vt:lpstr>Times</vt:lpstr>
      <vt:lpstr>Times New Roman</vt:lpstr>
      <vt:lpstr>Trebuchet MS</vt:lpstr>
      <vt:lpstr>Verdana</vt:lpstr>
      <vt:lpstr>Wingdings</vt:lpstr>
      <vt:lpstr>Wingdings 2</vt:lpstr>
      <vt:lpstr>Office Theme</vt:lpstr>
      <vt:lpstr>HTML Form</vt:lpstr>
      <vt:lpstr>PowerPoint Presentation</vt:lpstr>
      <vt:lpstr>Overview of Forms</vt:lpstr>
      <vt:lpstr>Two Components of Using Forms</vt:lpstr>
      <vt:lpstr>HTML Using Forms</vt:lpstr>
      <vt:lpstr>Sample Form HTML</vt:lpstr>
      <vt:lpstr>The Form Element &lt;form&gt;</vt:lpstr>
      <vt:lpstr>The Input Element Text Box &lt;input&gt;  </vt:lpstr>
      <vt:lpstr>The Input Element Password Box &lt;input&gt; </vt:lpstr>
      <vt:lpstr>The Input Element Check box &lt;input&gt;</vt:lpstr>
      <vt:lpstr>The Input Element Radio Button &lt;input&gt;</vt:lpstr>
      <vt:lpstr>The Textarea Element &lt;textarea&gt;</vt:lpstr>
      <vt:lpstr>The Select Element &lt;select&gt;</vt:lpstr>
      <vt:lpstr>The Option Element &lt;option&gt;</vt:lpstr>
      <vt:lpstr>The Input Element Submit Button &lt;input&gt;</vt:lpstr>
      <vt:lpstr>The Input Element Reset Button &lt;input&gt;</vt:lpstr>
      <vt:lpstr>The Input Element Hidden Field &lt;input&gt;</vt:lpstr>
      <vt:lpstr>The Label Element &lt;label&gt;</vt:lpstr>
      <vt:lpstr>The Fieldset &amp; Legend Elements</vt:lpstr>
      <vt:lpstr>Using CSS to Style a Form</vt:lpstr>
      <vt:lpstr>Form - &lt;form&gt;</vt:lpstr>
      <vt:lpstr>Text field - &lt;input&gt;</vt:lpstr>
      <vt:lpstr>Password - &lt;input&gt;</vt:lpstr>
      <vt:lpstr>Radio button - &lt;input&gt;</vt:lpstr>
      <vt:lpstr>Checkbox - &lt;input&gt;</vt:lpstr>
      <vt:lpstr>Labelling</vt:lpstr>
      <vt:lpstr>Drop-down list &lt;select&gt;&lt;option&gt;</vt:lpstr>
      <vt:lpstr>(multiple) selection list &lt;select&gt;&lt;option&gt;</vt:lpstr>
      <vt:lpstr>Text area - &lt;textarea&gt;</vt:lpstr>
      <vt:lpstr>Hidden fields - &lt;input&gt;</vt:lpstr>
      <vt:lpstr>Button - &lt;input&gt; or &lt;button&gt;</vt:lpstr>
      <vt:lpstr>What are forms?</vt:lpstr>
      <vt:lpstr>Forms and JavaScript</vt:lpstr>
      <vt:lpstr>The &lt;form&gt; tag</vt:lpstr>
      <vt:lpstr>The &lt;input&gt; tag</vt:lpstr>
      <vt:lpstr>Text input</vt:lpstr>
      <vt:lpstr>Buttons</vt:lpstr>
      <vt:lpstr>Radio buttons</vt:lpstr>
      <vt:lpstr>Labels</vt:lpstr>
      <vt:lpstr>Checkboxes</vt:lpstr>
      <vt:lpstr>Drop-down menu or list</vt:lpstr>
      <vt:lpstr>Hidden fields</vt:lpstr>
      <vt:lpstr>A complete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Form</dc:title>
  <dc:creator>PC</dc:creator>
  <cp:lastModifiedBy>PC</cp:lastModifiedBy>
  <cp:revision>11</cp:revision>
  <dcterms:created xsi:type="dcterms:W3CDTF">2016-08-08T07:17:51Z</dcterms:created>
  <dcterms:modified xsi:type="dcterms:W3CDTF">2016-08-08T14:23:12Z</dcterms:modified>
</cp:coreProperties>
</file>