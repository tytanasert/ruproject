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1"/>
  </p:sldMasterIdLst>
  <p:notesMasterIdLst>
    <p:notesMasterId r:id="rId103"/>
  </p:notesMasterIdLst>
  <p:sldIdLst>
    <p:sldId id="256" r:id="rId2"/>
    <p:sldId id="268" r:id="rId3"/>
    <p:sldId id="269" r:id="rId4"/>
    <p:sldId id="281" r:id="rId5"/>
    <p:sldId id="282" r:id="rId6"/>
    <p:sldId id="283" r:id="rId7"/>
    <p:sldId id="270" r:id="rId8"/>
    <p:sldId id="271" r:id="rId9"/>
    <p:sldId id="272" r:id="rId10"/>
    <p:sldId id="273" r:id="rId11"/>
    <p:sldId id="284" r:id="rId12"/>
    <p:sldId id="274" r:id="rId13"/>
    <p:sldId id="275" r:id="rId14"/>
    <p:sldId id="276" r:id="rId15"/>
    <p:sldId id="277" r:id="rId16"/>
    <p:sldId id="258" r:id="rId17"/>
    <p:sldId id="259" r:id="rId18"/>
    <p:sldId id="260" r:id="rId19"/>
    <p:sldId id="261" r:id="rId20"/>
    <p:sldId id="262" r:id="rId21"/>
    <p:sldId id="263" r:id="rId22"/>
    <p:sldId id="278" r:id="rId23"/>
    <p:sldId id="279" r:id="rId24"/>
    <p:sldId id="280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  <p:sldId id="336" r:id="rId77"/>
    <p:sldId id="337" r:id="rId78"/>
    <p:sldId id="338" r:id="rId79"/>
    <p:sldId id="339" r:id="rId80"/>
    <p:sldId id="340" r:id="rId81"/>
    <p:sldId id="341" r:id="rId82"/>
    <p:sldId id="342" r:id="rId83"/>
    <p:sldId id="343" r:id="rId84"/>
    <p:sldId id="344" r:id="rId85"/>
    <p:sldId id="345" r:id="rId86"/>
    <p:sldId id="346" r:id="rId87"/>
    <p:sldId id="347" r:id="rId88"/>
    <p:sldId id="348" r:id="rId89"/>
    <p:sldId id="349" r:id="rId90"/>
    <p:sldId id="350" r:id="rId91"/>
    <p:sldId id="351" r:id="rId92"/>
    <p:sldId id="352" r:id="rId93"/>
    <p:sldId id="353" r:id="rId94"/>
    <p:sldId id="354" r:id="rId95"/>
    <p:sldId id="355" r:id="rId96"/>
    <p:sldId id="356" r:id="rId97"/>
    <p:sldId id="357" r:id="rId98"/>
    <p:sldId id="358" r:id="rId99"/>
    <p:sldId id="359" r:id="rId100"/>
    <p:sldId id="360" r:id="rId101"/>
    <p:sldId id="361" r:id="rId102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B34B55-5C50-4580-A84B-601FC7E86501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860984-87EC-4F1C-A4BB-886EE45578CE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3082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defTabSz="990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fld id="{04ECF98C-27C1-483B-B882-408C4A239CBA}" type="slidenum">
              <a:rPr lang="en-US" sz="1300">
                <a:solidFill>
                  <a:schemeClr val="tx1"/>
                </a:solidFill>
              </a:rPr>
              <a:pPr eaLnBrk="1" hangingPunct="1"/>
              <a:t>8</a:t>
            </a:fld>
            <a:endParaRPr lang="th-TH" sz="1300">
              <a:solidFill>
                <a:schemeClr val="tx1"/>
              </a:solidFill>
            </a:endParaRPr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65104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685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432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94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402570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44196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1276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58737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3526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0879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58368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9554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ชื่อเรื่อง ข้อความ 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181600" cy="4419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87C820-6012-43F4-9AAF-D70CF235C30C}" type="datetime1">
              <a:rPr lang="th-TH"/>
              <a:pPr>
                <a:defRPr/>
              </a:pPr>
              <a:t>10/08/63</a:t>
            </a:fld>
            <a:endParaRPr lang="th-TH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ED6C15-4748-4583-8FAC-9E747DCB984B}" type="slidenum">
              <a:rPr lang="en-US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46696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ชื่อเรื่อง ข้อความ และ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ข้อความ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181600" cy="4419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4" name="ตัวแทนเนื้อหา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181600" cy="2133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5" name="ตัวแทนเนื้อหา 4"/>
          <p:cNvSpPr>
            <a:spLocks noGrp="1"/>
          </p:cNvSpPr>
          <p:nvPr>
            <p:ph sz="quarter" idx="3"/>
          </p:nvPr>
        </p:nvSpPr>
        <p:spPr>
          <a:xfrm>
            <a:off x="6197600" y="3886200"/>
            <a:ext cx="5181600" cy="2133600"/>
          </a:xfrm>
        </p:spPr>
        <p:txBody>
          <a:bodyPr/>
          <a:lstStyle/>
          <a:p>
            <a:pPr lvl="0"/>
            <a:r>
              <a:rPr lang="th-TH" smtClean="0"/>
              <a:t>คลิกเพื่อแก้ไขลักษณะของข้อความต้นแบบ</a:t>
            </a:r>
          </a:p>
          <a:p>
            <a:pPr lvl="1"/>
            <a:r>
              <a:rPr lang="th-TH" smtClean="0"/>
              <a:t>ระดับที่สอง</a:t>
            </a:r>
          </a:p>
          <a:p>
            <a:pPr lvl="2"/>
            <a:r>
              <a:rPr lang="th-TH" smtClean="0"/>
              <a:t>ระดับที่สาม</a:t>
            </a:r>
          </a:p>
          <a:p>
            <a:pPr lvl="3"/>
            <a:r>
              <a:rPr lang="th-TH" smtClean="0"/>
              <a:t>ระดับที่สี่</a:t>
            </a:r>
          </a:p>
          <a:p>
            <a:pPr lvl="4"/>
            <a:r>
              <a:rPr lang="th-TH" smtClean="0"/>
              <a:t>ระดับที่ห้า</a:t>
            </a:r>
            <a:endParaRPr lang="th-TH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2C144B-61B0-48BF-B854-B954C6096AFC}" type="datetime1">
              <a:rPr lang="th-TH"/>
              <a:pPr>
                <a:defRPr/>
              </a:pPr>
              <a:t>10/08/63</a:t>
            </a:fld>
            <a:endParaRPr lang="th-TH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3CAFDC-12D6-4AA4-B8B6-34D2A8737300}" type="slidenum">
              <a:rPr lang="en-US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7613190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ชื่อเรื่องและตารา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60352" y="228600"/>
            <a:ext cx="10687049" cy="914400"/>
          </a:xfrm>
        </p:spPr>
        <p:txBody>
          <a:bodyPr/>
          <a:lstStyle/>
          <a:p>
            <a:r>
              <a:rPr lang="th-TH" smtClean="0"/>
              <a:t>คลิกเพื่อแก้ไขลักษณะชื่อเรื่องต้นแบบ</a:t>
            </a:r>
            <a:endParaRPr lang="th-TH"/>
          </a:p>
        </p:txBody>
      </p:sp>
      <p:sp>
        <p:nvSpPr>
          <p:cNvPr id="3" name="ตัวแทนตาราง 2"/>
          <p:cNvSpPr>
            <a:spLocks noGrp="1"/>
          </p:cNvSpPr>
          <p:nvPr>
            <p:ph type="tbl" idx="1"/>
          </p:nvPr>
        </p:nvSpPr>
        <p:spPr>
          <a:xfrm>
            <a:off x="812800" y="1600200"/>
            <a:ext cx="10566400" cy="4419600"/>
          </a:xfrm>
        </p:spPr>
        <p:txBody>
          <a:bodyPr/>
          <a:lstStyle/>
          <a:p>
            <a:pPr lvl="0"/>
            <a:endParaRPr lang="th-TH" noProof="0" smtClean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5AE96-5A7B-47D5-941B-62D013057403}" type="datetime1">
              <a:rPr lang="th-TH"/>
              <a:pPr>
                <a:defRPr/>
              </a:pPr>
              <a:t>10/08/63</a:t>
            </a:fld>
            <a:endParaRPr lang="th-TH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AF93F0-A49B-4D50-AF3C-3C1C90B5E58D}" type="slidenum">
              <a:rPr lang="en-US"/>
              <a:pPr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5213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D1F60963-5B49-4BF0-B396-6D553005DEAB}" type="datetimeFigureOut">
              <a:rPr lang="th-TH" smtClean="0"/>
              <a:t>10/08/63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88A28F9-9B35-4D92-AB0E-A69476CE9A1C}" type="slidenum">
              <a:rPr lang="th-TH" smtClean="0"/>
              <a:t>‹#›</a:t>
            </a:fld>
            <a:endParaRPr lang="th-TH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676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  <p:sldLayoutId id="2147483787" r:id="rId12"/>
    <p:sldLayoutId id="2147483788" r:id="rId13"/>
    <p:sldLayoutId id="2147483789" r:id="rId14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h-TH" dirty="0" smtClean="0"/>
              <a:t>พื้นฐาน </a:t>
            </a:r>
            <a:r>
              <a:rPr lang="en-US" dirty="0" smtClean="0"/>
              <a:t>HTML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5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1828800" y="1736726"/>
            <a:ext cx="8534400" cy="214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</a:t>
            </a:r>
            <a:r>
              <a:rPr lang="en-US" b="1">
                <a:solidFill>
                  <a:srgbClr val="0000FF"/>
                </a:solidFill>
              </a:rPr>
              <a:t>HTML  </a:t>
            </a:r>
            <a:r>
              <a:rPr lang="th-TH" b="1">
                <a:solidFill>
                  <a:srgbClr val="0000FF"/>
                </a:solidFill>
              </a:rPr>
              <a:t>ย่อมาจาก  </a:t>
            </a:r>
            <a:r>
              <a:rPr lang="en-US" b="1">
                <a:solidFill>
                  <a:srgbClr val="0000FF"/>
                </a:solidFill>
              </a:rPr>
              <a:t>Hyper  Text  Markup  Language</a:t>
            </a:r>
            <a:r>
              <a:rPr lang="th-TH" b="1">
                <a:solidFill>
                  <a:srgbClr val="0000FF"/>
                </a:solidFill>
                <a:latin typeface="Times New Roman" panose="02020603050405020304" pitchFamily="18" charset="0"/>
              </a:rPr>
              <a:t>  เป็นภาษาหลักสำหรับการสร้างเว็บเพจ</a:t>
            </a:r>
          </a:p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  <a:latin typeface="Times New Roman" panose="02020603050405020304" pitchFamily="18" charset="0"/>
              </a:rPr>
              <a:t>	</a:t>
            </a:r>
            <a:r>
              <a:rPr lang="th-TH" b="1">
                <a:solidFill>
                  <a:srgbClr val="0000FF"/>
                </a:solidFill>
              </a:rPr>
              <a:t>เอกสาร  </a:t>
            </a:r>
            <a:r>
              <a:rPr lang="en-US" b="1">
                <a:solidFill>
                  <a:srgbClr val="0000FF"/>
                </a:solidFill>
              </a:rPr>
              <a:t>HTML</a:t>
            </a:r>
            <a:r>
              <a:rPr lang="th-TH" b="1">
                <a:solidFill>
                  <a:srgbClr val="0000FF"/>
                </a:solidFill>
              </a:rPr>
              <a:t>  สามารถสร้างจากโปรแกรม  </a:t>
            </a:r>
            <a:r>
              <a:rPr lang="en-US" b="1">
                <a:solidFill>
                  <a:srgbClr val="0000FF"/>
                </a:solidFill>
              </a:rPr>
              <a:t>Text Editor  </a:t>
            </a:r>
            <a:r>
              <a:rPr lang="th-TH" b="1">
                <a:solidFill>
                  <a:srgbClr val="0000FF"/>
                </a:solidFill>
              </a:rPr>
              <a:t>ทั่วไป เช่น  </a:t>
            </a:r>
            <a:r>
              <a:rPr lang="en-US" b="1">
                <a:solidFill>
                  <a:srgbClr val="0000FF"/>
                </a:solidFill>
              </a:rPr>
              <a:t>Notepad,  Wordpad,  Editor  </a:t>
            </a:r>
            <a:r>
              <a:rPr lang="th-TH" b="1">
                <a:solidFill>
                  <a:srgbClr val="0000FF"/>
                </a:solidFill>
              </a:rPr>
              <a:t>ของ  </a:t>
            </a:r>
            <a:r>
              <a:rPr lang="en-US" b="1">
                <a:solidFill>
                  <a:srgbClr val="0000FF"/>
                </a:solidFill>
              </a:rPr>
              <a:t>DOS  </a:t>
            </a:r>
            <a:r>
              <a:rPr lang="th-TH" b="1">
                <a:solidFill>
                  <a:srgbClr val="0000FF"/>
                </a:solidFill>
              </a:rPr>
              <a:t>หรือ  </a:t>
            </a:r>
            <a:r>
              <a:rPr lang="en-US" b="1">
                <a:solidFill>
                  <a:srgbClr val="0000FF"/>
                </a:solidFill>
              </a:rPr>
              <a:t>Editor  vi  </a:t>
            </a:r>
            <a:r>
              <a:rPr lang="th-TH" b="1">
                <a:solidFill>
                  <a:srgbClr val="0000FF"/>
                </a:solidFill>
              </a:rPr>
              <a:t>ของ  </a:t>
            </a:r>
            <a:r>
              <a:rPr lang="en-US" b="1">
                <a:solidFill>
                  <a:srgbClr val="0000FF"/>
                </a:solidFill>
              </a:rPr>
              <a:t>UNIX  </a:t>
            </a:r>
            <a:r>
              <a:rPr lang="th-TH" b="1">
                <a:solidFill>
                  <a:srgbClr val="0000FF"/>
                </a:solidFill>
              </a:rPr>
              <a:t>เป็นต้น</a:t>
            </a:r>
            <a:r>
              <a:rPr lang="en-US">
                <a:solidFill>
                  <a:schemeClr val="tx1"/>
                </a:solidFill>
              </a:rPr>
              <a:t> 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1828800" y="304801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5000" b="1">
                <a:solidFill>
                  <a:srgbClr val="FF0000"/>
                </a:solidFill>
              </a:rPr>
              <a:t>HTML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1905000" y="1219200"/>
            <a:ext cx="82296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22049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1828800" y="419101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CC00CC"/>
                </a:solidFill>
              </a:rPr>
              <a:t>โครงสร้างของเอกสาร  </a:t>
            </a:r>
            <a:r>
              <a:rPr lang="en-US" sz="5000" b="1">
                <a:solidFill>
                  <a:srgbClr val="CC00CC"/>
                </a:solidFill>
              </a:rPr>
              <a:t>HTML</a:t>
            </a:r>
            <a:endParaRPr lang="th-TH" sz="5000" b="1">
              <a:solidFill>
                <a:srgbClr val="CC00CC"/>
              </a:solidFill>
            </a:endParaRPr>
          </a:p>
        </p:txBody>
      </p:sp>
      <p:sp>
        <p:nvSpPr>
          <p:cNvPr id="5123" name="Line 3"/>
          <p:cNvSpPr>
            <a:spLocks noChangeShapeType="1"/>
          </p:cNvSpPr>
          <p:nvPr/>
        </p:nvSpPr>
        <p:spPr bwMode="auto">
          <a:xfrm>
            <a:off x="1905000" y="1333500"/>
            <a:ext cx="8229600" cy="0"/>
          </a:xfrm>
          <a:prstGeom prst="line">
            <a:avLst/>
          </a:prstGeom>
          <a:noFill/>
          <a:ln w="38100">
            <a:solidFill>
              <a:srgbClr val="CC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905000" y="1790701"/>
            <a:ext cx="84582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1828800" y="1603376"/>
            <a:ext cx="8534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เอกสาร  </a:t>
            </a:r>
            <a:r>
              <a:rPr lang="en-US" b="1">
                <a:solidFill>
                  <a:srgbClr val="0000FF"/>
                </a:solidFill>
              </a:rPr>
              <a:t>HTML  </a:t>
            </a:r>
            <a:r>
              <a:rPr lang="th-TH" b="1">
                <a:solidFill>
                  <a:srgbClr val="0000FF"/>
                </a:solidFill>
              </a:rPr>
              <a:t>จะประกอบไปด้วยคำสั่งหรือรหัสที่เรียกว่า  </a:t>
            </a:r>
            <a:r>
              <a:rPr lang="en-US" b="1">
                <a:solidFill>
                  <a:srgbClr val="0000FF"/>
                </a:solidFill>
              </a:rPr>
              <a:t>“Tags”</a:t>
            </a:r>
            <a:r>
              <a:rPr lang="th-TH">
                <a:solidFill>
                  <a:schemeClr val="tx1"/>
                </a:solidFill>
              </a:rPr>
              <a:t>  </a:t>
            </a:r>
            <a:r>
              <a:rPr lang="th-TH" b="1">
                <a:solidFill>
                  <a:srgbClr val="0000FF"/>
                </a:solidFill>
              </a:rPr>
              <a:t>ที่อยู่ภายในเครื่องหมาย </a:t>
            </a:r>
            <a:r>
              <a:rPr lang="en-US" b="1">
                <a:solidFill>
                  <a:srgbClr val="0000FF"/>
                </a:solidFill>
              </a:rPr>
              <a:t>&lt;</a:t>
            </a:r>
            <a:r>
              <a:rPr lang="th-TH" b="1">
                <a:solidFill>
                  <a:srgbClr val="0000FF"/>
                </a:solidFill>
              </a:rPr>
              <a:t>  และ  </a:t>
            </a:r>
            <a:r>
              <a:rPr lang="en-US" b="1">
                <a:solidFill>
                  <a:srgbClr val="0000FF"/>
                </a:solidFill>
              </a:rPr>
              <a:t>&gt;</a:t>
            </a:r>
            <a:r>
              <a:rPr lang="th-TH" b="1">
                <a:solidFill>
                  <a:srgbClr val="0000FF"/>
                </a:solidFill>
              </a:rPr>
              <a:t>  และมีข้อความที่เป็น  </a:t>
            </a:r>
            <a:r>
              <a:rPr lang="en-US" b="1">
                <a:solidFill>
                  <a:srgbClr val="0000FF"/>
                </a:solidFill>
              </a:rPr>
              <a:t>Text</a:t>
            </a:r>
            <a:r>
              <a:rPr lang="th-TH" b="1">
                <a:solidFill>
                  <a:srgbClr val="0000FF"/>
                </a:solidFill>
              </a:rPr>
              <a:t> ทั่วไป  เพื่อบอกให้บราวเซอร์ทราบว่าจะต้องแสดงผลออกมาเป็นอย่างไร</a:t>
            </a:r>
            <a:r>
              <a:rPr lang="en-US">
                <a:solidFill>
                  <a:schemeClr val="tx1"/>
                </a:solidFill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2532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ส่วนประกอบของ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Webpage</a:t>
            </a:r>
            <a:endParaRPr lang="th-TH" b="1" smtClean="0"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484313"/>
            <a:ext cx="8229600" cy="4997450"/>
          </a:xfrm>
        </p:spPr>
        <p:txBody>
          <a:bodyPr>
            <a:normAutofit lnSpcReduction="10000"/>
          </a:bodyPr>
          <a:lstStyle/>
          <a:p>
            <a:pPr marL="609600" indent="-609600"/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Header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ชื่อหน่วยงาน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ตราหรือสัญลักษณ์ของหน่วยงาน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หน้าที่หรือวัตถุประสงค์ของหน่วยงาน</a:t>
            </a:r>
          </a:p>
          <a:p>
            <a:pPr marL="609600" indent="-609600"/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Body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เส้นแบ่งข้อความ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 รายการของหัวข้อหรือเนื้อหา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 ภาพประกอบ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 ปุ่มหรือ icon</a:t>
            </a:r>
          </a:p>
          <a:p>
            <a:pPr marL="609600" indent="-609600">
              <a:buSzPct val="130000"/>
              <a:buFontTx/>
              <a:buChar char="•"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Footer</a:t>
            </a: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email address ของผู้สร้าง(webmaster) และหน่วยงาน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วันเวลาที่สร้างและปรับปรุงข้อมูล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คำประกาศลิขสิทธิ์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ตราหรือสัญลักษณ์ของหน่วยงาน</a:t>
            </a:r>
          </a:p>
          <a:p>
            <a:pPr marL="990600" lvl="1" indent="-53340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>
                <a:latin typeface="Tahoma" panose="020B0604030504040204" pitchFamily="34" charset="0"/>
                <a:cs typeface="Tahoma" panose="020B0604030504040204" pitchFamily="34" charset="0"/>
              </a:rPr>
              <a:t>คำประกาศหรือเจตนารมย์ของหน่วยงาน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B757C173-0A62-47E9-B030-254F7BE2AF3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72906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 Tag</a:t>
            </a:r>
            <a:endParaRPr lang="th-TH" b="1" smtClean="0"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HTML Tag 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ประกอบด้วยเครื่องหมาย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&lt;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Left angle bracket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) ตามด้วยชื่อ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และ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&gt;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Right angle bracket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) เช่น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head tag 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:  </a:t>
            </a: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&lt;HEAD&gt;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title tag  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:  </a:t>
            </a: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&lt;TITLE&gt;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body tag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2000">
                <a:latin typeface="Tahoma" panose="020B0604030504040204" pitchFamily="34" charset="0"/>
                <a:cs typeface="Tahoma" panose="020B0604030504040204" pitchFamily="34" charset="0"/>
              </a:rPr>
              <a:t>&lt;BODY&gt;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ชื่อ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ที่เขียนอยู่ในเครื่องหมาย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&lt;&gt;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นี้จะเขียนเป็นตัวใหญ่หรือตัวเล็กก็ได้แต่นิยมเขียนตัวใหญ่เพื่อให้เห็นความแตกต่าง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ACE9AA6-95B3-4767-B136-284A6E6D92A3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09957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ชนิดของ </a:t>
            </a:r>
            <a:r>
              <a:rPr lang="en-US" b="1" smtClean="0"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 Tag</a:t>
            </a:r>
            <a:endParaRPr lang="th-TH" b="1" smtClean="0"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tag คู่(Paired tag)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1800" dirty="0">
                <a:latin typeface="Tahoma" panose="020B0604030504040204" pitchFamily="34" charset="0"/>
                <a:cs typeface="Tahoma" panose="020B0604030504040204" pitchFamily="34" charset="0"/>
              </a:rPr>
              <a:t>	ใส่ tag เปิดไว้หน้าข้อความ และใส่ tag ปิด(ลักษณะเหมือน tag เปิดแต่มีเครื่องหมาย / นำหน้า) ไว้หลังข้อความ</a:t>
            </a:r>
          </a:p>
          <a:p>
            <a:pPr eaLnBrk="1" hangingPunct="1"/>
            <a:endParaRPr lang="th-TH" sz="18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tag เดี่ยว (Single tag)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1800" dirty="0">
                <a:latin typeface="Tahoma" panose="020B0604030504040204" pitchFamily="34" charset="0"/>
                <a:cs typeface="Tahoma" panose="020B0604030504040204" pitchFamily="34" charset="0"/>
              </a:rPr>
              <a:t>	เป็น tag ที่มีเฉพาะ Tag เปิดเท่านั้น ไม่มี tag ปิด</a:t>
            </a:r>
          </a:p>
        </p:txBody>
      </p:sp>
      <p:sp>
        <p:nvSpPr>
          <p:cNvPr id="9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C641BA8-728D-4DBC-9BB4-C5D71EFB6A73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8197" name="Rectangle 4"/>
          <p:cNvSpPr>
            <a:spLocks noChangeArrowheads="1"/>
          </p:cNvSpPr>
          <p:nvPr/>
        </p:nvSpPr>
        <p:spPr bwMode="auto">
          <a:xfrm>
            <a:off x="3550351" y="3145760"/>
            <a:ext cx="504031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&lt;Tag  name&gt; ข้อความ&lt;/Tag  name&gt;</a:t>
            </a:r>
          </a:p>
        </p:txBody>
      </p:sp>
      <p:sp>
        <p:nvSpPr>
          <p:cNvPr id="8198" name="Rectangle 7"/>
          <p:cNvSpPr>
            <a:spLocks noChangeArrowheads="1"/>
          </p:cNvSpPr>
          <p:nvPr/>
        </p:nvSpPr>
        <p:spPr bwMode="auto">
          <a:xfrm>
            <a:off x="4440238" y="3607595"/>
            <a:ext cx="2951162" cy="5762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&lt;HTML&gt; ………&lt;/HTML&gt;</a:t>
            </a:r>
          </a:p>
          <a:p>
            <a:pPr algn="ctr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&lt;HEAD&gt; ………&lt;/HEAD&gt;</a:t>
            </a:r>
          </a:p>
        </p:txBody>
      </p:sp>
      <p:sp>
        <p:nvSpPr>
          <p:cNvPr id="8199" name="Rectangle 9"/>
          <p:cNvSpPr>
            <a:spLocks noChangeArrowheads="1"/>
          </p:cNvSpPr>
          <p:nvPr/>
        </p:nvSpPr>
        <p:spPr bwMode="auto">
          <a:xfrm>
            <a:off x="3325483" y="5759581"/>
            <a:ext cx="5040312" cy="3603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&lt;Tag  name&gt;</a:t>
            </a:r>
          </a:p>
        </p:txBody>
      </p:sp>
      <p:sp>
        <p:nvSpPr>
          <p:cNvPr id="8200" name="Rectangle 10"/>
          <p:cNvSpPr>
            <a:spLocks noChangeArrowheads="1"/>
          </p:cNvSpPr>
          <p:nvPr/>
        </p:nvSpPr>
        <p:spPr bwMode="auto">
          <a:xfrm>
            <a:off x="4117645" y="6192968"/>
            <a:ext cx="3384550" cy="863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&lt;BR&gt;     ใช้สำหรับขึ้นบรรทัดใหม่</a:t>
            </a:r>
          </a:p>
          <a:p>
            <a:pPr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&lt;HR&gt;     ใช้ตีเส้นตามแนวนอน</a:t>
            </a:r>
          </a:p>
        </p:txBody>
      </p:sp>
    </p:spTree>
    <p:extLst>
      <p:ext uri="{BB962C8B-B14F-4D97-AF65-F5344CB8AC3E}">
        <p14:creationId xmlns:p14="http://schemas.microsoft.com/office/powerpoint/2010/main" val="3325555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2362200" y="547689"/>
            <a:ext cx="7962900" cy="447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500">
                <a:solidFill>
                  <a:schemeClr val="tx1"/>
                </a:solidFill>
              </a:rPr>
              <a:t>จุดเริ่มต้นของเอกสาร		</a:t>
            </a:r>
            <a:r>
              <a:rPr lang="en-US" sz="2500">
                <a:solidFill>
                  <a:schemeClr val="tx1"/>
                </a:solidFill>
              </a:rPr>
              <a:t>&lt;HTML&gt;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>			&lt;HEAD&gt;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ส่วนหัวของเอกสาร		</a:t>
            </a:r>
            <a:r>
              <a:rPr lang="en-US" sz="2500">
                <a:solidFill>
                  <a:schemeClr val="tx1"/>
                </a:solidFill>
              </a:rPr>
              <a:t>&lt;TITLE&gt;  </a:t>
            </a:r>
            <a:r>
              <a:rPr lang="th-TH" sz="2500">
                <a:solidFill>
                  <a:schemeClr val="tx1"/>
                </a:solidFill>
              </a:rPr>
              <a:t>ชื่อโปรแกรมหรือหัวเรื่องที่จะแสดง </a:t>
            </a:r>
            <a:r>
              <a:rPr lang="en-US" sz="2500">
                <a:solidFill>
                  <a:schemeClr val="tx1"/>
                </a:solidFill>
              </a:rPr>
              <a:t>&lt;/TITLE&gt;</a:t>
            </a:r>
          </a:p>
          <a:p>
            <a:pPr eaLnBrk="1" hangingPunct="1">
              <a:spcBef>
                <a:spcPct val="50000"/>
              </a:spcBef>
            </a:pPr>
            <a:r>
              <a:rPr lang="en-US" sz="2500">
                <a:solidFill>
                  <a:schemeClr val="tx1"/>
                </a:solidFill>
              </a:rPr>
              <a:t>			&lt;/HEAD&gt;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>			</a:t>
            </a:r>
            <a:r>
              <a:rPr lang="en-US" sz="2500">
                <a:solidFill>
                  <a:srgbClr val="FF6600"/>
                </a:solidFill>
              </a:rPr>
              <a:t>&lt;BODY&gt;</a:t>
            </a:r>
            <a:br>
              <a:rPr lang="en-US" sz="2500">
                <a:solidFill>
                  <a:srgbClr val="FF6600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				.........</a:t>
            </a:r>
            <a:br>
              <a:rPr lang="th-TH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ส่วนเนื้อหาของ	</a:t>
            </a:r>
            <a:r>
              <a:rPr lang="en-US" sz="2500">
                <a:solidFill>
                  <a:schemeClr val="tx1"/>
                </a:solidFill>
              </a:rPr>
              <a:t>		</a:t>
            </a:r>
            <a:r>
              <a:rPr lang="th-TH" sz="2500">
                <a:solidFill>
                  <a:schemeClr val="tx1"/>
                </a:solidFill>
              </a:rPr>
              <a:t>คำสั่งหรือข้อความที่ต้องการให้แสดง</a:t>
            </a:r>
            <a:br>
              <a:rPr lang="th-TH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เอกสาร</a:t>
            </a:r>
            <a:r>
              <a:rPr lang="en-US" sz="2500">
                <a:solidFill>
                  <a:schemeClr val="tx1"/>
                </a:solidFill>
              </a:rPr>
              <a:t>	</a:t>
            </a:r>
            <a:r>
              <a:rPr lang="th-TH" sz="2500">
                <a:solidFill>
                  <a:schemeClr val="tx1"/>
                </a:solidFill>
              </a:rPr>
              <a:t>			.........</a:t>
            </a:r>
            <a:r>
              <a:rPr lang="en-US" sz="2500">
                <a:solidFill>
                  <a:schemeClr val="tx1"/>
                </a:solidFill>
              </a:rPr>
              <a:t>				</a:t>
            </a:r>
            <a:br>
              <a:rPr lang="en-US" sz="2500">
                <a:solidFill>
                  <a:schemeClr val="tx1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>			</a:t>
            </a:r>
            <a:r>
              <a:rPr lang="en-US" sz="2500">
                <a:solidFill>
                  <a:srgbClr val="FF6600"/>
                </a:solidFill>
              </a:rPr>
              <a:t>&lt;/BODY&gt;</a:t>
            </a:r>
            <a:br>
              <a:rPr lang="en-US" sz="2500">
                <a:solidFill>
                  <a:srgbClr val="FF6600"/>
                </a:solidFill>
              </a:rPr>
            </a:br>
            <a:r>
              <a:rPr lang="en-US" sz="2500">
                <a:solidFill>
                  <a:schemeClr val="tx1"/>
                </a:solidFill>
              </a:rPr>
              <a:t/>
            </a:r>
            <a:br>
              <a:rPr lang="en-US" sz="2500">
                <a:solidFill>
                  <a:schemeClr val="tx1"/>
                </a:solidFill>
              </a:rPr>
            </a:br>
            <a:r>
              <a:rPr lang="th-TH" sz="2500">
                <a:solidFill>
                  <a:schemeClr val="tx1"/>
                </a:solidFill>
              </a:rPr>
              <a:t>จุดสิ้นสุดของเอกสาร		</a:t>
            </a:r>
            <a:r>
              <a:rPr lang="en-US" sz="2500">
                <a:solidFill>
                  <a:schemeClr val="tx1"/>
                </a:solidFill>
              </a:rPr>
              <a:t>&lt;/HTML&gt;</a:t>
            </a:r>
            <a:endParaRPr lang="th-TH" sz="2500">
              <a:solidFill>
                <a:schemeClr val="tx1"/>
              </a:solidFill>
            </a:endParaRPr>
          </a:p>
        </p:txBody>
      </p:sp>
      <p:sp>
        <p:nvSpPr>
          <p:cNvPr id="6147" name="Line 3"/>
          <p:cNvSpPr>
            <a:spLocks noChangeShapeType="1"/>
          </p:cNvSpPr>
          <p:nvPr/>
        </p:nvSpPr>
        <p:spPr bwMode="auto">
          <a:xfrm>
            <a:off x="4362450" y="7953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8" name="Line 4"/>
          <p:cNvSpPr>
            <a:spLocks noChangeShapeType="1"/>
          </p:cNvSpPr>
          <p:nvPr/>
        </p:nvSpPr>
        <p:spPr bwMode="auto">
          <a:xfrm>
            <a:off x="4362450" y="11382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49" name="Line 5"/>
          <p:cNvSpPr>
            <a:spLocks noChangeShapeType="1"/>
          </p:cNvSpPr>
          <p:nvPr/>
        </p:nvSpPr>
        <p:spPr bwMode="auto">
          <a:xfrm>
            <a:off x="4343400" y="2128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0" name="Line 6"/>
          <p:cNvSpPr>
            <a:spLocks noChangeShapeType="1"/>
          </p:cNvSpPr>
          <p:nvPr/>
        </p:nvSpPr>
        <p:spPr bwMode="auto">
          <a:xfrm>
            <a:off x="4191000" y="1557338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1" name="Line 7"/>
          <p:cNvSpPr>
            <a:spLocks noChangeShapeType="1"/>
          </p:cNvSpPr>
          <p:nvPr/>
        </p:nvSpPr>
        <p:spPr bwMode="auto">
          <a:xfrm>
            <a:off x="4343400" y="1138238"/>
            <a:ext cx="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2" name="Line 8"/>
          <p:cNvSpPr>
            <a:spLocks noChangeShapeType="1"/>
          </p:cNvSpPr>
          <p:nvPr/>
        </p:nvSpPr>
        <p:spPr bwMode="auto">
          <a:xfrm>
            <a:off x="4343400" y="250983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3" name="Line 9"/>
          <p:cNvSpPr>
            <a:spLocks noChangeShapeType="1"/>
          </p:cNvSpPr>
          <p:nvPr/>
        </p:nvSpPr>
        <p:spPr bwMode="auto">
          <a:xfrm>
            <a:off x="4343400" y="40147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4" name="Line 10"/>
          <p:cNvSpPr>
            <a:spLocks noChangeShapeType="1"/>
          </p:cNvSpPr>
          <p:nvPr/>
        </p:nvSpPr>
        <p:spPr bwMode="auto">
          <a:xfrm>
            <a:off x="4343400" y="2509838"/>
            <a:ext cx="0" cy="1504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3962400" y="3233738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4343400" y="4776788"/>
            <a:ext cx="76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6157" name="Text Box 14"/>
          <p:cNvSpPr txBox="1">
            <a:spLocks noChangeArrowheads="1"/>
          </p:cNvSpPr>
          <p:nvPr/>
        </p:nvSpPr>
        <p:spPr bwMode="auto">
          <a:xfrm>
            <a:off x="1866900" y="5181600"/>
            <a:ext cx="853440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2600" b="1">
                <a:solidFill>
                  <a:srgbClr val="0000FF"/>
                </a:solidFill>
              </a:rPr>
              <a:t>	</a:t>
            </a:r>
            <a:r>
              <a:rPr lang="en-US" sz="2600" b="1">
                <a:solidFill>
                  <a:srgbClr val="0000FF"/>
                </a:solidFill>
              </a:rPr>
              <a:t>Tags  </a:t>
            </a:r>
            <a:r>
              <a:rPr lang="th-TH" sz="2600" b="1">
                <a:solidFill>
                  <a:srgbClr val="0000FF"/>
                </a:solidFill>
              </a:rPr>
              <a:t>ส่วนใหญ่จะประกอบด้วย  </a:t>
            </a:r>
            <a:r>
              <a:rPr lang="en-US" sz="2600" b="1">
                <a:solidFill>
                  <a:srgbClr val="0000FF"/>
                </a:solidFill>
              </a:rPr>
              <a:t>Tag  </a:t>
            </a:r>
            <a:r>
              <a:rPr lang="th-TH" sz="2600" b="1">
                <a:solidFill>
                  <a:srgbClr val="0000FF"/>
                </a:solidFill>
              </a:rPr>
              <a:t>เริ่มต้น  และ  </a:t>
            </a:r>
            <a:r>
              <a:rPr lang="en-US" sz="2600" b="1">
                <a:solidFill>
                  <a:srgbClr val="0000FF"/>
                </a:solidFill>
              </a:rPr>
              <a:t>Tag</a:t>
            </a:r>
            <a:r>
              <a:rPr lang="th-TH" sz="2600" b="1">
                <a:solidFill>
                  <a:srgbClr val="0000FF"/>
                </a:solidFill>
              </a:rPr>
              <a:t>  สุดท้าย  โดย  </a:t>
            </a:r>
            <a:r>
              <a:rPr lang="en-US" sz="2600" b="1">
                <a:solidFill>
                  <a:srgbClr val="0000FF"/>
                </a:solidFill>
              </a:rPr>
              <a:t>Tag  </a:t>
            </a:r>
            <a:r>
              <a:rPr lang="th-TH" sz="2600" b="1">
                <a:solidFill>
                  <a:srgbClr val="0000FF"/>
                </a:solidFill>
              </a:rPr>
              <a:t>สุดท้ายจะเขียนเหมือนกับ  </a:t>
            </a:r>
            <a:r>
              <a:rPr lang="en-US" sz="2600" b="1">
                <a:solidFill>
                  <a:srgbClr val="0000FF"/>
                </a:solidFill>
              </a:rPr>
              <a:t>Tag  </a:t>
            </a:r>
            <a:r>
              <a:rPr lang="th-TH" sz="2600" b="1">
                <a:solidFill>
                  <a:srgbClr val="0000FF"/>
                </a:solidFill>
              </a:rPr>
              <a:t>เริ่มต้นแต่จะต้องมีเครื่องหมาย  </a:t>
            </a:r>
            <a:r>
              <a:rPr lang="en-US" sz="2600" b="1">
                <a:solidFill>
                  <a:srgbClr val="0000FF"/>
                </a:solidFill>
              </a:rPr>
              <a:t>“/”</a:t>
            </a:r>
            <a:r>
              <a:rPr lang="en-US" sz="24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r>
              <a:rPr lang="th-TH" sz="2400" b="1">
                <a:solidFill>
                  <a:srgbClr val="0000FF"/>
                </a:solidFill>
                <a:latin typeface="Times New Roman" panose="02020603050405020304" pitchFamily="18" charset="0"/>
              </a:rPr>
              <a:t>อยู่ข้างหน้า  </a:t>
            </a:r>
            <a:r>
              <a:rPr lang="en-US" sz="2600" b="1">
                <a:solidFill>
                  <a:srgbClr val="0000FF"/>
                </a:solidFill>
              </a:rPr>
              <a:t>Tag</a:t>
            </a:r>
            <a:r>
              <a:rPr lang="th-TH" sz="2600" b="1">
                <a:solidFill>
                  <a:srgbClr val="0000FF"/>
                </a:solidFill>
              </a:rPr>
              <a:t>  </a:t>
            </a:r>
            <a:r>
              <a:rPr lang="en-US" sz="2600" b="1">
                <a:solidFill>
                  <a:srgbClr val="0000FF"/>
                </a:solidFill>
              </a:rPr>
              <a:t> </a:t>
            </a:r>
            <a:r>
              <a:rPr lang="th-TH" sz="2600" b="1">
                <a:solidFill>
                  <a:srgbClr val="0000FF"/>
                </a:solidFill>
              </a:rPr>
              <a:t>นั้นด้วย</a:t>
            </a:r>
            <a:r>
              <a:rPr lang="th-TH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8" name="AutoShape 15"/>
          <p:cNvSpPr>
            <a:spLocks noChangeArrowheads="1"/>
          </p:cNvSpPr>
          <p:nvPr/>
        </p:nvSpPr>
        <p:spPr bwMode="auto">
          <a:xfrm>
            <a:off x="1981200" y="381000"/>
            <a:ext cx="8305800" cy="4800600"/>
          </a:xfrm>
          <a:prstGeom prst="roundRect">
            <a:avLst>
              <a:gd name="adj" fmla="val 16667"/>
            </a:avLst>
          </a:prstGeom>
          <a:noFill/>
          <a:ln w="38100">
            <a:solidFill>
              <a:srgbClr val="FF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902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3"/>
          <p:cNvSpPr txBox="1">
            <a:spLocks noChangeArrowheads="1"/>
          </p:cNvSpPr>
          <p:nvPr/>
        </p:nvSpPr>
        <p:spPr bwMode="auto">
          <a:xfrm>
            <a:off x="1828800" y="457201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6600CC"/>
                </a:solidFill>
              </a:rPr>
              <a:t>ส่วนหัวของเอกสาร  </a:t>
            </a:r>
            <a:r>
              <a:rPr lang="en-US" sz="5000" b="1">
                <a:solidFill>
                  <a:srgbClr val="6600CC"/>
                </a:solidFill>
              </a:rPr>
              <a:t>&lt;/HEAD&gt;...&lt;/HEAD&gt;</a:t>
            </a:r>
            <a:endParaRPr lang="th-TH" sz="5000" b="1">
              <a:solidFill>
                <a:srgbClr val="6600CC"/>
              </a:solidFill>
            </a:endParaRPr>
          </a:p>
        </p:txBody>
      </p:sp>
      <p:sp>
        <p:nvSpPr>
          <p:cNvPr id="7171" name="Line 4"/>
          <p:cNvSpPr>
            <a:spLocks noChangeShapeType="1"/>
          </p:cNvSpPr>
          <p:nvPr/>
        </p:nvSpPr>
        <p:spPr bwMode="auto">
          <a:xfrm>
            <a:off x="1905000" y="1371600"/>
            <a:ext cx="8229600" cy="0"/>
          </a:xfrm>
          <a:prstGeom prst="line">
            <a:avLst/>
          </a:prstGeom>
          <a:noFill/>
          <a:ln w="38100">
            <a:solidFill>
              <a:srgbClr val="6600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172" name="Text Box 5"/>
          <p:cNvSpPr txBox="1">
            <a:spLocks noChangeArrowheads="1"/>
          </p:cNvSpPr>
          <p:nvPr/>
        </p:nvSpPr>
        <p:spPr bwMode="auto">
          <a:xfrm>
            <a:off x="1866900" y="1657351"/>
            <a:ext cx="8534400" cy="146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</a:t>
            </a:r>
            <a:r>
              <a:rPr lang="en-US" b="1">
                <a:solidFill>
                  <a:srgbClr val="0000FF"/>
                </a:solidFill>
              </a:rPr>
              <a:t>Tag  </a:t>
            </a:r>
            <a:r>
              <a:rPr lang="th-TH" b="1">
                <a:solidFill>
                  <a:srgbClr val="0000FF"/>
                </a:solidFill>
              </a:rPr>
              <a:t>ที่นิยมใช้อยู่ภายในส่วนหัวของเอกสารคือ  </a:t>
            </a:r>
            <a:r>
              <a:rPr lang="en-US" b="1">
                <a:solidFill>
                  <a:srgbClr val="0000FF"/>
                </a:solidFill>
              </a:rPr>
              <a:t>&lt;TITLE&gt;...&lt;/TITLE&gt;  </a:t>
            </a:r>
            <a:r>
              <a:rPr lang="th-TH" b="1">
                <a:solidFill>
                  <a:srgbClr val="0000FF"/>
                </a:solidFill>
              </a:rPr>
              <a:t>เพื่อที่จะแสดงหัวเรื่องของเอกสาร  ณ.ตำแหน่งส่วนบนสุด  (</a:t>
            </a:r>
            <a:r>
              <a:rPr lang="en-US" b="1">
                <a:solidFill>
                  <a:srgbClr val="0000FF"/>
                </a:solidFill>
              </a:rPr>
              <a:t>Title  Bar)  </a:t>
            </a:r>
            <a:r>
              <a:rPr lang="th-TH" b="1">
                <a:solidFill>
                  <a:srgbClr val="0000FF"/>
                </a:solidFill>
              </a:rPr>
              <a:t>ของบราวเซอร์</a:t>
            </a:r>
            <a:r>
              <a:rPr lang="th-TH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3" name="Text Box 6"/>
          <p:cNvSpPr txBox="1">
            <a:spLocks noChangeArrowheads="1"/>
          </p:cNvSpPr>
          <p:nvPr/>
        </p:nvSpPr>
        <p:spPr bwMode="auto">
          <a:xfrm>
            <a:off x="1790700" y="3657601"/>
            <a:ext cx="8153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006600"/>
                </a:solidFill>
              </a:rPr>
              <a:t>ส่วนเนื้อหาของเอกสาร  </a:t>
            </a:r>
            <a:r>
              <a:rPr lang="en-US" sz="5000" b="1">
                <a:solidFill>
                  <a:srgbClr val="006600"/>
                </a:solidFill>
              </a:rPr>
              <a:t>&lt;BODY&gt;...&lt;/BODY&gt;</a:t>
            </a:r>
            <a:endParaRPr lang="th-TH" sz="5000" b="1">
              <a:solidFill>
                <a:srgbClr val="006600"/>
              </a:solidFill>
            </a:endParaRPr>
          </a:p>
        </p:txBody>
      </p:sp>
      <p:sp>
        <p:nvSpPr>
          <p:cNvPr id="7174" name="Line 7"/>
          <p:cNvSpPr>
            <a:spLocks noChangeShapeType="1"/>
          </p:cNvSpPr>
          <p:nvPr/>
        </p:nvSpPr>
        <p:spPr bwMode="auto">
          <a:xfrm>
            <a:off x="1866900" y="4572000"/>
            <a:ext cx="8229600" cy="0"/>
          </a:xfrm>
          <a:prstGeom prst="line">
            <a:avLst/>
          </a:prstGeom>
          <a:noFill/>
          <a:ln w="38100">
            <a:solidFill>
              <a:srgbClr val="0066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175" name="Text Box 8"/>
          <p:cNvSpPr txBox="1">
            <a:spLocks noChangeArrowheads="1"/>
          </p:cNvSpPr>
          <p:nvPr/>
        </p:nvSpPr>
        <p:spPr bwMode="auto">
          <a:xfrm>
            <a:off x="1828800" y="4857751"/>
            <a:ext cx="8534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เป็นส่วนที่สามารถใส่ข้อความเอกสารลงไปได้โดยตรง  แต่บราวเซอร์จะไม่มีการจัดรูปแบบของเอกสารให้ จำเป็นต้องมีส่วนของ </a:t>
            </a:r>
            <a:r>
              <a:rPr lang="en-US" b="1">
                <a:solidFill>
                  <a:srgbClr val="0000FF"/>
                </a:solidFill>
              </a:rPr>
              <a:t>Tag </a:t>
            </a:r>
            <a:r>
              <a:rPr lang="th-TH" b="1">
                <a:solidFill>
                  <a:srgbClr val="0000FF"/>
                </a:solidFill>
              </a:rPr>
              <a:t>คำสั่งมาช่วยจัดรูปแบบ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2615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28800" y="457201"/>
            <a:ext cx="8153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5000" b="1">
                <a:solidFill>
                  <a:srgbClr val="FF0066"/>
                </a:solidFill>
              </a:rPr>
              <a:t>การจัดรูปแบบของข้อความในหน้าเอกสาร</a:t>
            </a:r>
          </a:p>
        </p:txBody>
      </p:sp>
      <p:sp>
        <p:nvSpPr>
          <p:cNvPr id="9219" name="Line 3"/>
          <p:cNvSpPr>
            <a:spLocks noChangeShapeType="1"/>
          </p:cNvSpPr>
          <p:nvPr/>
        </p:nvSpPr>
        <p:spPr bwMode="auto">
          <a:xfrm>
            <a:off x="1905000" y="1371600"/>
            <a:ext cx="8382000" cy="0"/>
          </a:xfrm>
          <a:prstGeom prst="lin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866900" y="1657351"/>
            <a:ext cx="85344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b="1">
                <a:solidFill>
                  <a:srgbClr val="0000FF"/>
                </a:solidFill>
              </a:rPr>
              <a:t>	</a:t>
            </a:r>
            <a:r>
              <a:rPr lang="en-US" b="1">
                <a:solidFill>
                  <a:srgbClr val="0000FF"/>
                </a:solidFill>
              </a:rPr>
              <a:t>Tag  </a:t>
            </a:r>
            <a:r>
              <a:rPr lang="th-TH" b="1">
                <a:solidFill>
                  <a:srgbClr val="0000FF"/>
                </a:solidFill>
              </a:rPr>
              <a:t>ต่อไปนี้เป็น  </a:t>
            </a:r>
            <a:r>
              <a:rPr lang="en-US" b="1">
                <a:solidFill>
                  <a:srgbClr val="0000FF"/>
                </a:solidFill>
              </a:rPr>
              <a:t>Tag</a:t>
            </a:r>
            <a:r>
              <a:rPr lang="th-TH" b="1">
                <a:solidFill>
                  <a:srgbClr val="0000FF"/>
                </a:solidFill>
              </a:rPr>
              <a:t>  ที่ใช้สำหรับการจัดรูปแบบของข้อความในหน้าเอกสาร  เพื่อทำให้เอกสารมีรูปแบบที่น่าดูมากขึ้น</a:t>
            </a:r>
            <a:r>
              <a:rPr lang="th-TH" sz="2800" b="1">
                <a:solidFill>
                  <a:srgbClr val="0000FF"/>
                </a:solidFill>
                <a:latin typeface="Times New Roman" panose="02020603050405020304" pitchFamily="18" charset="0"/>
              </a:rPr>
              <a:t> </a:t>
            </a:r>
            <a:r>
              <a:rPr lang="en-US" sz="2800">
                <a:solidFill>
                  <a:schemeClr val="tx1"/>
                </a:solidFill>
                <a:latin typeface="Times New Roman" panose="02020603050405020304" pitchFamily="18" charset="0"/>
              </a:rPr>
              <a:t>  </a:t>
            </a:r>
            <a:endParaRPr lang="th-TH" sz="28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63" name="Group 47"/>
          <p:cNvGraphicFramePr>
            <a:graphicFrameLocks noGrp="1"/>
          </p:cNvGraphicFramePr>
          <p:nvPr/>
        </p:nvGraphicFramePr>
        <p:xfrm>
          <a:off x="2000250" y="2743200"/>
          <a:ext cx="8153400" cy="2971800"/>
        </p:xfrm>
        <a:graphic>
          <a:graphicData uri="http://schemas.openxmlformats.org/drawingml/2006/table">
            <a:tbl>
              <a:tblPr/>
              <a:tblGrid>
                <a:gridCol w="4324350"/>
                <a:gridCol w="3829050"/>
              </a:tblGrid>
              <a:tr h="59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Tags  </a:t>
                      </a: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ที่ใช้ในการจัดรูปแบบของหน้าเอกสาร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cs typeface="Angsana New" pitchFamily="18" charset="-34"/>
                        </a:rPr>
                        <a:t>ความหมาย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ngsana New" pitchFamily="18" charset="-34"/>
                        </a:rPr>
                        <a:t>  </a:t>
                      </a: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&lt;BR&gt;</a:t>
                      </a:r>
                      <a:endParaRPr kumimoji="0" lang="en-US" sz="22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cs typeface="Angsana New" pitchFamily="18" charset="-34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ขึ้นบรรทัดใหม่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   &lt;P&gt;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ย่อหน้าใหม่โดยเว้นบรรทัดว่าง  1 บรรทัด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   &lt;CENTER&gt;...&lt;/CENTER&gt;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จัดข้อความให้อยู่กลางบรรทัด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   &lt;HR&gt;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2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ngsana New" pitchFamily="18" charset="-34"/>
                          <a:cs typeface="Angsana New" pitchFamily="18" charset="-34"/>
                        </a:rPr>
                        <a:t>เส้นคั่นแนวนอน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09947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5029200" y="457201"/>
            <a:ext cx="23241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th-TH" sz="4000" b="1">
                <a:solidFill>
                  <a:srgbClr val="9900CC"/>
                </a:solidFill>
              </a:rPr>
              <a:t>ตัวอย่างเอกสาร</a:t>
            </a:r>
          </a:p>
        </p:txBody>
      </p:sp>
      <p:pic>
        <p:nvPicPr>
          <p:cNvPr id="10243" name="Picture 3" descr="C:\data\ant\html\Image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1474788"/>
            <a:ext cx="4781550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1524000" y="1295400"/>
            <a:ext cx="4114800" cy="287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600" dirty="0"/>
              <a:t>&lt;TITLE&gt;My  First  Page&lt;/TITLE&gt;</a:t>
            </a:r>
            <a:br>
              <a:rPr lang="en-US" sz="2600" dirty="0"/>
            </a:br>
            <a:r>
              <a:rPr lang="en-US" sz="2600" dirty="0"/>
              <a:t>&lt;BODY&gt;</a:t>
            </a:r>
            <a:br>
              <a:rPr lang="en-US" sz="2600" dirty="0"/>
            </a:br>
            <a:r>
              <a:rPr lang="en-US" sz="2600" dirty="0"/>
              <a:t>&lt;CENTER&gt;Introduce  Myself&lt;/CENTER&gt;</a:t>
            </a:r>
            <a:br>
              <a:rPr lang="en-US" sz="2600" dirty="0"/>
            </a:br>
            <a:r>
              <a:rPr lang="en-US" sz="2600" dirty="0"/>
              <a:t>&lt;BR&gt;</a:t>
            </a:r>
            <a:br>
              <a:rPr lang="en-US" sz="2600" dirty="0"/>
            </a:br>
            <a:r>
              <a:rPr lang="en-US" sz="2600" dirty="0"/>
              <a:t>&lt;P&gt;Hello  everybody.</a:t>
            </a:r>
            <a:br>
              <a:rPr lang="en-US" sz="2600" dirty="0"/>
            </a:br>
            <a:r>
              <a:rPr lang="en-US" sz="2600" dirty="0"/>
              <a:t>&lt;HR&gt;My  name  is  </a:t>
            </a:r>
            <a:r>
              <a:rPr lang="en-US" sz="2600" dirty="0" err="1"/>
              <a:t>Somsak</a:t>
            </a:r>
            <a:r>
              <a:rPr lang="en-US" sz="2600" dirty="0"/>
              <a:t/>
            </a:r>
            <a:br>
              <a:rPr lang="en-US" sz="2600" dirty="0"/>
            </a:br>
            <a:r>
              <a:rPr lang="en-US" sz="2600" dirty="0"/>
              <a:t>&lt;/BODY&gt;</a:t>
            </a:r>
          </a:p>
        </p:txBody>
      </p:sp>
      <p:sp>
        <p:nvSpPr>
          <p:cNvPr id="10245" name="Oval 5"/>
          <p:cNvSpPr>
            <a:spLocks noChangeArrowheads="1"/>
          </p:cNvSpPr>
          <p:nvPr/>
        </p:nvSpPr>
        <p:spPr bwMode="auto">
          <a:xfrm>
            <a:off x="5734050" y="1295400"/>
            <a:ext cx="685800" cy="381000"/>
          </a:xfrm>
          <a:prstGeom prst="ellips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10246" name="Line 6"/>
          <p:cNvSpPr>
            <a:spLocks noChangeShapeType="1"/>
          </p:cNvSpPr>
          <p:nvPr/>
        </p:nvSpPr>
        <p:spPr bwMode="auto">
          <a:xfrm>
            <a:off x="4800600" y="1524000"/>
            <a:ext cx="8382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47" name="Line 7"/>
          <p:cNvSpPr>
            <a:spLocks noChangeShapeType="1"/>
          </p:cNvSpPr>
          <p:nvPr/>
        </p:nvSpPr>
        <p:spPr bwMode="auto">
          <a:xfrm>
            <a:off x="5486400" y="2362200"/>
            <a:ext cx="20574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48" name="Line 8"/>
          <p:cNvSpPr>
            <a:spLocks noChangeShapeType="1"/>
          </p:cNvSpPr>
          <p:nvPr/>
        </p:nvSpPr>
        <p:spPr bwMode="auto">
          <a:xfrm flipV="1">
            <a:off x="2286000" y="2514600"/>
            <a:ext cx="0" cy="22860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49" name="Line 9"/>
          <p:cNvSpPr>
            <a:spLocks noChangeShapeType="1"/>
          </p:cNvSpPr>
          <p:nvPr/>
        </p:nvSpPr>
        <p:spPr bwMode="auto">
          <a:xfrm>
            <a:off x="2286000" y="2514600"/>
            <a:ext cx="38100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0" name="Line 11"/>
          <p:cNvSpPr>
            <a:spLocks noChangeShapeType="1"/>
          </p:cNvSpPr>
          <p:nvPr/>
        </p:nvSpPr>
        <p:spPr bwMode="auto">
          <a:xfrm>
            <a:off x="4495800" y="2667000"/>
            <a:ext cx="12192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1" name="Line 14"/>
          <p:cNvSpPr>
            <a:spLocks noChangeShapeType="1"/>
          </p:cNvSpPr>
          <p:nvPr/>
        </p:nvSpPr>
        <p:spPr bwMode="auto">
          <a:xfrm>
            <a:off x="5105400" y="2895600"/>
            <a:ext cx="6096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2" name="Line 15"/>
          <p:cNvSpPr>
            <a:spLocks noChangeShapeType="1"/>
          </p:cNvSpPr>
          <p:nvPr/>
        </p:nvSpPr>
        <p:spPr bwMode="auto">
          <a:xfrm>
            <a:off x="5105400" y="2895600"/>
            <a:ext cx="0" cy="68580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3" name="Line 16"/>
          <p:cNvSpPr>
            <a:spLocks noChangeShapeType="1"/>
          </p:cNvSpPr>
          <p:nvPr/>
        </p:nvSpPr>
        <p:spPr bwMode="auto">
          <a:xfrm flipH="1">
            <a:off x="4343400" y="3581400"/>
            <a:ext cx="7620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4" name="Line 17"/>
          <p:cNvSpPr>
            <a:spLocks noChangeShapeType="1"/>
          </p:cNvSpPr>
          <p:nvPr/>
        </p:nvSpPr>
        <p:spPr bwMode="auto">
          <a:xfrm>
            <a:off x="4495800" y="2667000"/>
            <a:ext cx="0" cy="45720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5" name="Line 18"/>
          <p:cNvSpPr>
            <a:spLocks noChangeShapeType="1"/>
          </p:cNvSpPr>
          <p:nvPr/>
        </p:nvSpPr>
        <p:spPr bwMode="auto">
          <a:xfrm flipH="1">
            <a:off x="3886200" y="3105150"/>
            <a:ext cx="609600" cy="0"/>
          </a:xfrm>
          <a:prstGeom prst="line">
            <a:avLst/>
          </a:prstGeom>
          <a:noFill/>
          <a:ln w="19050">
            <a:solidFill>
              <a:srgbClr val="080808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th-TH"/>
          </a:p>
        </p:txBody>
      </p:sp>
      <p:sp>
        <p:nvSpPr>
          <p:cNvPr id="10256" name="Text Box 19"/>
          <p:cNvSpPr txBox="1">
            <a:spLocks noChangeArrowheads="1"/>
          </p:cNvSpPr>
          <p:nvPr/>
        </p:nvSpPr>
        <p:spPr bwMode="auto">
          <a:xfrm>
            <a:off x="5867400" y="5086351"/>
            <a:ext cx="46101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1pPr>
            <a:lvl2pPr marL="742950" indent="-28575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2pPr>
            <a:lvl3pPr marL="11430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3pPr>
            <a:lvl4pPr marL="16002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4pPr>
            <a:lvl5pPr marL="2057400" indent="-228600" eaLnBrk="0" hangingPunct="0"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000">
                <a:solidFill>
                  <a:srgbClr val="080808"/>
                </a:solidFill>
                <a:latin typeface="Angsana New" panose="02020603050405020304" pitchFamily="18" charset="-34"/>
                <a:cs typeface="Angsana New" panose="02020603050405020304" pitchFamily="18" charset="-34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th-TH" sz="2400">
                <a:solidFill>
                  <a:srgbClr val="6600FF"/>
                </a:solidFill>
              </a:rPr>
              <a:t>รูปแสดงผลลัพธ์การเรียกใช้เอกสาร </a:t>
            </a:r>
            <a:r>
              <a:rPr lang="en-US" sz="2400">
                <a:solidFill>
                  <a:srgbClr val="6600FF"/>
                </a:solidFill>
              </a:rPr>
              <a:t>Title2.html</a:t>
            </a:r>
            <a:r>
              <a:rPr lang="th-TH" sz="2400">
                <a:solidFill>
                  <a:srgbClr val="6600FF"/>
                </a:solidFill>
              </a:rPr>
              <a:t> บน</a:t>
            </a:r>
            <a:br>
              <a:rPr lang="th-TH" sz="2400">
                <a:solidFill>
                  <a:srgbClr val="6600FF"/>
                </a:solidFill>
              </a:rPr>
            </a:br>
            <a:r>
              <a:rPr lang="en-US" sz="2400">
                <a:solidFill>
                  <a:srgbClr val="6600FF"/>
                </a:solidFill>
              </a:rPr>
              <a:t> </a:t>
            </a:r>
            <a:r>
              <a:rPr lang="th-TH" sz="2400">
                <a:solidFill>
                  <a:srgbClr val="6600FF"/>
                </a:solidFill>
              </a:rPr>
              <a:t>บราวเซอร์เมื่อมีการจัดรูปแบบหน้าเอกสาร</a:t>
            </a:r>
            <a:r>
              <a:rPr lang="th-TH" sz="24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2602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คำสั่งอธิบายโปรแกรม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แทรกคำอธิบายโปรแกรม หรือหมายเหตุลงในโปรแกรมโดยใช้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	  เมื่อ massage คือข้อความที่ต้องการให้เป็นคำอธิบาย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10B6ABD1-7D9B-4B82-9F4E-A16B74DF07D5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11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3563175" y="2834353"/>
            <a:ext cx="4105275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&lt;!-- massage--&gt;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318" name="Rectangle 6"/>
          <p:cNvSpPr>
            <a:spLocks noChangeArrowheads="1"/>
          </p:cNvSpPr>
          <p:nvPr/>
        </p:nvSpPr>
        <p:spPr bwMode="auto">
          <a:xfrm>
            <a:off x="1691512" y="4793138"/>
            <a:ext cx="7848600" cy="7921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&lt;!-- 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My first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 Home page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--&gt;</a:t>
            </a:r>
            <a:endParaRPr lang="th-TH" sz="16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58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dirty="0" smtClean="0">
                <a:cs typeface="Angsana New" panose="02020603050405020304" pitchFamily="18" charset="-34"/>
              </a:rPr>
              <a:t>การกำหนดสีพื้นหลัง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1921823" y="1589532"/>
            <a:ext cx="8229600" cy="1358900"/>
          </a:xfrm>
        </p:spPr>
        <p:txBody>
          <a:bodyPr/>
          <a:lstStyle/>
          <a:p>
            <a:pPr eaLnBrk="1" hangingPunct="1"/>
            <a:r>
              <a:rPr lang="th-TH" dirty="0" smtClean="0">
                <a:cs typeface="Angsana New" panose="02020603050405020304" pitchFamily="18" charset="-34"/>
              </a:rPr>
              <a:t>รูปแบบของคำสั่ง </a:t>
            </a:r>
            <a:r>
              <a:rPr lang="en-US" dirty="0" smtClean="0">
                <a:cs typeface="Angsana New" panose="02020603050405020304" pitchFamily="18" charset="-34"/>
              </a:rPr>
              <a:t>HTML</a:t>
            </a:r>
            <a:r>
              <a:rPr lang="th-TH" dirty="0" smtClean="0">
                <a:cs typeface="Angsana New" panose="02020603050405020304" pitchFamily="18" charset="-34"/>
              </a:rPr>
              <a:t> ในการกำหนดสีพื้นหลังของ</a:t>
            </a:r>
            <a:r>
              <a:rPr lang="en-US" dirty="0" smtClean="0">
                <a:cs typeface="Angsana New" panose="02020603050405020304" pitchFamily="18" charset="-34"/>
              </a:rPr>
              <a:t> Web Page</a:t>
            </a:r>
            <a:endParaRPr lang="th-TH" dirty="0" smtClean="0">
              <a:cs typeface="Angsana New" panose="02020603050405020304" pitchFamily="18" charset="-34"/>
            </a:endParaRP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3216276" y="2420939"/>
            <a:ext cx="5832475" cy="1152525"/>
          </a:xfrm>
          <a:prstGeom prst="flowChartAlternateProcess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9pPr>
          </a:lstStyle>
          <a:p>
            <a:pPr algn="ctr" eaLnBrk="1" hangingPunct="1"/>
            <a:r>
              <a:rPr lang="en-US" sz="3600">
                <a:latin typeface="Angsana New" panose="02020603050405020304" pitchFamily="18" charset="-34"/>
              </a:rPr>
              <a:t>&lt;body bgcolor=</a:t>
            </a:r>
            <a:r>
              <a:rPr lang="th-TH" sz="3600">
                <a:latin typeface="Angsana New" panose="02020603050405020304" pitchFamily="18" charset="-34"/>
              </a:rPr>
              <a:t>“สีหรือรหัสสี ”</a:t>
            </a:r>
            <a:r>
              <a:rPr lang="en-US" sz="3600">
                <a:latin typeface="Angsana New" panose="02020603050405020304" pitchFamily="18" charset="-34"/>
              </a:rPr>
              <a:t>&gt;...&lt;body&gt;</a:t>
            </a:r>
            <a:endParaRPr lang="th-TH" sz="3600">
              <a:latin typeface="Angsana New" panose="02020603050405020304" pitchFamily="18" charset="-34"/>
            </a:endParaRPr>
          </a:p>
        </p:txBody>
      </p:sp>
      <p:sp>
        <p:nvSpPr>
          <p:cNvPr id="14341" name="AutoShape 5"/>
          <p:cNvSpPr>
            <a:spLocks noChangeArrowheads="1"/>
          </p:cNvSpPr>
          <p:nvPr/>
        </p:nvSpPr>
        <p:spPr bwMode="auto">
          <a:xfrm>
            <a:off x="3216276" y="4437064"/>
            <a:ext cx="5832475" cy="1152525"/>
          </a:xfrm>
          <a:prstGeom prst="flowChartAlternateProcess">
            <a:avLst/>
          </a:prstGeom>
          <a:solidFill>
            <a:srgbClr val="CCE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rgbClr val="9900CC"/>
                </a:solidFill>
                <a:latin typeface="Verdana" panose="020B0604030504040204" pitchFamily="34" charset="0"/>
                <a:cs typeface="Angsana New" panose="02020603050405020304" pitchFamily="18" charset="-34"/>
              </a:defRPr>
            </a:lvl9pPr>
          </a:lstStyle>
          <a:p>
            <a:pPr algn="ctr" eaLnBrk="1" hangingPunct="1"/>
            <a:r>
              <a:rPr lang="en-US" sz="4400">
                <a:latin typeface="Angsana New" panose="02020603050405020304" pitchFamily="18" charset="-34"/>
              </a:rPr>
              <a:t>&lt;body bgcolor=</a:t>
            </a:r>
            <a:r>
              <a:rPr lang="th-TH" sz="4400">
                <a:latin typeface="Angsana New" panose="02020603050405020304" pitchFamily="18" charset="-34"/>
              </a:rPr>
              <a:t>“</a:t>
            </a:r>
            <a:r>
              <a:rPr lang="en-US" sz="4400">
                <a:latin typeface="Angsana New" panose="02020603050405020304" pitchFamily="18" charset="-34"/>
              </a:rPr>
              <a:t>black</a:t>
            </a:r>
            <a:r>
              <a:rPr lang="th-TH" sz="4400">
                <a:latin typeface="Angsana New" panose="02020603050405020304" pitchFamily="18" charset="-34"/>
              </a:rPr>
              <a:t>”</a:t>
            </a:r>
            <a:r>
              <a:rPr lang="en-US" sz="4400">
                <a:latin typeface="Angsana New" panose="02020603050405020304" pitchFamily="18" charset="-34"/>
              </a:rPr>
              <a:t>&gt;…&lt;/body&gt;</a:t>
            </a:r>
            <a:endParaRPr lang="th-TH" sz="4400">
              <a:latin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4951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36725" y="396875"/>
            <a:ext cx="8686800" cy="1143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th-TH" sz="4000" dirty="0">
                <a:solidFill>
                  <a:schemeClr val="tx1"/>
                </a:solidFill>
                <a:latin typeface="Angsana New" pitchFamily="18" charset="-34"/>
                <a:cs typeface="Angsana New" pitchFamily="18" charset="-34"/>
              </a:rPr>
              <a:t>การกำหนดสีของพื้นหลังของตัวอักษร </a:t>
            </a:r>
            <a:r>
              <a:rPr lang="th-TH" sz="4000" dirty="0">
                <a:solidFill>
                  <a:srgbClr val="6600CC"/>
                </a:solidFill>
                <a:latin typeface="Angsana New" pitchFamily="18" charset="-34"/>
                <a:cs typeface="Angsana New" pitchFamily="18" charset="-34"/>
              </a:rPr>
              <a:t/>
            </a:r>
            <a:br>
              <a:rPr lang="th-TH" sz="4000" dirty="0">
                <a:solidFill>
                  <a:srgbClr val="6600CC"/>
                </a:solidFill>
                <a:latin typeface="Angsana New" pitchFamily="18" charset="-34"/>
                <a:cs typeface="Angsana New" pitchFamily="18" charset="-34"/>
              </a:rPr>
            </a:br>
            <a:r>
              <a:rPr lang="th-TH" sz="4000" dirty="0">
                <a:solidFill>
                  <a:srgbClr val="6600CC"/>
                </a:solidFill>
                <a:latin typeface="Angsana New" pitchFamily="18" charset="-34"/>
                <a:cs typeface="Angsana New" pitchFamily="18" charset="-34"/>
              </a:rPr>
              <a:t>1. 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ระบุชื่อของสีที่ต้องการ อาทิเช่น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red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,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green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,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yellow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, </a:t>
            </a:r>
            <a:r>
              <a:rPr lang="th-TH" dirty="0" err="1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blue</a:t>
            </a:r>
            <a:r>
              <a:rPr lang="th-TH" dirty="0" smtClean="0">
                <a:solidFill>
                  <a:srgbClr val="000066"/>
                </a:solidFill>
                <a:latin typeface="Angsana New" pitchFamily="18" charset="-34"/>
                <a:cs typeface="Angsana New" pitchFamily="18" charset="-34"/>
              </a:rPr>
              <a:t> เป็นต้น</a:t>
            </a:r>
            <a:r>
              <a:rPr lang="th-TH" sz="4000" dirty="0">
                <a:latin typeface="Angsana New" pitchFamily="18" charset="-34"/>
                <a:cs typeface="Angsana New" pitchFamily="18" charset="-34"/>
              </a:rPr>
              <a:t> 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981201"/>
            <a:ext cx="8229600" cy="4525963"/>
          </a:xfrm>
        </p:spPr>
        <p:txBody>
          <a:bodyPr/>
          <a:lstStyle/>
          <a:p>
            <a:pPr eaLnBrk="1" hangingPunct="1"/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&lt;HTML&gt;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&lt;HEAD&gt;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&lt;TITLE&gt;การกำหนดสีพื้นหลังโดยการกำหนดสี&lt;/TITLE&gt; 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&lt;/HEAD&gt;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b="1" smtClean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&lt;BODY BGCOLOR="yellow"&gt; </a:t>
            </a:r>
            <a:br>
              <a:rPr lang="th-TH" b="1" smtClean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การกำหนดสีพื้นหลังโดยการกำหนดสี 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&lt;/BODY&gt;</a:t>
            </a:r>
            <a:b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mtClean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&lt;/HTML&gt; </a:t>
            </a:r>
          </a:p>
        </p:txBody>
      </p:sp>
    </p:spTree>
    <p:extLst>
      <p:ext uri="{BB962C8B-B14F-4D97-AF65-F5344CB8AC3E}">
        <p14:creationId xmlns:p14="http://schemas.microsoft.com/office/powerpoint/2010/main" val="1876483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31888"/>
            <a:ext cx="6972300" cy="6540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th-TH" dirty="0" smtClean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การระบุแบบตัวเลขโดยจะใช้ค่าสีในระบบฐาน 16 หรือเรียกว่า หลักการผสมสีแบบ RBG</a:t>
            </a:r>
            <a:r>
              <a:rPr lang="th-TH" sz="4000" dirty="0">
                <a:solidFill>
                  <a:srgbClr val="00206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2095500" y="2071688"/>
            <a:ext cx="8229600" cy="4114800"/>
          </a:xfrm>
        </p:spPr>
        <p:txBody>
          <a:bodyPr/>
          <a:lstStyle/>
          <a:p>
            <a:pPr eaLnBrk="1" hangingPunct="1"/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&lt;HTML&gt;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&lt;HEAD&gt;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&lt;TITLE&gt;การกำหนดสีพื้นหลังโดยการกำหนดสี&lt;/TITLE&gt; 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&lt;/HEAD&gt;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b="1" dirty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&lt;BODY BGCOLOR="#FF66FF"&gt; </a:t>
            </a:r>
            <a:br>
              <a:rPr lang="th-TH" sz="2400" b="1" dirty="0">
                <a:solidFill>
                  <a:srgbClr val="990099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   การกำหนดสีพื้นหลังโดยใช้หลัก "#RBG"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&lt;/BODY&gt;</a:t>
            </a:r>
            <a:b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</a:br>
            <a:r>
              <a:rPr lang="th-TH" sz="2400" dirty="0">
                <a:solidFill>
                  <a:srgbClr val="000066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&lt;/HTML&gt;</a:t>
            </a:r>
            <a:r>
              <a:rPr lang="th-TH" sz="2400" dirty="0">
                <a:solidFill>
                  <a:srgbClr val="000066"/>
                </a:solidFill>
              </a:rPr>
              <a:t> </a:t>
            </a:r>
          </a:p>
        </p:txBody>
      </p:sp>
      <p:sp>
        <p:nvSpPr>
          <p:cNvPr id="4" name="สี่เหลี่ยมผืนผ้า 3"/>
          <p:cNvSpPr/>
          <p:nvPr/>
        </p:nvSpPr>
        <p:spPr>
          <a:xfrm>
            <a:off x="3721864" y="0"/>
            <a:ext cx="5969904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th-TH" sz="4000" b="1" dirty="0">
                <a:latin typeface="Angsana New" pitchFamily="18" charset="-34"/>
              </a:rPr>
              <a:t>การกำหนดสีของพื้นหลังของตัวอักษร</a:t>
            </a:r>
            <a:r>
              <a:rPr lang="th-TH" sz="4000" dirty="0">
                <a:latin typeface="Angsana New" pitchFamily="18" charset="-34"/>
              </a:rPr>
              <a:t> </a:t>
            </a:r>
            <a:endParaRPr lang="th-TH" sz="4000" dirty="0"/>
          </a:p>
        </p:txBody>
      </p:sp>
    </p:spTree>
    <p:extLst>
      <p:ext uri="{BB962C8B-B14F-4D97-AF65-F5344CB8AC3E}">
        <p14:creationId xmlns:p14="http://schemas.microsoft.com/office/powerpoint/2010/main" val="3759864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ตารางตัวอย่างรหัสสี</a:t>
            </a:r>
          </a:p>
        </p:txBody>
      </p:sp>
      <p:graphicFrame>
        <p:nvGraphicFramePr>
          <p:cNvPr id="115784" name="Group 72"/>
          <p:cNvGraphicFramePr>
            <a:graphicFrameLocks noGrp="1"/>
          </p:cNvGraphicFramePr>
          <p:nvPr>
            <p:ph sz="half" idx="2"/>
          </p:nvPr>
        </p:nvGraphicFramePr>
        <p:xfrm>
          <a:off x="3935413" y="1600201"/>
          <a:ext cx="3886200" cy="4014985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สี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รหัสสี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425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ขาว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น้ำเงิน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ดำ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ฟ้า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#4D4DFF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เทา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#7F7F7F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ชมพู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#CC3299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แดง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เขียว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เหลือง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952DBDC-D760-4EF6-91C3-463D5407BDB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15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5722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44451"/>
            <a:ext cx="8229600" cy="720725"/>
          </a:xfrm>
        </p:spPr>
        <p:txBody>
          <a:bodyPr/>
          <a:lstStyle/>
          <a:p>
            <a:pPr eaLnBrk="1" hangingPunct="1"/>
            <a:r>
              <a:rPr lang="th-TH" sz="4000" b="1">
                <a:solidFill>
                  <a:srgbClr val="990099"/>
                </a:solidFill>
                <a:latin typeface="-JS Synjai Allcaps" pitchFamily="2" charset="2"/>
              </a:rPr>
              <a:t>ส่วนเนื้อหาของเอกสาร</a:t>
            </a:r>
            <a:r>
              <a:rPr lang="th-TH" sz="4000"/>
              <a:t>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endParaRPr lang="th-TH" smtClean="0">
              <a:solidFill>
                <a:srgbClr val="3333CC"/>
              </a:solidFill>
            </a:endParaRPr>
          </a:p>
          <a:p>
            <a:pPr eaLnBrk="1" hangingPunct="1">
              <a:buFontTx/>
              <a:buNone/>
            </a:pPr>
            <a:r>
              <a:rPr lang="en-US" smtClean="0"/>
              <a:t> </a:t>
            </a:r>
            <a:endParaRPr lang="th-TH" smtClean="0"/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2259013" y="1165226"/>
            <a:ext cx="18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1703388" y="549276"/>
            <a:ext cx="8824852" cy="637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 sz="2400"/>
              <a:t>BGCOLOR		</a:t>
            </a:r>
            <a:r>
              <a:rPr lang="th-TH" sz="2400"/>
              <a:t>คือ คำสั่งเสริมใช้สำหรับกำหนดสีพื้นหลังของเว็บเพจ</a:t>
            </a:r>
          </a:p>
          <a:p>
            <a:pPr eaLnBrk="1" hangingPunct="1"/>
            <a:r>
              <a:rPr lang="en-US" sz="2400"/>
              <a:t>BACKGROUND</a:t>
            </a:r>
            <a:r>
              <a:rPr lang="th-TH" sz="2400"/>
              <a:t>	คือ คำสั่งเสริมใช้สำหรับกำหนดรูปภาพที่จะนำมาเป็นพื้นหลังบนเว็บเพจ</a:t>
            </a:r>
          </a:p>
          <a:p>
            <a:pPr eaLnBrk="1" hangingPunct="1"/>
            <a:r>
              <a:rPr lang="en-US" sz="2400"/>
              <a:t>TEXT</a:t>
            </a:r>
            <a:r>
              <a:rPr lang="th-TH" sz="2400"/>
              <a:t>			คือ คำสั่งเสริมใช้สำหรับกำหนดสีของข้อความภายในเว็บเพจ</a:t>
            </a:r>
          </a:p>
          <a:p>
            <a:pPr eaLnBrk="1" hangingPunct="1"/>
            <a:r>
              <a:rPr lang="en-US" sz="2400"/>
              <a:t>TOPMARGIN</a:t>
            </a:r>
            <a:r>
              <a:rPr lang="th-TH" sz="2400"/>
              <a:t>	คือ คำสั่งเสริมใช้สำหรับกำหนดระยะห่างของเว็บเพจจากทางด้านบน</a:t>
            </a:r>
          </a:p>
          <a:p>
            <a:pPr eaLnBrk="1" hangingPunct="1"/>
            <a:r>
              <a:rPr lang="th-TH" sz="2400"/>
              <a:t>			ของจอภาพ</a:t>
            </a:r>
          </a:p>
          <a:p>
            <a:pPr eaLnBrk="1" hangingPunct="1"/>
            <a:r>
              <a:rPr lang="en-US" sz="2400"/>
              <a:t>BOTTOMMARGIN</a:t>
            </a:r>
            <a:r>
              <a:rPr lang="th-TH" sz="2400"/>
              <a:t>   คือ คำสั่งเสริมที่ใช้สำหรับกำหนดระยะห่างของเว็บเพจจากทางด้านล่าง</a:t>
            </a:r>
          </a:p>
          <a:p>
            <a:pPr eaLnBrk="1" hangingPunct="1"/>
            <a:r>
              <a:rPr lang="th-TH" sz="2400"/>
              <a:t>			ของจอภาพ</a:t>
            </a:r>
          </a:p>
          <a:p>
            <a:pPr eaLnBrk="1" hangingPunct="1"/>
            <a:r>
              <a:rPr lang="en-US" sz="2400"/>
              <a:t>RIGHTMARGIN	</a:t>
            </a:r>
            <a:r>
              <a:rPr lang="th-TH" sz="2400"/>
              <a:t>คำสั่งเสริมที่ใช้สำหรับกำหนดระยะห่างของเว็บเพจจากทาง</a:t>
            </a:r>
          </a:p>
          <a:p>
            <a:pPr eaLnBrk="1" hangingPunct="1"/>
            <a:r>
              <a:rPr lang="th-TH" sz="2400"/>
              <a:t>			ด้านขวาของจอภาพ</a:t>
            </a:r>
          </a:p>
          <a:p>
            <a:pPr eaLnBrk="1" hangingPunct="1"/>
            <a:r>
              <a:rPr lang="en-US" sz="2400"/>
              <a:t>LEFTMARGIN	</a:t>
            </a:r>
            <a:r>
              <a:rPr lang="th-TH" sz="2400"/>
              <a:t>คำสั่งเสริมที่ใช้สำหรับกำหนดระยะห่างของเว็บเพจจากทาง</a:t>
            </a:r>
          </a:p>
          <a:p>
            <a:pPr eaLnBrk="1" hangingPunct="1"/>
            <a:r>
              <a:rPr lang="th-TH" sz="2400"/>
              <a:t>			ด้านซ้ายของจอภาพ</a:t>
            </a:r>
          </a:p>
          <a:p>
            <a:pPr eaLnBrk="1" hangingPunct="1"/>
            <a:r>
              <a:rPr lang="en-US" sz="2400"/>
              <a:t>LINK</a:t>
            </a:r>
            <a:r>
              <a:rPr lang="th-TH" sz="2400"/>
              <a:t>			คือ คำสั่งเสริมที่ใช้สำหรับกำหนดสีของข้อความที่ใช้เป็นตัวเชื่อมโยง </a:t>
            </a:r>
          </a:p>
          <a:p>
            <a:pPr eaLnBrk="1" hangingPunct="1"/>
            <a:r>
              <a:rPr lang="th-TH" sz="2400"/>
              <a:t> 			</a:t>
            </a:r>
            <a:r>
              <a:rPr lang="en-US" sz="2400"/>
              <a:t>(Hyperlink) </a:t>
            </a:r>
            <a:r>
              <a:rPr lang="th-TH" sz="2400"/>
              <a:t>ภายในเว็บเพจ</a:t>
            </a:r>
          </a:p>
          <a:p>
            <a:pPr eaLnBrk="1" hangingPunct="1"/>
            <a:r>
              <a:rPr lang="en-US" sz="2400"/>
              <a:t>ALINK			</a:t>
            </a:r>
            <a:r>
              <a:rPr lang="th-TH" sz="2400"/>
              <a:t>คือ คำสั่งเสริมที่ใช้สำหรับกำหนดสีของข้อความที่ใช้เป็นตัวเชื่อมโยง</a:t>
            </a:r>
          </a:p>
          <a:p>
            <a:pPr eaLnBrk="1" hangingPunct="1"/>
            <a:r>
              <a:rPr lang="th-TH" sz="2400"/>
              <a:t>			 </a:t>
            </a:r>
            <a:r>
              <a:rPr lang="en-US" sz="2400"/>
              <a:t>(Hyperlink) </a:t>
            </a:r>
            <a:endParaRPr lang="th-TH" sz="2400"/>
          </a:p>
          <a:p>
            <a:pPr eaLnBrk="1" hangingPunct="1"/>
            <a:r>
              <a:rPr lang="en-US" sz="2400"/>
              <a:t>VLINK		</a:t>
            </a:r>
            <a:r>
              <a:rPr lang="th-TH" sz="2400"/>
              <a:t>	คือ คำสั่งเสริมที่ใช้สำหรับกำหนดสีของข้อความที่ใช้เป็นตัวเชื่อมโยง </a:t>
            </a:r>
            <a:endParaRPr lang="en-US" sz="2400"/>
          </a:p>
          <a:p>
            <a:pPr eaLnBrk="1" hangingPunct="1"/>
            <a:r>
              <a:rPr lang="en-US" sz="2400"/>
              <a:t>			(Hyperlink) </a:t>
            </a:r>
            <a:r>
              <a:rPr lang="th-TH" sz="2400"/>
              <a:t>หลังจากที่เคยคลิกที่ </a:t>
            </a:r>
            <a:r>
              <a:rPr lang="en-US" sz="2400"/>
              <a:t>Hyperlink </a:t>
            </a:r>
            <a:r>
              <a:rPr lang="th-TH" sz="2400"/>
              <a:t>นั้นๆไปแล้ว</a:t>
            </a:r>
          </a:p>
        </p:txBody>
      </p:sp>
    </p:spTree>
    <p:extLst>
      <p:ext uri="{BB962C8B-B14F-4D97-AF65-F5344CB8AC3E}">
        <p14:creationId xmlns:p14="http://schemas.microsoft.com/office/powerpoint/2010/main" val="177602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5400" b="1">
                <a:solidFill>
                  <a:srgbClr val="990000"/>
                </a:solidFill>
              </a:rPr>
              <a:t>ตัวอย่าง</a:t>
            </a:r>
          </a:p>
        </p:txBody>
      </p:sp>
      <p:sp>
        <p:nvSpPr>
          <p:cNvPr id="7171" name="Text Box 4"/>
          <p:cNvSpPr txBox="1">
            <a:spLocks noChangeArrowheads="1"/>
          </p:cNvSpPr>
          <p:nvPr/>
        </p:nvSpPr>
        <p:spPr bwMode="auto">
          <a:xfrm>
            <a:off x="2619376" y="1524001"/>
            <a:ext cx="6670675" cy="393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&lt;HTML&gt;</a:t>
            </a:r>
          </a:p>
          <a:p>
            <a:pPr eaLnBrk="1" hangingPunct="1"/>
            <a:r>
              <a:rPr lang="en-US"/>
              <a:t>&lt;HEAD&gt;</a:t>
            </a:r>
          </a:p>
          <a:p>
            <a:pPr eaLnBrk="1" hangingPunct="1"/>
            <a:r>
              <a:rPr lang="en-US"/>
              <a:t>&lt;TITLE&gt; </a:t>
            </a:r>
            <a:r>
              <a:rPr lang="th-TH"/>
              <a:t>เอกสาร </a:t>
            </a:r>
            <a:r>
              <a:rPr lang="en-US"/>
              <a:t>HTML  &lt;/TITLE&gt;</a:t>
            </a:r>
          </a:p>
          <a:p>
            <a:pPr eaLnBrk="1" hangingPunct="1"/>
            <a:r>
              <a:rPr lang="en-US"/>
              <a:t>&lt;/HEAD&gt;</a:t>
            </a:r>
          </a:p>
          <a:p>
            <a:pPr eaLnBrk="1" hangingPunct="1"/>
            <a:r>
              <a:rPr lang="en-US"/>
              <a:t>&lt;BODY BGCOLOR</a:t>
            </a:r>
            <a:r>
              <a:rPr lang="th-TH"/>
              <a:t>=</a:t>
            </a:r>
            <a:r>
              <a:rPr lang="en-US"/>
              <a:t>PINK  TEXT</a:t>
            </a:r>
            <a:r>
              <a:rPr lang="th-TH"/>
              <a:t>=</a:t>
            </a:r>
            <a:r>
              <a:rPr lang="en-US"/>
              <a:t>RED   </a:t>
            </a:r>
          </a:p>
          <a:p>
            <a:pPr eaLnBrk="1" hangingPunct="1"/>
            <a:r>
              <a:rPr lang="en-US"/>
              <a:t>TOPMARGIN</a:t>
            </a:r>
            <a:r>
              <a:rPr lang="th-TH"/>
              <a:t>="</a:t>
            </a:r>
            <a:r>
              <a:rPr lang="en-US"/>
              <a:t>100</a:t>
            </a:r>
            <a:r>
              <a:rPr lang="th-TH"/>
              <a:t>"</a:t>
            </a:r>
            <a:r>
              <a:rPr lang="en-US"/>
              <a:t>&gt;</a:t>
            </a:r>
            <a:endParaRPr lang="th-TH"/>
          </a:p>
          <a:p>
            <a:pPr eaLnBrk="1" hangingPunct="1"/>
            <a:r>
              <a:rPr lang="en-US"/>
              <a:t>	</a:t>
            </a:r>
            <a:r>
              <a:rPr lang="th-TH"/>
              <a:t>โครงสร้างของเอกสาร </a:t>
            </a:r>
            <a:r>
              <a:rPr lang="en-US"/>
              <a:t>HTML</a:t>
            </a:r>
            <a:endParaRPr lang="th-TH"/>
          </a:p>
          <a:p>
            <a:pPr eaLnBrk="1" hangingPunct="1"/>
            <a:r>
              <a:rPr lang="en-US"/>
              <a:t>&lt;</a:t>
            </a:r>
            <a:r>
              <a:rPr lang="th-TH"/>
              <a:t>/</a:t>
            </a:r>
            <a:r>
              <a:rPr lang="en-US"/>
              <a:t>BODY&gt;</a:t>
            </a:r>
            <a:endParaRPr lang="th-TH"/>
          </a:p>
          <a:p>
            <a:pPr eaLnBrk="1" hangingPunct="1"/>
            <a:r>
              <a:rPr lang="en-US"/>
              <a:t>&lt;</a:t>
            </a:r>
            <a:r>
              <a:rPr lang="th-TH"/>
              <a:t>/</a:t>
            </a:r>
            <a:r>
              <a:rPr lang="en-US"/>
              <a:t>HTML&gt; 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30241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WordArt 5"/>
          <p:cNvSpPr>
            <a:spLocks noChangeArrowheads="1" noChangeShapeType="1" noTextEdit="1"/>
          </p:cNvSpPr>
          <p:nvPr/>
        </p:nvSpPr>
        <p:spPr bwMode="auto">
          <a:xfrm>
            <a:off x="3287714" y="241301"/>
            <a:ext cx="4981575" cy="523875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solidFill>
                  <a:srgbClr val="336699"/>
                </a:solidFill>
                <a:effectLst>
                  <a:outerShdw dist="45791" dir="2021404" algn="ctr" rotWithShape="0">
                    <a:srgbClr val="B2B2B2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การกำหนดรูปแบบตัวอักษร</a:t>
            </a:r>
          </a:p>
        </p:txBody>
      </p:sp>
      <p:sp>
        <p:nvSpPr>
          <p:cNvPr id="8195" name="Text Box 6"/>
          <p:cNvSpPr txBox="1">
            <a:spLocks noChangeArrowheads="1"/>
          </p:cNvSpPr>
          <p:nvPr/>
        </p:nvSpPr>
        <p:spPr bwMode="auto">
          <a:xfrm>
            <a:off x="1838325" y="1025525"/>
            <a:ext cx="8953092" cy="56938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&lt;EM&gt; 	</a:t>
            </a:r>
            <a:r>
              <a:rPr lang="th-TH"/>
              <a:t>   ตัวเอียง	</a:t>
            </a:r>
            <a:r>
              <a:rPr lang="en-US">
                <a:solidFill>
                  <a:srgbClr val="FF0000"/>
                </a:solidFill>
              </a:rPr>
              <a:t>&lt;EM&gt;   </a:t>
            </a:r>
            <a:r>
              <a:rPr lang="th-TH">
                <a:solidFill>
                  <a:srgbClr val="FF0000"/>
                </a:solidFill>
              </a:rPr>
              <a:t>ข้อความ     </a:t>
            </a:r>
            <a:r>
              <a:rPr lang="en-US">
                <a:solidFill>
                  <a:srgbClr val="FF0000"/>
                </a:solidFill>
              </a:rPr>
              <a:t>&lt;/EM&gt;</a:t>
            </a:r>
          </a:p>
          <a:p>
            <a:pPr eaLnBrk="1" hangingPunct="1"/>
            <a:endParaRPr lang="en-US">
              <a:solidFill>
                <a:srgbClr val="663300"/>
              </a:solidFill>
            </a:endParaRPr>
          </a:p>
          <a:p>
            <a:pPr eaLnBrk="1" hangingPunct="1"/>
            <a:r>
              <a:rPr lang="en-US"/>
              <a:t>&lt;STRONG&gt;</a:t>
            </a:r>
            <a:r>
              <a:rPr lang="th-TH"/>
              <a:t>  ตัวหนา	</a:t>
            </a:r>
            <a:r>
              <a:rPr lang="en-US">
                <a:solidFill>
                  <a:srgbClr val="FF0000"/>
                </a:solidFill>
              </a:rPr>
              <a:t>&lt;STRONG&gt;  </a:t>
            </a:r>
            <a:r>
              <a:rPr lang="th-TH">
                <a:solidFill>
                  <a:srgbClr val="FF0000"/>
                </a:solidFill>
              </a:rPr>
              <a:t>ข้อความ </a:t>
            </a:r>
            <a:r>
              <a:rPr lang="en-US">
                <a:solidFill>
                  <a:srgbClr val="FF0000"/>
                </a:solidFill>
              </a:rPr>
              <a:t>&lt;/STRONG&gt;</a:t>
            </a:r>
          </a:p>
          <a:p>
            <a:pPr eaLnBrk="1" hangingPunct="1"/>
            <a:endParaRPr lang="en-US"/>
          </a:p>
          <a:p>
            <a:pPr eaLnBrk="1" hangingPunct="1"/>
            <a:r>
              <a:rPr lang="en-US"/>
              <a:t>&lt;BIG&gt;	   </a:t>
            </a:r>
            <a:r>
              <a:rPr lang="th-TH"/>
              <a:t>ตัวขนาดใหญ่</a:t>
            </a: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&lt;BIG&gt;     </a:t>
            </a:r>
            <a:r>
              <a:rPr lang="th-TH">
                <a:solidFill>
                  <a:srgbClr val="FF0000"/>
                </a:solidFill>
              </a:rPr>
              <a:t>ข้อความ    </a:t>
            </a:r>
            <a:r>
              <a:rPr lang="en-US">
                <a:solidFill>
                  <a:srgbClr val="FF0000"/>
                </a:solidFill>
              </a:rPr>
              <a:t>&lt;/BIG&gt;</a:t>
            </a:r>
          </a:p>
          <a:p>
            <a:pPr eaLnBrk="1" hangingPunct="1"/>
            <a:endParaRPr lang="en-US">
              <a:solidFill>
                <a:srgbClr val="FF0000"/>
              </a:solidFill>
            </a:endParaRPr>
          </a:p>
          <a:p>
            <a:pPr eaLnBrk="1" hangingPunct="1"/>
            <a:r>
              <a:rPr lang="en-US"/>
              <a:t>&lt;SMALL&gt;	   </a:t>
            </a:r>
            <a:r>
              <a:rPr lang="th-TH"/>
              <a:t>ตัวขนาดเล็ก</a:t>
            </a: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&lt;SMALL&gt;     </a:t>
            </a:r>
            <a:r>
              <a:rPr lang="th-TH">
                <a:solidFill>
                  <a:srgbClr val="FF0000"/>
                </a:solidFill>
              </a:rPr>
              <a:t>ข้อความ    </a:t>
            </a:r>
            <a:r>
              <a:rPr lang="en-US">
                <a:solidFill>
                  <a:srgbClr val="FF0000"/>
                </a:solidFill>
              </a:rPr>
              <a:t>&lt;/SMALL&gt;</a:t>
            </a:r>
          </a:p>
          <a:p>
            <a:pPr eaLnBrk="1" hangingPunct="1"/>
            <a:endParaRPr lang="en-US">
              <a:solidFill>
                <a:srgbClr val="FF0000"/>
              </a:solidFill>
            </a:endParaRPr>
          </a:p>
          <a:p>
            <a:pPr eaLnBrk="1" hangingPunct="1"/>
            <a:r>
              <a:rPr lang="en-US"/>
              <a:t>&lt;B&gt;	   </a:t>
            </a:r>
            <a:r>
              <a:rPr lang="th-TH"/>
              <a:t>	   ตัวหนา</a:t>
            </a: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&lt;B&gt;     </a:t>
            </a:r>
            <a:r>
              <a:rPr lang="th-TH">
                <a:solidFill>
                  <a:srgbClr val="FF0000"/>
                </a:solidFill>
              </a:rPr>
              <a:t>ข้อความ    </a:t>
            </a:r>
            <a:r>
              <a:rPr lang="en-US">
                <a:solidFill>
                  <a:srgbClr val="FF0000"/>
                </a:solidFill>
              </a:rPr>
              <a:t>&lt;/B&gt;</a:t>
            </a:r>
          </a:p>
          <a:p>
            <a:pPr eaLnBrk="1" hangingPunct="1"/>
            <a:endParaRPr lang="en-US">
              <a:solidFill>
                <a:srgbClr val="FF0000"/>
              </a:solidFill>
            </a:endParaRPr>
          </a:p>
          <a:p>
            <a:pPr eaLnBrk="1" hangingPunct="1"/>
            <a:r>
              <a:rPr lang="en-US"/>
              <a:t>&lt;I&gt;	   </a:t>
            </a:r>
            <a:r>
              <a:rPr lang="th-TH"/>
              <a:t>	   ตัวเอียง</a:t>
            </a: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&lt;I&gt;     </a:t>
            </a:r>
            <a:r>
              <a:rPr lang="th-TH">
                <a:solidFill>
                  <a:srgbClr val="FF0000"/>
                </a:solidFill>
              </a:rPr>
              <a:t>ข้อความ    </a:t>
            </a:r>
            <a:r>
              <a:rPr lang="en-US">
                <a:solidFill>
                  <a:srgbClr val="FF0000"/>
                </a:solidFill>
              </a:rPr>
              <a:t>&lt;/I&gt;</a:t>
            </a:r>
          </a:p>
          <a:p>
            <a:pPr eaLnBrk="1" hangingPunct="1"/>
            <a:endParaRPr lang="th-TH">
              <a:solidFill>
                <a:srgbClr val="FF0000"/>
              </a:solidFill>
            </a:endParaRPr>
          </a:p>
          <a:p>
            <a:pPr eaLnBrk="1" hangingPunct="1"/>
            <a:r>
              <a:rPr lang="en-US"/>
              <a:t>&lt;U&gt;	   </a:t>
            </a:r>
            <a:r>
              <a:rPr lang="th-TH"/>
              <a:t>	   ขีดเส้นใต้</a:t>
            </a:r>
            <a:r>
              <a:rPr lang="en-US"/>
              <a:t>	</a:t>
            </a:r>
            <a:r>
              <a:rPr lang="en-US">
                <a:solidFill>
                  <a:srgbClr val="FF0000"/>
                </a:solidFill>
              </a:rPr>
              <a:t>&lt;U&gt;     </a:t>
            </a:r>
            <a:r>
              <a:rPr lang="th-TH">
                <a:solidFill>
                  <a:srgbClr val="FF0000"/>
                </a:solidFill>
              </a:rPr>
              <a:t>ข้อความ    </a:t>
            </a:r>
            <a:r>
              <a:rPr lang="en-US">
                <a:solidFill>
                  <a:srgbClr val="FF0000"/>
                </a:solidFill>
              </a:rPr>
              <a:t>&lt;/U&gt;</a:t>
            </a:r>
            <a:endParaRPr lang="th-TH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291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5400" b="1">
                <a:solidFill>
                  <a:srgbClr val="990000"/>
                </a:solidFill>
              </a:rPr>
              <a:t>ตัวอย่าง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2619375" y="1524000"/>
            <a:ext cx="7119938" cy="436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&lt;HTML&gt;</a:t>
            </a:r>
          </a:p>
          <a:p>
            <a:pPr eaLnBrk="1" hangingPunct="1"/>
            <a:r>
              <a:rPr lang="en-US"/>
              <a:t>&lt;HEAD&gt;</a:t>
            </a:r>
          </a:p>
          <a:p>
            <a:pPr eaLnBrk="1" hangingPunct="1"/>
            <a:r>
              <a:rPr lang="en-US"/>
              <a:t>&lt;TITLE&gt; </a:t>
            </a:r>
            <a:r>
              <a:rPr lang="th-TH"/>
              <a:t>ตัวอักษรแบบ </a:t>
            </a:r>
            <a:r>
              <a:rPr lang="en-US"/>
              <a:t>Physical Styles  &lt;/TITLE&gt;</a:t>
            </a:r>
          </a:p>
          <a:p>
            <a:pPr eaLnBrk="1" hangingPunct="1"/>
            <a:r>
              <a:rPr lang="en-US"/>
              <a:t>&lt;/HEAD&gt;</a:t>
            </a:r>
          </a:p>
          <a:p>
            <a:pPr eaLnBrk="1" hangingPunct="1"/>
            <a:r>
              <a:rPr lang="en-US"/>
              <a:t>&lt;BODY&gt;</a:t>
            </a:r>
            <a:endParaRPr lang="th-TH"/>
          </a:p>
          <a:p>
            <a:pPr eaLnBrk="1" hangingPunct="1"/>
            <a:r>
              <a:rPr lang="en-US"/>
              <a:t>	&lt;B&gt;</a:t>
            </a:r>
            <a:r>
              <a:rPr lang="th-TH"/>
              <a:t>ตัวอักษรแบบตัวหนา</a:t>
            </a:r>
            <a:r>
              <a:rPr lang="en-US"/>
              <a:t>&lt;/B&gt;&lt;BR&gt;</a:t>
            </a:r>
          </a:p>
          <a:p>
            <a:pPr eaLnBrk="1" hangingPunct="1"/>
            <a:r>
              <a:rPr lang="en-US"/>
              <a:t>	&lt;I&gt;</a:t>
            </a:r>
            <a:r>
              <a:rPr lang="th-TH"/>
              <a:t>ตัวอักษรแบบตัวเอียง</a:t>
            </a:r>
            <a:r>
              <a:rPr lang="en-US"/>
              <a:t>&lt;/I&gt;&lt;BR&gt;</a:t>
            </a:r>
          </a:p>
          <a:p>
            <a:pPr eaLnBrk="1" hangingPunct="1"/>
            <a:r>
              <a:rPr lang="en-US"/>
              <a:t>	&lt;U&gt;</a:t>
            </a:r>
            <a:r>
              <a:rPr lang="th-TH"/>
              <a:t>ตัวอักษรแบบขีดเส้นใต้</a:t>
            </a:r>
            <a:r>
              <a:rPr lang="en-US"/>
              <a:t>&lt;/U&gt;&lt;BR&gt;</a:t>
            </a:r>
            <a:endParaRPr lang="th-TH"/>
          </a:p>
          <a:p>
            <a:pPr eaLnBrk="1" hangingPunct="1"/>
            <a:r>
              <a:rPr lang="en-US"/>
              <a:t>&lt;</a:t>
            </a:r>
            <a:r>
              <a:rPr lang="th-TH"/>
              <a:t>/</a:t>
            </a:r>
            <a:r>
              <a:rPr lang="en-US"/>
              <a:t>BODY&gt;</a:t>
            </a:r>
            <a:endParaRPr lang="th-TH"/>
          </a:p>
          <a:p>
            <a:pPr eaLnBrk="1" hangingPunct="1"/>
            <a:r>
              <a:rPr lang="en-US"/>
              <a:t>&lt;</a:t>
            </a:r>
            <a:r>
              <a:rPr lang="th-TH"/>
              <a:t>/</a:t>
            </a:r>
            <a:r>
              <a:rPr lang="en-US"/>
              <a:t>HTML&gt; 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24551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WordArt 2"/>
          <p:cNvSpPr>
            <a:spLocks noChangeArrowheads="1" noChangeShapeType="1" noTextEdit="1"/>
          </p:cNvSpPr>
          <p:nvPr/>
        </p:nvSpPr>
        <p:spPr bwMode="auto">
          <a:xfrm>
            <a:off x="3287714" y="241301"/>
            <a:ext cx="498157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การกำหนดแบบตัวอักษร</a:t>
            </a:r>
          </a:p>
        </p:txBody>
      </p:sp>
      <p:sp>
        <p:nvSpPr>
          <p:cNvPr id="10243" name="Text Box 3"/>
          <p:cNvSpPr txBox="1">
            <a:spLocks noChangeArrowheads="1"/>
          </p:cNvSpPr>
          <p:nvPr/>
        </p:nvSpPr>
        <p:spPr bwMode="auto">
          <a:xfrm>
            <a:off x="2208213" y="1052513"/>
            <a:ext cx="762356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&lt;FONT FACE=“Font1,Font2”&gt;  </a:t>
            </a:r>
            <a:r>
              <a:rPr lang="th-TH"/>
              <a:t>ข้อความ  </a:t>
            </a:r>
            <a:r>
              <a:rPr lang="en-US"/>
              <a:t>&lt;/FONT&gt;</a:t>
            </a:r>
            <a:endParaRPr lang="en-US">
              <a:solidFill>
                <a:srgbClr val="663300"/>
              </a:solidFill>
            </a:endParaRPr>
          </a:p>
        </p:txBody>
      </p:sp>
      <p:sp>
        <p:nvSpPr>
          <p:cNvPr id="10244" name="Text Box 5"/>
          <p:cNvSpPr txBox="1">
            <a:spLocks noChangeArrowheads="1"/>
          </p:cNvSpPr>
          <p:nvPr/>
        </p:nvSpPr>
        <p:spPr bwMode="auto">
          <a:xfrm>
            <a:off x="2566989" y="1628776"/>
            <a:ext cx="6447599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			</a:t>
            </a:r>
            <a:r>
              <a:rPr lang="th-TH">
                <a:solidFill>
                  <a:srgbClr val="FF0000"/>
                </a:solidFill>
              </a:rPr>
              <a:t>ตัวอย่าง</a:t>
            </a:r>
            <a:endParaRPr lang="en-US">
              <a:solidFill>
                <a:srgbClr val="FF0000"/>
              </a:solidFill>
            </a:endParaRPr>
          </a:p>
          <a:p>
            <a:pPr eaLnBrk="1" hangingPunct="1"/>
            <a:r>
              <a:rPr lang="en-US"/>
              <a:t>&lt;HTML&gt;</a:t>
            </a:r>
          </a:p>
          <a:p>
            <a:pPr eaLnBrk="1" hangingPunct="1"/>
            <a:r>
              <a:rPr lang="en-US"/>
              <a:t>&lt;HEAD&gt;</a:t>
            </a:r>
          </a:p>
          <a:p>
            <a:pPr eaLnBrk="1" hangingPunct="1"/>
            <a:r>
              <a:rPr lang="en-US"/>
              <a:t>&lt;TITLE&gt; </a:t>
            </a:r>
            <a:r>
              <a:rPr lang="th-TH"/>
              <a:t>การกำหนดรูปแบบของตัวอักษร</a:t>
            </a:r>
            <a:r>
              <a:rPr lang="en-US"/>
              <a:t>  &lt;/TITLE&gt;</a:t>
            </a:r>
          </a:p>
          <a:p>
            <a:pPr eaLnBrk="1" hangingPunct="1"/>
            <a:r>
              <a:rPr lang="en-US"/>
              <a:t>&lt;/HEAD&gt;</a:t>
            </a:r>
          </a:p>
          <a:p>
            <a:pPr eaLnBrk="1" hangingPunct="1"/>
            <a:r>
              <a:rPr lang="en-US"/>
              <a:t>&lt;BODY&gt;</a:t>
            </a:r>
            <a:endParaRPr lang="th-TH"/>
          </a:p>
          <a:p>
            <a:pPr eaLnBrk="1" hangingPunct="1"/>
            <a:r>
              <a:rPr lang="en-US"/>
              <a:t>&lt;FONT FACE=“AngsanaUPC”&gt;</a:t>
            </a:r>
            <a:endParaRPr lang="th-TH"/>
          </a:p>
          <a:p>
            <a:pPr eaLnBrk="1" hangingPunct="1"/>
            <a:r>
              <a:rPr lang="th-TH"/>
              <a:t>รูปแบบตัวอักษร</a:t>
            </a:r>
            <a:r>
              <a:rPr lang="en-US"/>
              <a:t> </a:t>
            </a:r>
            <a:r>
              <a:rPr lang="th-TH"/>
              <a:t>แบบ </a:t>
            </a:r>
            <a:r>
              <a:rPr lang="en-US"/>
              <a:t>AngsanaUPC&lt;/FONT&gt;</a:t>
            </a:r>
          </a:p>
          <a:p>
            <a:pPr eaLnBrk="1" hangingPunct="1"/>
            <a:r>
              <a:rPr lang="en-US"/>
              <a:t>&lt;</a:t>
            </a:r>
            <a:r>
              <a:rPr lang="th-TH"/>
              <a:t>/</a:t>
            </a:r>
            <a:r>
              <a:rPr lang="en-US"/>
              <a:t>BODY&gt;</a:t>
            </a:r>
            <a:endParaRPr lang="th-TH"/>
          </a:p>
          <a:p>
            <a:pPr eaLnBrk="1" hangingPunct="1"/>
            <a:r>
              <a:rPr lang="en-US"/>
              <a:t>&lt;</a:t>
            </a:r>
            <a:r>
              <a:rPr lang="th-TH"/>
              <a:t>/</a:t>
            </a:r>
            <a:r>
              <a:rPr lang="en-US"/>
              <a:t>HTML&gt; </a:t>
            </a: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1498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WordArt 2"/>
          <p:cNvSpPr>
            <a:spLocks noChangeArrowheads="1" noChangeShapeType="1" noTextEdit="1"/>
          </p:cNvSpPr>
          <p:nvPr/>
        </p:nvSpPr>
        <p:spPr bwMode="auto">
          <a:xfrm>
            <a:off x="3287714" y="241301"/>
            <a:ext cx="498157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ln w="9525">
                  <a:solidFill>
                    <a:schemeClr val="tx1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9999FF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การกำหนดสีของตัวอักษร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2208213" y="1052514"/>
            <a:ext cx="7604902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&lt;FONT COLOR=ColorName&gt;  </a:t>
            </a:r>
            <a:r>
              <a:rPr lang="th-TH"/>
              <a:t>ข้อความ  </a:t>
            </a:r>
            <a:r>
              <a:rPr lang="en-US"/>
              <a:t>&lt;/FONT&gt;</a:t>
            </a:r>
          </a:p>
          <a:p>
            <a:pPr eaLnBrk="1" hangingPunct="1"/>
            <a:r>
              <a:rPr lang="th-TH">
                <a:solidFill>
                  <a:srgbClr val="006600"/>
                </a:solidFill>
              </a:rPr>
              <a:t>คำสั่งนี้เป็นคำสั่งที่ใช้สำหรับกำหนดสีของตัวอักษร เฉพาะตัวอักษรที่ต้องการ</a:t>
            </a:r>
          </a:p>
          <a:p>
            <a:pPr eaLnBrk="1" hangingPunct="1"/>
            <a:endParaRPr lang="th-TH" sz="1800">
              <a:solidFill>
                <a:srgbClr val="006600"/>
              </a:solidFill>
            </a:endParaRPr>
          </a:p>
          <a:p>
            <a:pPr eaLnBrk="1" hangingPunct="1"/>
            <a:r>
              <a:rPr lang="en-US"/>
              <a:t>&lt;BODY TEXT=ColorName&gt;</a:t>
            </a:r>
          </a:p>
          <a:p>
            <a:pPr eaLnBrk="1" hangingPunct="1"/>
            <a:r>
              <a:rPr lang="th-TH">
                <a:solidFill>
                  <a:srgbClr val="006600"/>
                </a:solidFill>
              </a:rPr>
              <a:t>คำสั่งนี้เป็นคำสั่งที่ใช้สำหรับกำหนดสีของตัวอักษรทั้งเอกสาร</a:t>
            </a:r>
            <a:endParaRPr lang="en-US">
              <a:solidFill>
                <a:srgbClr val="006600"/>
              </a:solidFill>
            </a:endParaRPr>
          </a:p>
        </p:txBody>
      </p:sp>
      <p:sp>
        <p:nvSpPr>
          <p:cNvPr id="11268" name="WordArt 5" descr="ลายเส้นแนวตั้งถี่ๆ"/>
          <p:cNvSpPr>
            <a:spLocks noChangeArrowheads="1" noChangeShapeType="1" noTextEdit="1"/>
          </p:cNvSpPr>
          <p:nvPr/>
        </p:nvSpPr>
        <p:spPr bwMode="auto">
          <a:xfrm>
            <a:off x="3216276" y="3409951"/>
            <a:ext cx="4981575" cy="52387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th-TH" sz="3600" kern="10">
                <a:ln w="12700">
                  <a:solidFill>
                    <a:schemeClr val="tx1"/>
                  </a:solidFill>
                  <a:round/>
                  <a:headEnd/>
                  <a:tailEnd/>
                </a:ln>
                <a:pattFill prst="dashHorz">
                  <a:fgClr>
                    <a:srgbClr val="808080"/>
                  </a:fgClr>
                  <a:bgClr>
                    <a:srgbClr val="FFFF00"/>
                  </a:bgClr>
                </a:pattFill>
                <a:effectLst>
                  <a:outerShdw dist="45791" dir="2021404" algn="ctr" rotWithShape="0">
                    <a:srgbClr val="808080">
                      <a:alpha val="79999"/>
                    </a:srgbClr>
                  </a:outerShdw>
                </a:effectLst>
                <a:latin typeface="Angsana New" panose="02020603050405020304" pitchFamily="18" charset="-34"/>
              </a:rPr>
              <a:t>การกำหนดขนาดของตัวอักษร</a:t>
            </a:r>
          </a:p>
        </p:txBody>
      </p:sp>
      <p:sp>
        <p:nvSpPr>
          <p:cNvPr id="11269" name="Text Box 6"/>
          <p:cNvSpPr txBox="1">
            <a:spLocks noChangeArrowheads="1"/>
          </p:cNvSpPr>
          <p:nvPr/>
        </p:nvSpPr>
        <p:spPr bwMode="auto">
          <a:xfrm>
            <a:off x="2135188" y="4233863"/>
            <a:ext cx="8026400" cy="2074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cs typeface="Angsana New" panose="02020603050405020304" pitchFamily="18" charset="-34"/>
              </a:defRPr>
            </a:lvl9pPr>
          </a:lstStyle>
          <a:p>
            <a:pPr eaLnBrk="1" hangingPunct="1"/>
            <a:r>
              <a:rPr lang="en-US"/>
              <a:t>&lt;FONT SIZE=ValueSize&gt;  </a:t>
            </a:r>
            <a:r>
              <a:rPr lang="th-TH"/>
              <a:t>ข้อความ  </a:t>
            </a:r>
            <a:r>
              <a:rPr lang="en-US"/>
              <a:t>&lt;/FONT&gt;</a:t>
            </a:r>
          </a:p>
          <a:p>
            <a:pPr eaLnBrk="1" hangingPunct="1"/>
            <a:r>
              <a:rPr lang="th-TH">
                <a:solidFill>
                  <a:srgbClr val="990000"/>
                </a:solidFill>
              </a:rPr>
              <a:t>เป็นคำสั่งสำหรับกำหนดขนาดของตัวอักษรแบบสมบูรณ์ มีค่าตั้งแต่ขนาด </a:t>
            </a:r>
            <a:r>
              <a:rPr lang="en-US">
                <a:solidFill>
                  <a:srgbClr val="990000"/>
                </a:solidFill>
              </a:rPr>
              <a:t>1 </a:t>
            </a:r>
            <a:r>
              <a:rPr lang="th-TH">
                <a:solidFill>
                  <a:srgbClr val="990000"/>
                </a:solidFill>
              </a:rPr>
              <a:t>ถึง </a:t>
            </a:r>
            <a:r>
              <a:rPr lang="en-US">
                <a:solidFill>
                  <a:srgbClr val="990000"/>
                </a:solidFill>
              </a:rPr>
              <a:t>7</a:t>
            </a:r>
            <a:endParaRPr lang="th-TH">
              <a:solidFill>
                <a:srgbClr val="990000"/>
              </a:solidFill>
            </a:endParaRPr>
          </a:p>
          <a:p>
            <a:pPr eaLnBrk="1" hangingPunct="1"/>
            <a:endParaRPr lang="th-TH" sz="1800">
              <a:solidFill>
                <a:srgbClr val="006600"/>
              </a:solidFill>
            </a:endParaRPr>
          </a:p>
          <a:p>
            <a:pPr eaLnBrk="1" hangingPunct="1"/>
            <a:r>
              <a:rPr lang="en-US"/>
              <a:t>&lt;BASEFONT SIZE=Value&gt;</a:t>
            </a:r>
          </a:p>
          <a:p>
            <a:pPr eaLnBrk="1" hangingPunct="1"/>
            <a:r>
              <a:rPr lang="th-TH">
                <a:solidFill>
                  <a:srgbClr val="990000"/>
                </a:solidFill>
              </a:rPr>
              <a:t>คำสั่งนี้จะเป็นการกำหนดขนาดของตัวอักษรทั้งเอกสาร</a:t>
            </a:r>
            <a:endParaRPr lang="en-US">
              <a:solidFill>
                <a:srgbClr val="99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0619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8" y="409575"/>
            <a:ext cx="8443912" cy="1219200"/>
          </a:xfrm>
        </p:spPr>
        <p:txBody>
          <a:bodyPr/>
          <a:lstStyle/>
          <a:p>
            <a:pPr eaLnBrk="1" hangingPunct="1">
              <a:defRPr/>
            </a:pPr>
            <a:r>
              <a:rPr lang="th-TH" sz="3600">
                <a:cs typeface="CordiaUPC" pitchFamily="34" charset="-34"/>
              </a:rPr>
              <a:t>การจัดรูปแบบย่อหน้าในลักษณะของหัวข้อ</a:t>
            </a:r>
            <a:r>
              <a:rPr lang="en-US" sz="3600">
                <a:cs typeface="CordiaUPC" pitchFamily="34" charset="-34"/>
              </a:rPr>
              <a:t> (</a:t>
            </a:r>
            <a:r>
              <a:rPr lang="th-TH" sz="3600">
                <a:cs typeface="CordiaUPC" pitchFamily="34" charset="-34"/>
              </a:rPr>
              <a:t>Heading</a:t>
            </a:r>
            <a:r>
              <a:rPr lang="en-US" sz="3600">
                <a:cs typeface="CordiaUPC" pitchFamily="34" charset="-34"/>
              </a:rPr>
              <a:t>)</a:t>
            </a:r>
            <a:r>
              <a:rPr lang="th-TH" sz="3600">
                <a:cs typeface="CordiaUPC" pitchFamily="34" charset="-34"/>
              </a:rPr>
              <a:t/>
            </a:r>
            <a:br>
              <a:rPr lang="th-TH" sz="3600">
                <a:cs typeface="CordiaUPC" pitchFamily="34" charset="-34"/>
              </a:rPr>
            </a:br>
            <a:endParaRPr lang="th-TH" sz="3600">
              <a:cs typeface="CordiaUPC" pitchFamily="34" charset="-34"/>
            </a:endParaRPr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1703388" y="1752600"/>
            <a:ext cx="8443912" cy="4495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h-TH"/>
              <a:t>   </a:t>
            </a:r>
            <a:r>
              <a:rPr lang="th-TH" sz="3200" b="1">
                <a:cs typeface="CordiaUPC" panose="020B0304020202020204" pitchFamily="34" charset="-34"/>
              </a:rPr>
              <a:t>การจัดรูปแบบให้กับหัวเรื่องจะมีทั้งหมด 6 รูปแบบด้วยกันเรียงตามลำดับขนาดใหญ่ไปหาเล็กดังนี้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1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2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3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4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5 </a:t>
            </a:r>
          </a:p>
          <a:p>
            <a:pPr lvl="1" eaLnBrk="1" hangingPunct="1">
              <a:lnSpc>
                <a:spcPct val="80000"/>
              </a:lnSpc>
            </a:pPr>
            <a:r>
              <a:rPr lang="th-TH" b="1" smtClean="0">
                <a:effectLst/>
                <a:cs typeface="CordiaUPC" panose="020B0304020202020204" pitchFamily="34" charset="-34"/>
              </a:rPr>
              <a:t>Heading 6 </a:t>
            </a:r>
            <a:br>
              <a:rPr lang="th-TH" b="1" smtClean="0">
                <a:effectLst/>
                <a:cs typeface="CordiaUPC" panose="020B0304020202020204" pitchFamily="34" charset="-34"/>
              </a:rPr>
            </a:br>
            <a:endParaRPr lang="th-TH" b="1" smtClean="0">
              <a:effectLst/>
              <a:cs typeface="CordiaUPC" panose="020B0304020202020204" pitchFamily="34" charset="-34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3200" b="1">
              <a:cs typeface="CordiaUPC" panose="020B0304020202020204" pitchFamily="34" charset="-34"/>
            </a:endParaRPr>
          </a:p>
        </p:txBody>
      </p:sp>
      <p:sp>
        <p:nvSpPr>
          <p:cNvPr id="7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2DDB3C0-65D5-41B0-AAB0-1B9CF6E44C5E}" type="slidenum">
              <a:rPr lang="en-US"/>
              <a:pPr eaLnBrk="1" hangingPunct="1"/>
              <a:t>22</a:t>
            </a:fld>
            <a:endParaRPr lang="th-TH"/>
          </a:p>
        </p:txBody>
      </p:sp>
      <p:sp>
        <p:nvSpPr>
          <p:cNvPr id="24581" name="Text Box 4"/>
          <p:cNvSpPr txBox="1">
            <a:spLocks noChangeArrowheads="1"/>
          </p:cNvSpPr>
          <p:nvPr/>
        </p:nvSpPr>
        <p:spPr bwMode="auto">
          <a:xfrm>
            <a:off x="6096000" y="3429000"/>
            <a:ext cx="4191000" cy="641350"/>
          </a:xfrm>
          <a:prstGeom prst="rect">
            <a:avLst/>
          </a:prstGeom>
          <a:solidFill>
            <a:srgbClr val="FEFEC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600" b="1">
                <a:cs typeface="CordiaUPC" panose="020B0304020202020204" pitchFamily="34" charset="-34"/>
              </a:rPr>
              <a:t>&lt;H1&gt;</a:t>
            </a:r>
            <a:r>
              <a:rPr lang="th-TH" sz="3600" b="1">
                <a:cs typeface="CordiaUPC" panose="020B0304020202020204" pitchFamily="34" charset="-34"/>
              </a:rPr>
              <a:t>ข้อความ</a:t>
            </a:r>
            <a:r>
              <a:rPr lang="en-US" sz="3600" b="1">
                <a:cs typeface="CordiaUPC" panose="020B0304020202020204" pitchFamily="34" charset="-34"/>
              </a:rPr>
              <a:t>&lt;/H1&gt;</a:t>
            </a:r>
            <a:endParaRPr lang="th-TH" sz="3600" b="1">
              <a:cs typeface="CordiaUPC" panose="020B0304020202020204" pitchFamily="34" charset="-34"/>
            </a:endParaRPr>
          </a:p>
        </p:txBody>
      </p:sp>
      <p:sp>
        <p:nvSpPr>
          <p:cNvPr id="24582" name="Text Box 5"/>
          <p:cNvSpPr txBox="1">
            <a:spLocks noChangeArrowheads="1"/>
          </p:cNvSpPr>
          <p:nvPr/>
        </p:nvSpPr>
        <p:spPr bwMode="auto">
          <a:xfrm>
            <a:off x="6096001" y="2787650"/>
            <a:ext cx="13112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th-TH" sz="3600" b="1">
                <a:solidFill>
                  <a:schemeClr val="folHlink"/>
                </a:solidFill>
                <a:cs typeface="CordiaUPC" panose="020B0304020202020204" pitchFamily="34" charset="-34"/>
              </a:rPr>
              <a:t>รูปแบบ</a:t>
            </a:r>
          </a:p>
        </p:txBody>
      </p:sp>
    </p:spTree>
    <p:extLst>
      <p:ext uri="{BB962C8B-B14F-4D97-AF65-F5344CB8AC3E}">
        <p14:creationId xmlns:p14="http://schemas.microsoft.com/office/powerpoint/2010/main" val="2808729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0" y="0"/>
            <a:ext cx="9144000" cy="6858000"/>
          </a:xfr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&lt;html&gt;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&lt;title&gt;Heading&lt;/title&gt;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&lt;/head&gt;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&lt;body&gt;</a:t>
            </a:r>
            <a:endParaRPr lang="en-US" sz="3500" b="1">
              <a:cs typeface="CordiaUPC" panose="020B0304020202020204" pitchFamily="34" charset="-34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>
                <a:cs typeface="CordiaUPC" panose="020B0304020202020204" pitchFamily="34" charset="-34"/>
              </a:rPr>
              <a:t>		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&lt;h1&gt;</a:t>
            </a:r>
            <a:r>
              <a:rPr lang="en-US" sz="3500">
                <a:solidFill>
                  <a:srgbClr val="0000CC"/>
                </a:solidFill>
                <a:cs typeface="CordiaUPC" panose="020B0304020202020204" pitchFamily="34" charset="-34"/>
              </a:rPr>
              <a:t>Heading 1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&lt;/h1&gt;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>
                <a:cs typeface="CordiaUPC" panose="020B0304020202020204" pitchFamily="34" charset="-34"/>
              </a:rPr>
              <a:t>		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&lt;h2&gt;</a:t>
            </a:r>
            <a:r>
              <a:rPr lang="en-US" sz="3500">
                <a:solidFill>
                  <a:srgbClr val="0000CC"/>
                </a:solidFill>
                <a:cs typeface="CordiaUPC" panose="020B0304020202020204" pitchFamily="34" charset="-34"/>
              </a:rPr>
              <a:t>Heading 2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&lt;/h2&gt;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>
                <a:cs typeface="CordiaUPC" panose="020B0304020202020204" pitchFamily="34" charset="-34"/>
              </a:rPr>
              <a:t>		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&lt;h3&gt;</a:t>
            </a:r>
            <a:r>
              <a:rPr lang="en-US" sz="3500">
                <a:solidFill>
                  <a:srgbClr val="0000CC"/>
                </a:solidFill>
                <a:cs typeface="CordiaUPC" panose="020B0304020202020204" pitchFamily="34" charset="-34"/>
              </a:rPr>
              <a:t>Heading 3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&lt;/h3&gt;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>
                <a:cs typeface="CordiaUPC" panose="020B0304020202020204" pitchFamily="34" charset="-34"/>
              </a:rPr>
              <a:t>		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&lt;h4&gt;</a:t>
            </a:r>
            <a:r>
              <a:rPr lang="en-US" sz="3500">
                <a:solidFill>
                  <a:srgbClr val="0000CC"/>
                </a:solidFill>
                <a:cs typeface="CordiaUPC" panose="020B0304020202020204" pitchFamily="34" charset="-34"/>
              </a:rPr>
              <a:t>Heading 4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&lt;/h4&gt;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>
                <a:cs typeface="CordiaUPC" panose="020B0304020202020204" pitchFamily="34" charset="-34"/>
              </a:rPr>
              <a:t>		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&lt;h5&gt;</a:t>
            </a:r>
            <a:r>
              <a:rPr lang="en-US" sz="3500">
                <a:solidFill>
                  <a:srgbClr val="0000CC"/>
                </a:solidFill>
                <a:cs typeface="CordiaUPC" panose="020B0304020202020204" pitchFamily="34" charset="-34"/>
              </a:rPr>
              <a:t>Heading 5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&lt;/h5&gt;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 b="1">
                <a:cs typeface="CordiaUPC" panose="020B0304020202020204" pitchFamily="34" charset="-34"/>
              </a:rPr>
              <a:t>		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&lt;h6&gt;</a:t>
            </a:r>
            <a:r>
              <a:rPr lang="en-US" sz="3500">
                <a:solidFill>
                  <a:srgbClr val="0000CC"/>
                </a:solidFill>
                <a:cs typeface="CordiaUPC" panose="020B0304020202020204" pitchFamily="34" charset="-34"/>
              </a:rPr>
              <a:t>Heading 6</a:t>
            </a:r>
            <a:r>
              <a:rPr lang="en-US" sz="3500" b="1">
                <a:solidFill>
                  <a:schemeClr val="hlink"/>
                </a:solidFill>
                <a:cs typeface="CordiaUPC" panose="020B0304020202020204" pitchFamily="34" charset="-34"/>
              </a:rPr>
              <a:t>&lt;/h6&gt;</a:t>
            </a:r>
            <a:endParaRPr lang="en-US" sz="3500">
              <a:solidFill>
                <a:schemeClr val="hlink"/>
              </a:solidFill>
              <a:cs typeface="CordiaUPC" panose="020B0304020202020204" pitchFamily="34" charset="-34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&lt;/body&gt;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3500">
                <a:cs typeface="CordiaUPC" panose="020B0304020202020204" pitchFamily="34" charset="-34"/>
              </a:rPr>
              <a:t>	&lt;/html&gt; </a:t>
            </a:r>
          </a:p>
        </p:txBody>
      </p:sp>
    </p:spTree>
    <p:extLst>
      <p:ext uri="{BB962C8B-B14F-4D97-AF65-F5344CB8AC3E}">
        <p14:creationId xmlns:p14="http://schemas.microsoft.com/office/powerpoint/2010/main" val="679027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08314" y="0"/>
            <a:ext cx="6175375" cy="6858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544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  <a:cs typeface="AngsanaUPC" pitchFamily="18" charset="-34"/>
              </a:rPr>
              <a:t>คำสั่งจัดข้อความให้อยู่ตรงกลางบรรทัด(Center)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 tag คู่ 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CENTER&gt; มีรูปแบบดังนี้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B970E82-34F3-4C18-B8D7-4F7A86E79A0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0485" name="Rectangle 4"/>
          <p:cNvSpPr>
            <a:spLocks noChangeArrowheads="1"/>
          </p:cNvSpPr>
          <p:nvPr/>
        </p:nvSpPr>
        <p:spPr bwMode="auto">
          <a:xfrm>
            <a:off x="2923030" y="2665393"/>
            <a:ext cx="4105275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&lt;CENTER&gt; ข้อความ &lt;/CENTER&gt;</a:t>
            </a:r>
          </a:p>
        </p:txBody>
      </p:sp>
      <p:sp>
        <p:nvSpPr>
          <p:cNvPr id="20486" name="Rectangle 5"/>
          <p:cNvSpPr>
            <a:spLocks noChangeArrowheads="1"/>
          </p:cNvSpPr>
          <p:nvPr/>
        </p:nvSpPr>
        <p:spPr bwMode="auto">
          <a:xfrm>
            <a:off x="2927350" y="3500438"/>
            <a:ext cx="6192838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&lt;CENTER&gt;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     	This is text with CENTER tag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&lt;/CENTER&gt;</a:t>
            </a:r>
          </a:p>
        </p:txBody>
      </p:sp>
    </p:spTree>
    <p:extLst>
      <p:ext uri="{BB962C8B-B14F-4D97-AF65-F5344CB8AC3E}">
        <p14:creationId xmlns:p14="http://schemas.microsoft.com/office/powerpoint/2010/main" val="2375988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  <a:cs typeface="AngsanaUPC" pitchFamily="18" charset="-34"/>
              </a:rPr>
              <a:t>การตีเส้นตรงแนวนอนในเอกสาร HTML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การตีเส้นตรงแนวนอน (Horizontal line) ใช้  tag เดี่ยว &lt;HR&gt; มีรูปแบบดังนี้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9EC1D78-D8B4-4BB4-AFD3-320E7DB72E7E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1509" name="Rectangle 4"/>
          <p:cNvSpPr>
            <a:spLocks noChangeArrowheads="1"/>
          </p:cNvSpPr>
          <p:nvPr/>
        </p:nvSpPr>
        <p:spPr bwMode="auto">
          <a:xfrm>
            <a:off x="4078289" y="2492375"/>
            <a:ext cx="4105275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&lt;HR&gt;</a:t>
            </a:r>
          </a:p>
        </p:txBody>
      </p:sp>
      <p:sp>
        <p:nvSpPr>
          <p:cNvPr id="21510" name="Rectangle 5"/>
          <p:cNvSpPr>
            <a:spLocks noChangeArrowheads="1"/>
          </p:cNvSpPr>
          <p:nvPr/>
        </p:nvSpPr>
        <p:spPr bwMode="auto">
          <a:xfrm>
            <a:off x="2927350" y="3859213"/>
            <a:ext cx="6192838" cy="12954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The following is horizontal line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	&lt;HR&gt;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	 The rest of this is just more text</a:t>
            </a:r>
          </a:p>
        </p:txBody>
      </p:sp>
    </p:spTree>
    <p:extLst>
      <p:ext uri="{BB962C8B-B14F-4D97-AF65-F5344CB8AC3E}">
        <p14:creationId xmlns:p14="http://schemas.microsoft.com/office/powerpoint/2010/main" val="819291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ngsanaUPC" pitchFamily="18" charset="-34"/>
              </a:rPr>
              <a:t>การกำหนดลักษณะของเส้นตรงแนวนอน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เดี่ยว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 &lt;HR&gt; 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กำหนด  ความหนา ความยาว ตำแหน่งและแสดงผลเส้นทึบของเส้นได้ดังนี้</a:t>
            </a: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SIZE = n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  ความหนาของเส้น ขนาดปกติ 2 pixel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WIDTH = m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 กำหนดความยาวของเส้น ถ้าไม่ระบุจะยาวเต็มจอภาพ   อาจระบุเป็น % ก็ได้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ALIGN = LEFT|RIGHT|CENTER  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กำหนดตำแหน่งเส้นตรงแนวนอน หากเส้นยาวไม่เต็มจอภาพ กำหนดได้เป็น LEFT, RIGHT, CENTER 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NOSHADE </a:t>
            </a:r>
            <a:r>
              <a:rPr lang="th-TH" sz="2000" dirty="0">
                <a:latin typeface="Tahoma" panose="020B0604030504040204" pitchFamily="34" charset="0"/>
                <a:cs typeface="Tahoma" panose="020B0604030504040204" pitchFamily="34" charset="0"/>
              </a:rPr>
              <a:t>กำหนดเส้นตรงแนวนอน แบบทึบไม่มีเงา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2AA3FF8-A4CA-4212-B2FC-3E08267758F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2533" name="Rectangle 4"/>
          <p:cNvSpPr>
            <a:spLocks noChangeArrowheads="1"/>
          </p:cNvSpPr>
          <p:nvPr/>
        </p:nvSpPr>
        <p:spPr bwMode="auto">
          <a:xfrm>
            <a:off x="1807018" y="2800949"/>
            <a:ext cx="6337300" cy="7207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&lt;HR   SIZE = n WIDTH = m 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	ALIGN = position  NOSHADE</a:t>
            </a:r>
            <a:r>
              <a:rPr lang="th-TH" sz="24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781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ngsanaUPC" pitchFamily="18" charset="-34"/>
              </a:rPr>
              <a:t>ตัวอย่างการกำหนดเส้นตรงแนวนอน</a:t>
            </a:r>
          </a:p>
        </p:txBody>
      </p:sp>
      <p:sp>
        <p:nvSpPr>
          <p:cNvPr id="23556" name="Rectangle 4"/>
          <p:cNvSpPr>
            <a:spLocks noGrp="1" noChangeArrowheads="1"/>
          </p:cNvSpPr>
          <p:nvPr>
            <p:ph idx="1"/>
          </p:nvPr>
        </p:nvSpPr>
        <p:spPr>
          <a:xfrm>
            <a:off x="2279650" y="1557338"/>
            <a:ext cx="7772400" cy="4114800"/>
          </a:xfrm>
          <a:noFill/>
        </p:spPr>
        <p:txBody>
          <a:bodyPr vert="horz" lIns="92075" tIns="46038" rIns="92075" bIns="46038" rtlCol="0">
            <a:normAutofit fontScale="85000" lnSpcReduction="2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&lt;HTML&gt;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&lt;BODY&gt;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&lt;HR SIZE= 40 WIDTH=50% ALIGN = LEFT&gt;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  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&lt;HR SIZE= 20 WIDTH=40% ALIGN = LEFT&gt;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&lt;HR NOSHADE SIZE= 10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  WIDTH=50% ALIGN = LEFT&gt;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&lt;HR NOSHADE SIZE= 100 WIDTH=1% 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&lt;HR NOSHADE SIZE= 80 WIDTH= 1% 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&lt;/BODY&gt;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&lt;/HTML&gt;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9FAA7744-0632-472B-8AAF-83AE92A1E92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5822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4" charset="0"/>
                <a:cs typeface="AngsanaUPC" pitchFamily="18" charset="-34"/>
              </a:rPr>
              <a:t>การกำหนดรูปแบบตัวอักษร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 tag ที่กำหนดคุณลักษณะของตัวอักษรกำกับข้อความที่ต้องการ แบ่งตามการใช้งานมี 2 ประเภท คือ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1. Physical Character Styles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กำหนดรูปแบบบังคับให้กับข้อความ คุณลักษณะของตัวอักษรแบบที่ต้องการแสดงบนจอภาพ เรียกว่า Fixed type style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2. Logical Character Style </a:t>
            </a:r>
            <a:r>
              <a:rPr lang="th-TH" sz="2000">
                <a:latin typeface="Tahoma" panose="020B0604030504040204" pitchFamily="34" charset="0"/>
                <a:cs typeface="Tahoma" panose="020B0604030504040204" pitchFamily="34" charset="0"/>
              </a:rPr>
              <a:t>ผลจากการอ่านจากโปรแกรม Browser ที่ต่างชนิดกันอาจจะแสดงผลไม่เหมือนกัน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DF9FB4C2-1261-4D5E-98F1-E1B46FB735F6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29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00324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Physical Character style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1990726" y="1746250"/>
            <a:ext cx="7921625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ตัวเข้ม(Bold) 			&lt;B&gt; ...&lt;/B&gt;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ตัวเอน (Italic)   	       	&lt;I&gt;…&lt;/I&gt;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ตัวขีดเส้นใต้(Underline)     	&lt;U&gt;…&lt;/U&gt;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ตัวกระพริบ		       	&lt;BLINK&gt;...&lt;/BLINK&gt;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ตัวอักษรกว้างเท่ากันทุกตัว(Typewriter text)  					       		&lt;TT&gt;….&lt;/TT&gt;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ตัวขีดทับข้อความ                	&lt;STRIKE&gt;...&lt;/STRIKE&gt; หรือ               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                        		&lt;S&gt;...&lt;/S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E95670E-B8C3-4688-B5B2-ADA7E33C322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79890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Logical Character Style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746250"/>
            <a:ext cx="7924800" cy="4419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ตัวอักษรหนา			 &lt;STRONG&gt;…&lt;/STRONG&gt;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ตัวอักษรที่เน้นข้อความและค่าตัวเลข	 &lt;VAR&gt;….&lt;/VAR&gt;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ตัวอักษรแบบตัวห้อย		 &lt;SUB&gt;….&lt;/SUB&gt;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ตัวอักษรแบบตัวยกขึ้น		 &lt;SUP&gt;….&lt;/SUP&gt;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ตัวอักษรใหญ่			 &lt;BIG&gt;….&lt;/BIG&gt;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ตัวอักษรแบบตัวเล็ก		 &lt;SMALL&gt;….&lt;/SMALL&gt; 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22D1DA5-655A-4772-87B0-5989EAA89C8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72025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การจัดวางตำแหน่งข้อความ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กำหนดตำแหน่งข้อความให้ชิดซ้าย ขวา หรืออยู่กึ่งกลางจอภาพ ให้กำหนด attribute  ดังนี้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/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AA1D9E6-A12E-4F3D-A007-9EFEBFAA4EF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8677" name="Rectangle 4"/>
          <p:cNvSpPr>
            <a:spLocks noChangeArrowheads="1"/>
          </p:cNvSpPr>
          <p:nvPr/>
        </p:nvSpPr>
        <p:spPr bwMode="auto">
          <a:xfrm>
            <a:off x="2434443" y="2862283"/>
            <a:ext cx="5630182" cy="5032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b="1" dirty="0"/>
              <a:t>ALIGN=LEFT | RIGHT | CENTER</a:t>
            </a:r>
            <a:r>
              <a:rPr lang="th-TH" dirty="0"/>
              <a:t> </a:t>
            </a:r>
          </a:p>
        </p:txBody>
      </p:sp>
      <p:sp>
        <p:nvSpPr>
          <p:cNvPr id="28678" name="Rectangle 5"/>
          <p:cNvSpPr>
            <a:spLocks noChangeArrowheads="1"/>
          </p:cNvSpPr>
          <p:nvPr/>
        </p:nvSpPr>
        <p:spPr bwMode="auto">
          <a:xfrm>
            <a:off x="3359151" y="3860801"/>
            <a:ext cx="5832475" cy="20161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&lt;H1&gt;&lt;P ALIGN=LEFT&gt; 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Dept. of Computer Science &lt;/P&gt;&lt;/H1&gt;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&lt;H2&gt;&lt;P ALIGN=CENTER&gt; 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Dept. of Computer Science &lt;/P&gt;&lt;/H2&gt;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&lt;H2&gt;&lt;P ALIGN=RIGHT 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	Dept. of Computer Science &lt;/P&gt;&lt;/H2&gt;</a:t>
            </a:r>
          </a:p>
        </p:txBody>
      </p:sp>
    </p:spTree>
    <p:extLst>
      <p:ext uri="{BB962C8B-B14F-4D97-AF65-F5344CB8AC3E}">
        <p14:creationId xmlns:p14="http://schemas.microsoft.com/office/powerpoint/2010/main" val="2973345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การกำหนดขนาดของตัวอักษร (Size)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531625"/>
            <a:ext cx="7924800" cy="4895850"/>
          </a:xfrm>
        </p:spPr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จะไม่กำหนดขนาดตัวอักษรเป็นพอยต์  แต่จะกำหนดเป็นความสูง มี 7 ขนาด โดยใช้ตัวเลข 1-7 มีรูปแบบดังนี้ 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			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เมื่อ n เป็นเลขจำนวนเต็มบวก 1-7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การกำหนดขนาดตัวอักษรแบบมาตรฐานทั้งเอกสาร ซึ่งสามารถเพิ่มหรือลดขนาดได้ภายหลังโดยใช้ &lt;FONT SIZE = +/- n&gt;  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มีรูปแบบดังนี้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</a:t>
            </a:r>
            <a:endParaRPr lang="th-TH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4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FA68D80B-7E78-42F4-8327-14512DA3141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29701" name="Rectangle 4"/>
          <p:cNvSpPr>
            <a:spLocks noChangeArrowheads="1"/>
          </p:cNvSpPr>
          <p:nvPr/>
        </p:nvSpPr>
        <p:spPr bwMode="auto">
          <a:xfrm>
            <a:off x="3503613" y="2347913"/>
            <a:ext cx="4176712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&lt;FONT SIZE = n &gt; ข้อความ    &lt;/FONT&gt;</a:t>
            </a:r>
          </a:p>
        </p:txBody>
      </p:sp>
      <p:sp>
        <p:nvSpPr>
          <p:cNvPr id="29702" name="Rectangle 5"/>
          <p:cNvSpPr>
            <a:spLocks noChangeArrowheads="1"/>
          </p:cNvSpPr>
          <p:nvPr/>
        </p:nvSpPr>
        <p:spPr bwMode="auto">
          <a:xfrm>
            <a:off x="2963862" y="5279327"/>
            <a:ext cx="7260793" cy="10096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4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&lt;BASEFONT SIZE = 4&gt; </a:t>
            </a:r>
          </a:p>
          <a:p>
            <a:pPr lvl="4" eaLnBrk="1" hangingPunct="1"/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&lt;BR&gt;</a:t>
            </a:r>
          </a:p>
          <a:p>
            <a:pPr lvl="4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SIZE = +2&gt;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เพิ่ม&gt;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&lt;/FONT&gt; &lt;BR&gt;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3658179" y="4318445"/>
            <a:ext cx="4176713" cy="3603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&lt;BASEFONT SIZE = n&gt; ข้อความ</a:t>
            </a:r>
          </a:p>
        </p:txBody>
      </p:sp>
    </p:spTree>
    <p:extLst>
      <p:ext uri="{BB962C8B-B14F-4D97-AF65-F5344CB8AC3E}">
        <p14:creationId xmlns:p14="http://schemas.microsoft.com/office/powerpoint/2010/main" val="2951530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การกำหนดแบบตัวอักษร</a:t>
            </a:r>
          </a:p>
        </p:txBody>
      </p:sp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หากต้องการให้โปรแกรม Browserแสดงแบบตัวอักษรหลายแบบใน Web page เดียวกันจะต้องใช้ tag สำหรับกำหนด Font ซึ่งมีรูปแบบดังนี้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E7D3132C-C47A-4A45-BDD5-2B59D9CC52C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0725" name="Rectangle 4"/>
          <p:cNvSpPr>
            <a:spLocks noChangeArrowheads="1"/>
          </p:cNvSpPr>
          <p:nvPr/>
        </p:nvSpPr>
        <p:spPr bwMode="auto">
          <a:xfrm>
            <a:off x="2135188" y="2925207"/>
            <a:ext cx="6337300" cy="43021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r>
              <a:rPr lang="th-TH" sz="24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 name1”, ” name2”,…&gt;</a:t>
            </a:r>
          </a:p>
        </p:txBody>
      </p:sp>
      <p:sp>
        <p:nvSpPr>
          <p:cNvPr id="30726" name="Rectangle 5"/>
          <p:cNvSpPr>
            <a:spLocks noChangeArrowheads="1"/>
          </p:cNvSpPr>
          <p:nvPr/>
        </p:nvSpPr>
        <p:spPr bwMode="auto">
          <a:xfrm>
            <a:off x="2135188" y="3933825"/>
            <a:ext cx="7777162" cy="14414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“AngsanaUPC”&gt;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“CordialUPC”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&gt;ทดสอบ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FACE = “DilleniaUPC”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&gt;ทดสอบ 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</a:p>
          <a:p>
            <a:pPr lvl="1" eaLnBrk="1" hangingPunct="1"/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&lt;FONT  SIZE = 2  FACE = “Courier”&gt; </a:t>
            </a:r>
            <a:r>
              <a:rPr lang="th-TH" sz="16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ทดสอบ &lt;</a:t>
            </a:r>
            <a:r>
              <a:rPr lang="en-US" sz="1600" b="1" dirty="0">
                <a:latin typeface="Tahoma" panose="020B0604030504040204" pitchFamily="34" charset="0"/>
                <a:cs typeface="Tahoma" panose="020B0604030504040204" pitchFamily="34" charset="0"/>
              </a:rPr>
              <a:t>/FONT</a:t>
            </a:r>
            <a:r>
              <a:rPr lang="th-TH" sz="1600" b="1" dirty="0">
                <a:latin typeface="Tahoma" panose="020B0604030504040204" pitchFamily="34" charset="0"/>
                <a:cs typeface="Tahoma" panose="020B0604030504040204" pitchFamily="34" charset="0"/>
              </a:rPr>
              <a:t>&gt; &lt;BR&gt;</a:t>
            </a:r>
          </a:p>
          <a:p>
            <a:pPr lvl="1" eaLnBrk="1" hangingPunct="1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None/>
            </a:pPr>
            <a:endParaRPr lang="th-TH" sz="1600" b="1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607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การกำหนดสีให้ตัวอักษร(Color)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การกำหนดสีให้ตัวอักษรมี 2 กรณี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1. การกำหนดสีให้ตัวอักษรเฉพาะข้อความ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2. การกำหนดสีให้ตัวอักษรทั้งเอกสาร</a:t>
            </a:r>
          </a:p>
        </p:txBody>
      </p:sp>
      <p:pic>
        <p:nvPicPr>
          <p:cNvPr id="31749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4976" y="1438276"/>
            <a:ext cx="2695575" cy="2295525"/>
          </a:xfrm>
          <a:noFill/>
        </p:spPr>
      </p:pic>
      <p:pic>
        <p:nvPicPr>
          <p:cNvPr id="31750" name="Picture 6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1801" y="3886200"/>
            <a:ext cx="2665413" cy="2133600"/>
          </a:xfrm>
          <a:noFill/>
        </p:spPr>
      </p:pic>
      <p:sp>
        <p:nvSpPr>
          <p:cNvPr id="7" name="ตัวแทนหมายเลขภาพนิ่ง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F594CF1B-8051-490F-A9B9-2701D9969C1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012818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ความหมายของตัวเลขและการผสมสี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ตัวเลขแทนสีที่ใช้เป็นเลขฐานสิบหก (0-9 และ A-F) จำนวน 3 ชุด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แต่ละชุดมีค่า 00-FF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- ชุดที่ 1 แทนสีแดง (RED)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- ชุดที่ 2 แทนสีเขียว (GREEN)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- ชุดที่ 3 แทนสีน้ำเงิน (BLUE)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RGB (Red GreenBlue) เป้นแม่สีทางวิทยาศาสตร์ และสามารถนำมาใช้ในระบบคอมพิวเตอร์ด้วย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4D03040-72AD-4A19-88D7-37CDAE7D828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2773" name="Rectangle 4"/>
          <p:cNvSpPr>
            <a:spLocks noChangeArrowheads="1"/>
          </p:cNvSpPr>
          <p:nvPr/>
        </p:nvSpPr>
        <p:spPr bwMode="auto">
          <a:xfrm>
            <a:off x="4331587" y="4724029"/>
            <a:ext cx="2952750" cy="6477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en-US" sz="2000" b="1"/>
              <a:t>#RRGGBB</a:t>
            </a:r>
            <a:endParaRPr lang="th-TH" sz="2000" b="1"/>
          </a:p>
        </p:txBody>
      </p:sp>
    </p:spTree>
    <p:extLst>
      <p:ext uri="{BB962C8B-B14F-4D97-AF65-F5344CB8AC3E}">
        <p14:creationId xmlns:p14="http://schemas.microsoft.com/office/powerpoint/2010/main" val="339247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ตารางตัวอย่างรหัสสี</a:t>
            </a:r>
          </a:p>
        </p:txBody>
      </p:sp>
      <p:graphicFrame>
        <p:nvGraphicFramePr>
          <p:cNvPr id="115784" name="Group 72"/>
          <p:cNvGraphicFramePr>
            <a:graphicFrameLocks noGrp="1"/>
          </p:cNvGraphicFramePr>
          <p:nvPr>
            <p:ph sz="half" idx="2"/>
          </p:nvPr>
        </p:nvGraphicFramePr>
        <p:xfrm>
          <a:off x="3935413" y="1600201"/>
          <a:ext cx="3886200" cy="4014985"/>
        </p:xfrm>
        <a:graphic>
          <a:graphicData uri="http://schemas.openxmlformats.org/drawingml/2006/table">
            <a:tbl>
              <a:tblPr/>
              <a:tblGrid>
                <a:gridCol w="1943100"/>
                <a:gridCol w="1943100"/>
              </a:tblGrid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สี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รหัสสี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/>
                    </a:solidFill>
                  </a:tcPr>
                </a:tc>
              </a:tr>
              <a:tr h="42538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ขาว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1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น้ำเงิน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ดำ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ฟ้า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#4D4DFF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1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เทา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#7F7F7F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ชมพู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#CC3299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แดง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#FF0000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เขียว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#00FF00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8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เหลือง</a:t>
                      </a:r>
                    </a:p>
                  </a:txBody>
                  <a:tcPr marT="45713" marB="4571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#FFFF00</a:t>
                      </a:r>
                    </a:p>
                  </a:txBody>
                  <a:tcPr marT="45713" marB="4571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952DBDC-D760-4EF6-91C3-463D5407BDB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34259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การกำหนดสีให้กับตัวอักษรเฉพาะข้อความ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idx="1"/>
          </p:nvPr>
        </p:nvSpPr>
        <p:spPr>
          <a:xfrm>
            <a:off x="1992314" y="1600200"/>
            <a:ext cx="8135937" cy="4419600"/>
          </a:xfrm>
        </p:spPr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กำหนดใน tag &lt;FONT&gt; มีรูปแบบดังนี้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8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B97D084-7E21-43DD-A5B5-C905352CECB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4821" name="Rectangle 4"/>
          <p:cNvSpPr>
            <a:spLocks noChangeArrowheads="1"/>
          </p:cNvSpPr>
          <p:nvPr/>
        </p:nvSpPr>
        <p:spPr bwMode="auto">
          <a:xfrm>
            <a:off x="457372" y="2267702"/>
            <a:ext cx="7920038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#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&gt;   กำหนดสีจากเปอร์เซ็นต์การผสมสี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colorname &gt;   กำหนดสีจากสีมาตรฐาน</a:t>
            </a:r>
          </a:p>
        </p:txBody>
      </p:sp>
      <p:sp>
        <p:nvSpPr>
          <p:cNvPr id="34822" name="Rectangle 5"/>
          <p:cNvSpPr>
            <a:spLocks noChangeArrowheads="1"/>
          </p:cNvSpPr>
          <p:nvPr/>
        </p:nvSpPr>
        <p:spPr bwMode="auto">
          <a:xfrm>
            <a:off x="677334" y="4328641"/>
            <a:ext cx="6985000" cy="15113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Red&gt; This is Red color &lt;BR&gt;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#0000FF&gt; next is blue &lt;BR&gt;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&lt;FONT COLOR = #00FF00&gt; This is Green Color &lt;BR&gt;</a:t>
            </a:r>
          </a:p>
        </p:txBody>
      </p:sp>
    </p:spTree>
    <p:extLst>
      <p:ext uri="{BB962C8B-B14F-4D97-AF65-F5344CB8AC3E}">
        <p14:creationId xmlns:p14="http://schemas.microsoft.com/office/powerpoint/2010/main" val="419058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การกำหนดสีให้กับตัวอักษรทั้งเอกสาร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กำหนดใน tag &lt;BODY&gt; ซี่งมีรูปแบบดังนี้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6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18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D8E9D7E-B3FB-48F0-A9B7-2ECCE4440BA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39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5845" name="Rectangle 4"/>
          <p:cNvSpPr>
            <a:spLocks noChangeArrowheads="1"/>
          </p:cNvSpPr>
          <p:nvPr/>
        </p:nvSpPr>
        <p:spPr bwMode="auto">
          <a:xfrm>
            <a:off x="527694" y="2763580"/>
            <a:ext cx="7632700" cy="10080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&lt;BODY  TEXT = #rrggbb&gt; กำหนดสีจากเปอร์เซ็นต์การผสมสี</a:t>
            </a:r>
          </a:p>
          <a:p>
            <a:pPr lvl="1"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&lt;BODY  TEXT = colorname &gt;   กำหนดสีจากชื่อสีมาตราฐาน</a:t>
            </a:r>
          </a:p>
        </p:txBody>
      </p:sp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1245301" y="4730085"/>
            <a:ext cx="7345362" cy="10810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&lt;BODY TEXT = Red&gt; </a:t>
            </a:r>
          </a:p>
          <a:p>
            <a:pPr lvl="1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&lt;H1&gt; This is testing Text Color &lt;/H1&gt;</a:t>
            </a:r>
          </a:p>
          <a:p>
            <a:pPr lvl="1" eaLnBrk="1" hangingPunct="1"/>
            <a:r>
              <a:rPr lang="th-TH" sz="1600" b="1">
                <a:latin typeface="Tahoma" panose="020B0604030504040204" pitchFamily="34" charset="0"/>
                <a:cs typeface="Tahoma" panose="020B0604030504040204" pitchFamily="34" charset="0"/>
              </a:rPr>
              <a:t> All text in this page is red color by body text = Red Text &lt;BR&gt;</a:t>
            </a:r>
          </a:p>
        </p:txBody>
      </p:sp>
    </p:spTree>
    <p:extLst>
      <p:ext uri="{BB962C8B-B14F-4D97-AF65-F5344CB8AC3E}">
        <p14:creationId xmlns:p14="http://schemas.microsoft.com/office/powerpoint/2010/main" val="2001448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การใช้ตัวอักษรพิเศษ (Special Character)</a:t>
            </a:r>
          </a:p>
        </p:txBody>
      </p:sp>
      <p:sp>
        <p:nvSpPr>
          <p:cNvPr id="368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พิมพ์ข้อความระหว่าง tag &lt;BODY&gt; และ &lt;/BODY&gt; ได้ทั้งตัวอักษรและตัวเลข รวมทั้งสัญลักษณ์ต่าง ๆ ยกเว้นเครื่องหมาย “ &lt; &gt; และ &amp;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ใช้คำสั่งพิเศษ สำหรับแทนสัญลักษณ์เหล่านี้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ใช้รหัสควบคุมซึ่งระบุได้ 2 วิธี ดังนี้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ระบุชื่อสัญลักษณ์ที่ต้องการ (Name Entities)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ระบุโดยใช้ ASCII Code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5F18F99B-4ADD-4679-BDDB-CFF5566D568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10635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1. ระบุชื่อสัญลักษณ์ที่ต้องการ</a:t>
            </a:r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ชื่อสัญลักษณ์ที่ระบุจะขึ้นต้นด้วยเครื่องหมาย &amp; (Ampersand) แล้วตามด้วยชื่อย่อของสัญลักษณ์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&amp;quot;     	แสดงเครื่องหมาย quotation mark (“)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&amp;lt;          	แสดงเครื่องหมาย Less than (&lt;)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&amp;gt;          	แสดงเครื่องหมาย greater than (&gt;)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&amp;amp;      	แสดงเครื่องหมาย ampersand (&amp;)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	&amp;nbsp;     	แสดงการเว้นวรรค 1 ตัวอักษร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	&amp;reg;        	แสดงเครื่องหมายพิเศษเครื่องหมายลงทะเบียน</a:t>
            </a: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505CF2A9-9868-4DAC-AF22-C157E5B6EE8D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01815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2. ระบุโดยใช้รหัส ASCII</a:t>
            </a:r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เริ่มต้นด้วยเครื่องหมาย &amp; แล้วตามด้วยเครื่องหมาย # และค่าของตัวเลขรหัส ASCII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D662804-E461-4AC7-91A4-DA6889713D7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38917" name="Rectangle 4"/>
          <p:cNvSpPr>
            <a:spLocks noChangeArrowheads="1"/>
          </p:cNvSpPr>
          <p:nvPr/>
        </p:nvSpPr>
        <p:spPr bwMode="auto">
          <a:xfrm>
            <a:off x="677333" y="4048361"/>
            <a:ext cx="8336037" cy="10810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Symbol of Copyright is :&amp;#169; &lt;BR&gt;</a:t>
            </a:r>
          </a:p>
          <a:p>
            <a:pPr lvl="2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Symbol of Registration is :&amp;#174; &lt;BR&gt;</a:t>
            </a:r>
          </a:p>
        </p:txBody>
      </p:sp>
    </p:spTree>
    <p:extLst>
      <p:ext uri="{BB962C8B-B14F-4D97-AF65-F5344CB8AC3E}">
        <p14:creationId xmlns:p14="http://schemas.microsoft.com/office/powerpoint/2010/main" val="385222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72945" y="4793054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การแสดงผลแบบรายการ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(List)</a:t>
            </a: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/>
            </a:r>
            <a:b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7741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การแสดงผลแบบรายการ (LIST)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7FF8E8A0-974E-44B3-ACFA-47B02F82B8A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0965" name="Rectangle 4"/>
          <p:cNvSpPr>
            <a:spLocks noChangeArrowheads="1"/>
          </p:cNvSpPr>
          <p:nvPr/>
        </p:nvSpPr>
        <p:spPr bwMode="auto">
          <a:xfrm>
            <a:off x="1674421" y="2565400"/>
            <a:ext cx="6077342" cy="2159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/>
              <a:t> </a:t>
            </a:r>
            <a:r>
              <a:rPr lang="th-TH" b="1"/>
              <a:t>&lt;LIST TYPE&gt;</a:t>
            </a:r>
          </a:p>
          <a:p>
            <a:pPr eaLnBrk="1" hangingPunct="1"/>
            <a:r>
              <a:rPr lang="th-TH" b="1"/>
              <a:t>         &lt;ITEM&gt; First Item in List</a:t>
            </a:r>
          </a:p>
          <a:p>
            <a:pPr eaLnBrk="1" hangingPunct="1"/>
            <a:r>
              <a:rPr lang="th-TH" b="1"/>
              <a:t>        &lt;ITEM&gt; Second Item in List</a:t>
            </a:r>
          </a:p>
          <a:p>
            <a:pPr eaLnBrk="1" hangingPunct="1"/>
            <a:r>
              <a:rPr lang="th-TH" b="1"/>
              <a:t>        &lt;ITEM&gt; Third Item in List</a:t>
            </a:r>
          </a:p>
          <a:p>
            <a:pPr eaLnBrk="1" hangingPunct="1"/>
            <a:r>
              <a:rPr lang="th-TH" b="1"/>
              <a:t>    &lt;/LIST TYPE&gt;</a:t>
            </a:r>
          </a:p>
        </p:txBody>
      </p:sp>
    </p:spTree>
    <p:extLst>
      <p:ext uri="{BB962C8B-B14F-4D97-AF65-F5344CB8AC3E}">
        <p14:creationId xmlns:p14="http://schemas.microsoft.com/office/powerpoint/2010/main" val="388216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การแสดงผลรายการแบบลำดับตัวเลข(orderer Lists)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ใช้แสดงรายการที่เรียงลำดับ หรือจัดลำดับความสำคัญของหัวข้อ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ใช้ตัวเลข หรือ ตัวอักษรเรียง ในการเรียงก็ได้ มีรูปแบบดังนี้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TYPE เป็นการกำหนดว่าจะแสดงรายการโดยใช้ตัวเลข ตัวอักษร หรือตัวอักษรโรมันเป็นต้น</a:t>
            </a: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EFBEAFE-2802-46DC-8BA7-F5C9E65D7715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1989" name="Rectangle 4"/>
          <p:cNvSpPr>
            <a:spLocks noChangeArrowheads="1"/>
          </p:cNvSpPr>
          <p:nvPr/>
        </p:nvSpPr>
        <p:spPr bwMode="auto">
          <a:xfrm>
            <a:off x="1003919" y="3048742"/>
            <a:ext cx="5905500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en-US" sz="1800" b="1" dirty="0">
                <a:latin typeface="Tahoma" panose="020B0604030504040204" pitchFamily="34" charset="0"/>
                <a:cs typeface="Tahoma" panose="020B0604030504040204" pitchFamily="34" charset="0"/>
              </a:rPr>
              <a:t>&lt;</a:t>
            </a:r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OL TYPE = number_type  START = number..&gt;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 &lt;LI&gt; Item number one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 &lt;LI&gt; Item number two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 &lt;LI&gt; Item number tree</a:t>
            </a:r>
          </a:p>
          <a:p>
            <a:pPr eaLnBrk="1" hangingPunct="1"/>
            <a:r>
              <a:rPr lang="th-TH" sz="1800" b="1" dirty="0">
                <a:latin typeface="Tahoma" panose="020B0604030504040204" pitchFamily="34" charset="0"/>
                <a:cs typeface="Tahoma" panose="020B0604030504040204" pitchFamily="34" charset="0"/>
              </a:rPr>
              <a:t> &lt;/OL&gt;</a:t>
            </a:r>
          </a:p>
        </p:txBody>
      </p:sp>
    </p:spTree>
    <p:extLst>
      <p:ext uri="{BB962C8B-B14F-4D97-AF65-F5344CB8AC3E}">
        <p14:creationId xmlns:p14="http://schemas.microsoft.com/office/powerpoint/2010/main" val="333848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3012" name="Rectangle 3"/>
          <p:cNvSpPr>
            <a:spLocks noGrp="1" noChangeArrowheads="1"/>
          </p:cNvSpPr>
          <p:nvPr>
            <p:ph idx="1"/>
          </p:nvPr>
        </p:nvSpPr>
        <p:spPr>
          <a:xfrm>
            <a:off x="3789363" y="1817688"/>
            <a:ext cx="4322762" cy="4419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&lt;OL TYPE = a&gt;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Oranges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Peaches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Grapes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&lt;/OL&gt;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ได้ผลลัพธ์คือ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a.  Oranges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b.  Peaches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c.  Grapes</a:t>
            </a: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71D4CC0-AB4A-488E-BBA8-BCBD2D97121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96861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>
          <a:xfrm>
            <a:off x="3789363" y="1817688"/>
            <a:ext cx="4322762" cy="4419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&lt;OL TYPE = I&gt;	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Oranges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Peaches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&lt;LI&gt; Grapes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&lt;/OL&gt;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ได้ผลลัพธ์คือ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I.  Oranges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	II.  Peaches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	III.  Grapes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EE901281-2103-4CB2-A49A-7A44F5A5432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318655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idx="1"/>
          </p:nvPr>
        </p:nvSpPr>
        <p:spPr>
          <a:xfrm>
            <a:off x="3789363" y="1817688"/>
            <a:ext cx="4322762" cy="4419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&lt;OL START = 3&gt;		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&lt;LI&gt; Oranges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&lt;LI&gt; Peaches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&lt;LI VALUE = 7&gt; Grapes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&lt;LI&gt;Apples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&lt;/OL&gt;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ได้ผลลัพธ์คือ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	 3.  Oranges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4.  Peaches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7.  Grapes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8.  Apples</a:t>
            </a: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C7730839-3CA3-46E1-8F1C-D34F498C82E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92688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การแสดงผลรายการแบบไม่มีลำดับ(Unordered List)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ใช้แสดงรายการหัวข้อย่อยโดยไม่มีหน่วยนับนำหน้า แต่จะเป็น bullet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กำหนดรูปแบบได้ โดยระบุหลังคำสั่ง TYPE ต่อจาก &lt;UL&gt; เป็น disc(วงกลมทึบ), circle, square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     </a:t>
            </a: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771BC88-E346-4894-91C5-09B5BB4C318E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49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2029114" y="3414050"/>
            <a:ext cx="5400675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/>
              <a:t>	&lt;UL TYPE = bullet_type&gt;</a:t>
            </a:r>
          </a:p>
          <a:p>
            <a:pPr eaLnBrk="1" hangingPunct="1"/>
            <a:r>
              <a:rPr lang="th-TH" b="1" dirty="0"/>
              <a:t>                  	&lt;LI&gt; First Item </a:t>
            </a:r>
          </a:p>
          <a:p>
            <a:pPr eaLnBrk="1" hangingPunct="1"/>
            <a:r>
              <a:rPr lang="th-TH" b="1" dirty="0"/>
              <a:t>                  	&lt;LI&gt; Second Item </a:t>
            </a:r>
          </a:p>
          <a:p>
            <a:pPr eaLnBrk="1" hangingPunct="1"/>
            <a:r>
              <a:rPr lang="th-TH" b="1" dirty="0"/>
              <a:t>                  	&lt;LI&gt; Third Item </a:t>
            </a:r>
          </a:p>
          <a:p>
            <a:pPr eaLnBrk="1" hangingPunct="1"/>
            <a:r>
              <a:rPr lang="th-TH" b="1" dirty="0"/>
              <a:t>          	&lt;/UL&gt;</a:t>
            </a:r>
          </a:p>
        </p:txBody>
      </p:sp>
    </p:spTree>
    <p:extLst>
      <p:ext uri="{BB962C8B-B14F-4D97-AF65-F5344CB8AC3E}">
        <p14:creationId xmlns:p14="http://schemas.microsoft.com/office/powerpoint/2010/main" val="1991796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47108" name="Rectangle 3"/>
          <p:cNvSpPr>
            <a:spLocks noGrp="1" noChangeArrowheads="1"/>
          </p:cNvSpPr>
          <p:nvPr>
            <p:ph idx="1"/>
          </p:nvPr>
        </p:nvSpPr>
        <p:spPr>
          <a:xfrm>
            <a:off x="2782889" y="1816100"/>
            <a:ext cx="6626225" cy="413385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These are name of  CS  Staff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&lt;UL&gt;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&lt;LI&gt;Seree Chinodom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&lt;LI&gt;Tawatchai Iempairoj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&lt;LI&gt;Jira Jaturanon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&lt;LI&gt;Surangkana Thumlikhit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&lt;LI&gt;Others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&lt;/UL&gt;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538B760A-D318-4E12-88DB-1C5997CDE10E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01993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Directory Lists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เป็นการแสดงผลข้อมูลเหมือนกับ &lt;UL&gt;,&lt;/UL&gt; แต่จะถูกจำกัดด้วยตัวอักษรไม่เกิน 24 ตัว 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มีรูปแบบดังนี้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FAC53C4-E284-4276-B425-C851C489F2B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3287714" y="2997200"/>
            <a:ext cx="5400675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&lt;DIR&gt;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 	&lt;LI&gt; message &lt;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	&lt;LI&gt; massage &lt;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          	&lt;LI&gt; message &lt;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   	&lt;/DIR&gt;</a:t>
            </a:r>
          </a:p>
        </p:txBody>
      </p:sp>
    </p:spTree>
    <p:extLst>
      <p:ext uri="{BB962C8B-B14F-4D97-AF65-F5344CB8AC3E}">
        <p14:creationId xmlns:p14="http://schemas.microsoft.com/office/powerpoint/2010/main" val="218903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Menu Lists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แสดงรายการต่างๆแบบไม่มีตัวเลข แต่มีหัวข้อเป็นสัญลักษณ์ (Bullet) แต่การแสดงผลข้อมูลจะกะทัดรัดกว่าการใช้ tag &lt;UL&gt; 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มีรูปแบบดังนี้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</a:t>
            </a: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FEF76295-F3EE-4A27-BB1C-14897D66816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49157" name="Rectangle 4"/>
          <p:cNvSpPr>
            <a:spLocks noChangeArrowheads="1"/>
          </p:cNvSpPr>
          <p:nvPr/>
        </p:nvSpPr>
        <p:spPr bwMode="auto">
          <a:xfrm>
            <a:off x="2515818" y="3517941"/>
            <a:ext cx="5400675" cy="18732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/>
              <a:t>	</a:t>
            </a:r>
            <a:r>
              <a:rPr lang="th-TH" sz="2400" b="1" dirty="0"/>
              <a:t>&lt;MENU&gt;</a:t>
            </a:r>
          </a:p>
          <a:p>
            <a:pPr eaLnBrk="1" hangingPunct="1"/>
            <a:r>
              <a:rPr lang="th-TH" sz="2400" b="1" dirty="0"/>
              <a:t>                	&lt;LI&gt; message</a:t>
            </a:r>
          </a:p>
          <a:p>
            <a:pPr eaLnBrk="1" hangingPunct="1"/>
            <a:r>
              <a:rPr lang="th-TH" sz="2400" b="1" dirty="0"/>
              <a:t>               	&lt;LI&gt; massage</a:t>
            </a:r>
          </a:p>
          <a:p>
            <a:pPr eaLnBrk="1" hangingPunct="1"/>
            <a:r>
              <a:rPr lang="th-TH" sz="2400" b="1" dirty="0"/>
              <a:t>               	&lt;LI&gt; message</a:t>
            </a:r>
          </a:p>
          <a:p>
            <a:pPr eaLnBrk="1" hangingPunct="1"/>
            <a:r>
              <a:rPr lang="th-TH" sz="2400" b="1" dirty="0"/>
              <a:t>     	&lt;/MENU&gt;</a:t>
            </a:r>
            <a:endParaRPr lang="th-TH" b="1" dirty="0"/>
          </a:p>
        </p:txBody>
      </p:sp>
    </p:spTree>
    <p:extLst>
      <p:ext uri="{BB962C8B-B14F-4D97-AF65-F5344CB8AC3E}">
        <p14:creationId xmlns:p14="http://schemas.microsoft.com/office/powerpoint/2010/main" val="3751020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NESTED LISTS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idx="1"/>
          </p:nvPr>
        </p:nvSpPr>
        <p:spPr>
          <a:xfrm>
            <a:off x="2854325" y="1600200"/>
            <a:ext cx="6986588" cy="44196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&lt;LI&gt;  few New England states: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&lt;UL&gt;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	&lt;LI&gt; Vermont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	&lt;LI&gt;  New Hampshire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&lt;/UL&gt;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&lt;LI&gt; One Midwestern state: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 &lt;UL&gt;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&lt;LI&gt; Michigan &lt;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/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LI&gt;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&lt;/UL&gt;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&lt;/UL&gt;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2D1051C-F718-463F-939A-973899574F8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2343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8570" y="4650551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การจัดการรูปภาพ</a:t>
            </a:r>
            <a:b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1929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17261" y="157705"/>
            <a:ext cx="9720072" cy="1499616"/>
          </a:xfrm>
        </p:spPr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การจัดการกับรูปภาพ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idx="1"/>
          </p:nvPr>
        </p:nvSpPr>
        <p:spPr>
          <a:xfrm>
            <a:off x="2133600" y="1412875"/>
            <a:ext cx="7994650" cy="4781550"/>
          </a:xfrm>
        </p:spPr>
        <p:txBody>
          <a:bodyPr>
            <a:normAutofit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รูปภาพที่สามารถนำมาใช้ในเอกสาร HTML มี 2 ชนิด คือ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1. รูปภาพชนิด Graphic Interchange Format (GIF)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พัฒนาโดย CompuServe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นิยมใช้กับภาพถ่าย ภาพการ์ตูน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ความละเอียดได้สูง 64000 x 64000จุด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เก็บรายละเอียดได้ไม่เกิน 8 บิต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แสดงสีได้ 256 สี</a:t>
            </a: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th-TH" sz="1800" b="1">
                <a:solidFill>
                  <a:srgbClr val="000000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ใช้แสดงภาพเคลื่อนไหว</a:t>
            </a:r>
            <a:endParaRPr lang="th-TH" sz="18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2. รูปภาพชนิด Joint Photographic Experts Group (JPEG หรือ JPG)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เป็นไฟล์ที่ผ่านการบีบอัดข้อมูลมาก่อน ในอัตรา 10:1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ขนาดของการบีบอัด มี 3 ระดับ HIGH, MIDDLE, LOW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 ภาพที่นำมาใช้เป็นภาพนิ่งหรือภาพถ่ายเท่านั้น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แสดงสีได้ 16.7 ล้านสี มีความชัดเจนสูง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BAC9F295-F3DE-4503-888E-1B710423D59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87232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การแทรกภาพลงในเอกสาร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เดี่ยว ได้แก่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18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ภาพควรเป็นชนิด GIF หรือ JPEG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เพิ่มแอตทริบิวต์ ALT= “ข้อความ“ ต่อจาก SR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C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= “ไฟล์รูปภาพ“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ผู้ใช้บราวเซอร์แบบ text mode รูปภาพที่กำหนดไว้จะแทนด้วย [IMAGE] เมื่อกำหนด ALT = “ข้อความ“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2" eaLnBrk="1" hangingPunct="1">
              <a:buFont typeface="Wingdings" panose="05000000000000000000" pitchFamily="2" charset="2"/>
              <a:buNone/>
            </a:pPr>
            <a:endParaRPr lang="th-TH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716DDE8E-35E2-4568-A670-773A8CBC141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1005321" y="2758282"/>
            <a:ext cx="8411811" cy="9366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SRC= “ชื่อแฟ้มรูปภาพ“&gt;</a:t>
            </a:r>
          </a:p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SRC=“ชื่อแฟ้มรูปภาพ”  ALT=“ข้อความ”&gt;</a:t>
            </a:r>
            <a:endParaRPr lang="th-TH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auto">
          <a:xfrm>
            <a:off x="1005321" y="5918330"/>
            <a:ext cx="6749266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SRC=“rock.gif” ALT=“Rock Garden”&gt;</a:t>
            </a:r>
          </a:p>
        </p:txBody>
      </p:sp>
    </p:spTree>
    <p:extLst>
      <p:ext uri="{BB962C8B-B14F-4D97-AF65-F5344CB8AC3E}">
        <p14:creationId xmlns:p14="http://schemas.microsoft.com/office/powerpoint/2010/main" val="3666094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การวางตำแหน่งรูปภาพ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HTML กำหนดการวางรูปภาพเพื่อแสดงผลได้ 2 แบบคือ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	1)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แบบแนวนอน ประกอบด้วย Left, Right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	2)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แบบแนวตั้ง มี 3 ระดับ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เสมอบน ใช้ top และ texttop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กึ่งกลางใช้ middle และ abdmiddle</a:t>
            </a:r>
          </a:p>
          <a:p>
            <a:pPr lvl="2" eaLnBrk="1" hangingPunct="1">
              <a:buClr>
                <a:schemeClr val="tx1"/>
              </a:buClr>
              <a:buFontTx/>
              <a:buChar char="•"/>
            </a:pP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เสมอล่างใช้ baseline, b</a:t>
            </a:r>
            <a:r>
              <a:rPr lang="en-US" sz="1800" b="1">
                <a:latin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ttom, absb</a:t>
            </a:r>
            <a:r>
              <a:rPr lang="en-US" sz="1800" b="1">
                <a:latin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th-TH" sz="1800" b="1">
                <a:latin typeface="Tahoma" panose="020B0604030504040204" pitchFamily="34" charset="0"/>
                <a:cs typeface="Tahoma" panose="020B0604030504040204" pitchFamily="34" charset="0"/>
              </a:rPr>
              <a:t>ttom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เขียนภายใต้แอททริบิวต์ ALIGN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เช่น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024F752-D313-42F0-B0B5-71DC1866E16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4277" name="Rectangle 4"/>
          <p:cNvSpPr>
            <a:spLocks noChangeArrowheads="1"/>
          </p:cNvSpPr>
          <p:nvPr/>
        </p:nvSpPr>
        <p:spPr bwMode="auto">
          <a:xfrm>
            <a:off x="1609811" y="5503199"/>
            <a:ext cx="6048375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ALIGN=b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o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ttom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51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การใส่ภาพลงใน WEBกึ่งกลางจอภาพ</a:t>
            </a:r>
          </a:p>
        </p:txBody>
      </p:sp>
      <p:sp>
        <p:nvSpPr>
          <p:cNvPr id="5530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ALIG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N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ไม่สามารถกำหนดภาพไว้กลางจอภาพได้ ต้องใช้คำสั่ง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การกำหนดขนาดของภาพจะกำหนดด้วยแอตทริบิวต์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</a:t>
            </a: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WIDTH=ความกว้าง HEIGHT=ความสูง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เขียนไว้หน้าหรือต่อท้าย SRC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Ex. 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</a:t>
            </a: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81086D6-AC77-4B36-9963-3100CA6A893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426711" y="5320637"/>
            <a:ext cx="10274240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&lt;IMG SRC = “building.gif” WIDTH=100   HEIGHT=100&gt;</a:t>
            </a:r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1208974" y="2622995"/>
            <a:ext cx="575945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&lt;CENTER&gt; ...&lt;/CENTER&gt;</a:t>
            </a:r>
          </a:p>
        </p:txBody>
      </p:sp>
    </p:spTree>
    <p:extLst>
      <p:ext uri="{BB962C8B-B14F-4D97-AF65-F5344CB8AC3E}">
        <p14:creationId xmlns:p14="http://schemas.microsoft.com/office/powerpoint/2010/main" val="138687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การปรับขนาดภาพ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การปรับขนาดของภาพให้ใหญ่หรือเล็กตามสัดส่วน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ให้กำหนดแอททริบิวต์ ความกว้างของรูปภาพเป็นจำนวนเปอร์เซ็นต์ของภาพอย่างเดียว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เช่น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973C7759-9081-4020-8218-ED8E272258E8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59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2363190" y="3284538"/>
            <a:ext cx="6541098" cy="10080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WIDTH=50% หรือ WIDTH=150%</a:t>
            </a:r>
          </a:p>
        </p:txBody>
      </p:sp>
    </p:spTree>
    <p:extLst>
      <p:ext uri="{BB962C8B-B14F-4D97-AF65-F5344CB8AC3E}">
        <p14:creationId xmlns:p14="http://schemas.microsoft.com/office/powerpoint/2010/main" val="2052941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การแสดงกรอบรูปภาพและระยะห่าง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การแสดงกรอบรูปภาพใช้แอตทริบิวต์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BORDER = n 		โดยปกติ n=0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		ค่า n ยิ่งมาก กรอบยิ่งหนา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การเว้นระยะห่างของภาพกับข้อความใช้แอตทริบิวต์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VSPACE =n สำหรับระยะยะห่างด้านบน ล่าง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HSPACE =n สำหรับระยะยะห่างด้านซ้าย ขวา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>
              <a:lnSpc>
                <a:spcPct val="8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0F4ADFB-A4AC-4219-B467-C93CCE3B0D5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523503" y="5398424"/>
            <a:ext cx="10152413" cy="100806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 VSPACE=10  HSPACE=30  SRC=“building.gif”&gt;</a:t>
            </a:r>
          </a:p>
        </p:txBody>
      </p:sp>
    </p:spTree>
    <p:extLst>
      <p:ext uri="{BB962C8B-B14F-4D97-AF65-F5344CB8AC3E}">
        <p14:creationId xmlns:p14="http://schemas.microsoft.com/office/powerpoint/2010/main" val="3131943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การใส่ภาพลงใน WEB</a:t>
            </a:r>
          </a:p>
        </p:txBody>
      </p:sp>
      <p:sp>
        <p:nvSpPr>
          <p:cNvPr id="583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การใส่ภาพที่มีขนาดเท่ากันซ้อนกัน โดยภาพแรกจะเกิดชั่วขณะแล้วภาพที่สองจะปรากฏ ใช้แอตทริบิวต์  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	LOWSRC=“รูปภาพ“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2A59C11-CBA3-4DE5-9C90-0E0BA4F28D8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58373" name="Rectangle 4"/>
          <p:cNvSpPr>
            <a:spLocks noChangeArrowheads="1"/>
          </p:cNvSpPr>
          <p:nvPr/>
        </p:nvSpPr>
        <p:spPr bwMode="auto">
          <a:xfrm>
            <a:off x="1734786" y="4955290"/>
            <a:ext cx="8323613" cy="72072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SRC=“rock.gif” LOWSRC=“rock.gif” 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&gt;</a:t>
            </a:r>
            <a:endParaRPr lang="th-TH" b="1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731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การสร้างภาพเคลื่อนไหว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โปรแกรม GIF Construction Set หรือ GIFCON ของบริบัท Alchemy Mindworks Inc. เป็นโปรแกรมที่ใช้สร้างภาพเคลื่อนไหวใน Web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ใช้เปลี่ยนภาพแบบ GIF เป็นภาพเคลื่อนไหว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ถ้าใช้ MS Internet Explorer  ตั้งแต่เวอร์ชั่น 2 สามารถใช้ภาพที่มีส่วนขยายเป็น .AVI ได้เลย หรือจะใช้โปรแกรม GIFCON แปลงภาพก่อนก็ได้</a:t>
            </a:r>
          </a:p>
          <a:p>
            <a:pPr eaLnBrk="1" hangingPunct="1"/>
            <a:endParaRPr lang="th-TH" sz="2000"/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763E502-2C18-40CC-B6E6-27E976DF064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5182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64830" y="4555548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การสร้างจุดเชื่อมโยง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(Link)</a:t>
            </a: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 </a:t>
            </a:r>
            <a:b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74108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การเชื่อมโยงเอกสาร(Link)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กำหนดให้เชื่อมโยงในเอกสารเดียวกันหรือ หรือต่างเอกสาร หรือ ต่างที่อยู่ ได้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การเชื่อมโยงเอกสารใน HTML แบ่งได้ 2 ประเภท คือ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การเชื่อมโยงกับข้อความ (Text Link)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การเชื่อมโยงกับรูปภาพ (Graphic Link)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D30B83C2-EA1A-4E78-8A58-AC280D6A70AD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88118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การเชื่อมโยงกับข้อความ(Text Link)</a:t>
            </a:r>
          </a:p>
        </p:txBody>
      </p:sp>
      <p:sp>
        <p:nvSpPr>
          <p:cNvPr id="6246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ใช้ เขียน tag Anchor และ แอตทริบิวต์ HREF (Hypetext REFerence) 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หากต้องการให้ข้อความที่เชื่อมโยงไม่มีการขีดเส้นใต้ ให้ใช้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attribute style ร่วมกับ tag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Anchor ดังนี้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85898757-94D7-46C7-962A-2E559746898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2469" name="Rectangle 4"/>
          <p:cNvSpPr>
            <a:spLocks noChangeArrowheads="1"/>
          </p:cNvSpPr>
          <p:nvPr/>
        </p:nvSpPr>
        <p:spPr bwMode="auto">
          <a:xfrm>
            <a:off x="1750126" y="5187803"/>
            <a:ext cx="6840537" cy="1008062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  HREF =“เป้าหมาย” 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  </a:t>
            </a:r>
          </a:p>
          <a:p>
            <a:pPr lvl="1" eaLnBrk="1" hangingPunct="1"/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   	style=“text-decoration:none”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&gt; ข้อความ  &lt;/A&gt;</a:t>
            </a:r>
          </a:p>
        </p:txBody>
      </p:sp>
      <p:sp>
        <p:nvSpPr>
          <p:cNvPr id="62470" name="Rectangle 5"/>
          <p:cNvSpPr>
            <a:spLocks noChangeArrowheads="1"/>
          </p:cNvSpPr>
          <p:nvPr/>
        </p:nvSpPr>
        <p:spPr bwMode="auto">
          <a:xfrm>
            <a:off x="3073400" y="2565401"/>
            <a:ext cx="575945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HREF =“ เป้าหมาย”&gt; ข้อความ  &lt;/A&gt;</a:t>
            </a:r>
          </a:p>
        </p:txBody>
      </p:sp>
    </p:spTree>
    <p:extLst>
      <p:ext uri="{BB962C8B-B14F-4D97-AF65-F5344CB8AC3E}">
        <p14:creationId xmlns:p14="http://schemas.microsoft.com/office/powerpoint/2010/main" val="4252378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การเชื่อมโยงข้อมูลภายในแฟ้มเอกสารเดียวกัน</a:t>
            </a:r>
          </a:p>
        </p:txBody>
      </p:sp>
      <p:sp>
        <p:nvSpPr>
          <p:cNvPr id="6349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มีขั้นตอนดังนี้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การสร้างเป้าหมายเพื่อใช้เป็นจุดเชื่อมโยง ด้วยคำสั่งดังนี้</a:t>
            </a:r>
          </a:p>
          <a:p>
            <a:pPr marL="609600" indent="-609600">
              <a:buFont typeface="Wingdings" panose="05000000000000000000" pitchFamily="2" charset="2"/>
              <a:buAutoNum type="arabicPeriod"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โดย tag &lt;A&gt; ไม่ต้องมี tag ปิด&lt;/A&gt;</a:t>
            </a:r>
          </a:p>
          <a:p>
            <a:pPr marL="609600" indent="-609600"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2. เชื่อมโยงด้วย  tag Anchor โดยใช้เครื่องหมาย # นำหน้าชื่อเป้าหมาย</a:t>
            </a:r>
          </a:p>
          <a:p>
            <a:pPr marL="609600" indent="-609600"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990600" lvl="1" indent="-533400"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marL="609600" indent="-609600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82E3FEF-BFDB-4380-9672-09E9FD1C188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3575050" y="2565401"/>
            <a:ext cx="4681538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NAME=“ชื่อเป้าหมาย”&gt;</a:t>
            </a: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auto">
          <a:xfrm>
            <a:off x="1754274" y="5465100"/>
            <a:ext cx="575945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HREF =“#เป้าหมาย”&gt; ข้อความ &lt;/A&gt;</a:t>
            </a:r>
          </a:p>
        </p:txBody>
      </p:sp>
    </p:spTree>
    <p:extLst>
      <p:ext uri="{BB962C8B-B14F-4D97-AF65-F5344CB8AC3E}">
        <p14:creationId xmlns:p14="http://schemas.microsoft.com/office/powerpoint/2010/main" val="2334915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การเชื่อมโยงข้อมูลต่างแฟ้มเอกสาร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1.ข้อความที่จะเชื่อมโยงอยู่ต่างแฟ้มแต่อยู่ในโฮสต์เดียวกัน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2. อยู่ต่าง URL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>
              <a:lnSpc>
                <a:spcPct val="80000"/>
              </a:lnSpc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8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7FB0C1F-6234-4A6C-8032-8E488C4D94D9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4517" name="Rectangle 4"/>
          <p:cNvSpPr>
            <a:spLocks noChangeArrowheads="1"/>
          </p:cNvSpPr>
          <p:nvPr/>
        </p:nvSpPr>
        <p:spPr bwMode="auto">
          <a:xfrm>
            <a:off x="977654" y="2651125"/>
            <a:ext cx="10541411" cy="792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 =“ชื่อแฟ้ม.html“ &gt; ข้อความ &lt;/A&gt;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 =&lt;“ชื่อแฟ้ม.html#ชื่อเป้าหมาย“ &gt; ข้อความ&lt;/A&gt;</a:t>
            </a:r>
          </a:p>
        </p:txBody>
      </p:sp>
      <p:sp>
        <p:nvSpPr>
          <p:cNvPr id="64518" name="Rectangle 6"/>
          <p:cNvSpPr>
            <a:spLocks noChangeArrowheads="1"/>
          </p:cNvSpPr>
          <p:nvPr/>
        </p:nvSpPr>
        <p:spPr bwMode="auto">
          <a:xfrm>
            <a:off x="3077998" y="4009580"/>
            <a:ext cx="6697663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 =“URL“ &gt; ข้อความ &lt;/A&gt;</a:t>
            </a:r>
          </a:p>
        </p:txBody>
      </p:sp>
      <p:sp>
        <p:nvSpPr>
          <p:cNvPr id="64519" name="Rectangle 7"/>
          <p:cNvSpPr>
            <a:spLocks noChangeArrowheads="1"/>
          </p:cNvSpPr>
          <p:nvPr/>
        </p:nvSpPr>
        <p:spPr bwMode="auto">
          <a:xfrm>
            <a:off x="2270106" y="5043567"/>
            <a:ext cx="6840537" cy="86360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&lt;A HREF = “http://www.yahoo.com”&gt; Yahoo Site &lt;/A&gt;</a:t>
            </a:r>
          </a:p>
        </p:txBody>
      </p:sp>
    </p:spTree>
    <p:extLst>
      <p:ext uri="{BB962C8B-B14F-4D97-AF65-F5344CB8AC3E}">
        <p14:creationId xmlns:p14="http://schemas.microsoft.com/office/powerpoint/2010/main" val="1687178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การเชื่อมโยงข้อมูลต่างแฟ้มเอกสาร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มีตัวเลือก ที่ใช้งานดังนี้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LINK เป็นสีของตัวอักษรก่อนมีการเชื่อมโยง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ALINK เป็นสีของตัวอักษรขณะถูกเลือก</a:t>
            </a:r>
          </a:p>
          <a:p>
            <a:pPr lvl="1"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VLINK เป็นสีของตัวอักษรหลังจากการเชื่อมโยงข้อมูลเรียบร้อยแล้ว </a:t>
            </a:r>
            <a:endParaRPr lang="th-TH" sz="18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โดยตัวเลือกทั้ง 3 จะต้องกำหนดรูปแบบสีของตัวอักษร</a:t>
            </a:r>
          </a:p>
          <a:p>
            <a:pPr eaLnBrk="1" hangingPunct="1">
              <a:lnSpc>
                <a:spcPct val="80000"/>
              </a:lnSpc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</a:t>
            </a:r>
            <a:endParaRPr lang="th-TH" sz="2000" b="1" dirty="0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endParaRPr lang="th-TH" sz="2000" b="1" dirty="0" smtClean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80000"/>
              </a:lnSpc>
            </a:pPr>
            <a:r>
              <a:rPr lang="th-TH" sz="2000" b="1" dirty="0" smtClean="0">
                <a:latin typeface="Tahoma" panose="020B0604030504040204" pitchFamily="34" charset="0"/>
                <a:cs typeface="Tahoma" panose="020B0604030504040204" pitchFamily="34" charset="0"/>
              </a:rPr>
              <a:t>ค่า 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default คือ LINK=สีน้ำเงิน ALINK=สีแดง  VLINK= สีม่วง</a:t>
            </a: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E43525AB-B3F8-4C85-A5BB-B052AD57398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3086017" y="3586348"/>
            <a:ext cx="6758627" cy="225631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&lt;BODY	BGCOLOR=“#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LINK=“# </a:t>
            </a:r>
            <a:r>
              <a:rPr lang="en-US" b="1"/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VLINK=“# </a:t>
            </a:r>
            <a:r>
              <a:rPr lang="en-US" b="1"/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ALINK=“# </a:t>
            </a:r>
            <a:r>
              <a:rPr lang="en-US" b="1"/>
              <a:t>RRGGBB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”&gt;</a:t>
            </a:r>
          </a:p>
        </p:txBody>
      </p:sp>
    </p:spTree>
    <p:extLst>
      <p:ext uri="{BB962C8B-B14F-4D97-AF65-F5344CB8AC3E}">
        <p14:creationId xmlns:p14="http://schemas.microsoft.com/office/powerpoint/2010/main" val="1363413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idx="1"/>
          </p:nvPr>
        </p:nvSpPr>
        <p:spPr>
          <a:xfrm>
            <a:off x="2924175" y="1816101"/>
            <a:ext cx="6267450" cy="29813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&lt;BODY   	BGCOLOR=“#000000”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TEXT=“#F0F0F0”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   		LINK=“#FFFF00” 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VLINK=“#22AA22”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	ALINK=“#0077FF”&gt;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&lt;/BODY&gt;</a:t>
            </a: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CB9CB374-C31F-47C6-985D-E67323CB493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69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47035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การใช้ภาพเป็นจุดเชื่อมโยง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ให้เพิ่มคำสั่ง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 dirty="0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	&lt;IMG SRC= “รูปภาพ”&gt;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เข้าไปใน tag Anchor</a:t>
            </a:r>
          </a:p>
          <a:p>
            <a:pPr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/>
            <a:endParaRPr lang="th-TH" sz="2000" b="1" dirty="0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33618B65-3397-4D31-AB0C-DF96AA4A8D70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3287714" y="3429000"/>
            <a:ext cx="4968875" cy="10795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&lt;A HREF= “URL” 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	&lt;IMG SRC = “ขื่อแฟ้มรูปภาพ”&gt; 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&lt;/A&gt;</a:t>
            </a:r>
          </a:p>
        </p:txBody>
      </p:sp>
    </p:spTree>
    <p:extLst>
      <p:ext uri="{BB962C8B-B14F-4D97-AF65-F5344CB8AC3E}">
        <p14:creationId xmlns:p14="http://schemas.microsoft.com/office/powerpoint/2010/main" val="2525174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ตัวอย่าง</a:t>
            </a:r>
          </a:p>
        </p:txBody>
      </p:sp>
      <p:sp>
        <p:nvSpPr>
          <p:cNvPr id="68613" name="Rectangle 3"/>
          <p:cNvSpPr>
            <a:spLocks noGrp="1" noChangeArrowheads="1"/>
          </p:cNvSpPr>
          <p:nvPr>
            <p:ph idx="1"/>
          </p:nvPr>
        </p:nvSpPr>
        <p:spPr>
          <a:xfrm>
            <a:off x="2419350" y="1601788"/>
            <a:ext cx="7924800" cy="441960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&lt;HTML&gt;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&lt;HEAD&gt;&lt;TITLE&gt; Image Links &lt;/TITLE&gt;&lt;/HEAD&gt;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&lt;BODY&gt;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&lt;CENTER&gt;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&lt;H1&gt; Image Links &lt;/H1&gt;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&lt;A HREF= “http://www.microsoft.com”&gt;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	 &lt;IMG  SRC= “IE.GIF” &gt; &lt;/A&gt; &lt;BR&gt;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&lt;A HREF=“http://www.yahoo.com”&gt;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&lt;IMG   SRC = “YAHOO.GIF”&gt; &lt;/A&gt;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&lt;/CENTER&gt;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&lt;/BODY&gt;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&lt;/HTML&gt;</a:t>
            </a:r>
          </a:p>
          <a:p>
            <a:pPr eaLnBrk="1" hangingPunct="1">
              <a:lnSpc>
                <a:spcPct val="80000"/>
              </a:lnSpc>
            </a:pPr>
            <a:endParaRPr lang="th-TH" sz="2000" dirty="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ตัวแทน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Computer and Internet (310101)</a:t>
            </a:r>
            <a:endParaRPr lang="th-TH"/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60124034-9065-4CFB-AF1A-FF47CDA4F21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26208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การใช้ mailto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เป็นโปรโตคอลที่ใช้สำหรับการสื่อสารข้อมูลแบบจดหมายอีเล็กทรอนิกส์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	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16B5774-4385-49F4-942C-D0D5BDD59F1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2006931" y="2813974"/>
            <a:ext cx="7659524" cy="431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&lt;A HREF=“mailto:username@hostname”&gt;</a:t>
            </a: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2854326" y="3860800"/>
            <a:ext cx="6265863" cy="1296988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Address your comment or suggestions at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&lt;A HREF=“mailto: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someone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@buu.ac.th”&gt;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		</a:t>
            </a:r>
            <a:r>
              <a:rPr lang="en-US" sz="2000" b="1" dirty="0">
                <a:latin typeface="Tahoma" panose="020B0604030504040204" pitchFamily="34" charset="0"/>
                <a:cs typeface="Tahoma" panose="020B0604030504040204" pitchFamily="34" charset="0"/>
              </a:rPr>
              <a:t>someone</a:t>
            </a:r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@buu.ac.th </a:t>
            </a:r>
          </a:p>
          <a:p>
            <a:pPr lvl="1" eaLnBrk="1" hangingPunct="1"/>
            <a:r>
              <a:rPr lang="th-TH" sz="2000" b="1" dirty="0">
                <a:latin typeface="Tahoma" panose="020B0604030504040204" pitchFamily="34" charset="0"/>
                <a:cs typeface="Tahoma" panose="020B0604030504040204" pitchFamily="34" charset="0"/>
              </a:rPr>
              <a:t>     &lt;/A&gt;</a:t>
            </a:r>
          </a:p>
        </p:txBody>
      </p:sp>
    </p:spTree>
    <p:extLst>
      <p:ext uri="{BB962C8B-B14F-4D97-AF65-F5344CB8AC3E}">
        <p14:creationId xmlns:p14="http://schemas.microsoft.com/office/powerpoint/2010/main" val="220448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การกำหนดลวดลายให้กับ Background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สามารถกำหนดลวดลาย (Pattern) ให้กับ Background ได้โดยใช้รูปภาพได้ แต่รูปภาพนั้นไม่ควรมีลวดลายมากเกินไป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กำหนดโดยแอตทริบิวต์  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</a:t>
            </a: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BACKGCROUND = “ชื่อแฟ้มรูปภาพ”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ลงในส่วนของ tag BODY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>
              <a:lnSpc>
                <a:spcPct val="90000"/>
              </a:lnSpc>
            </a:pP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357DF09-9EA4-4287-A41A-03B142ACE801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0661" name="Rectangle 4"/>
          <p:cNvSpPr>
            <a:spLocks noChangeArrowheads="1"/>
          </p:cNvSpPr>
          <p:nvPr/>
        </p:nvSpPr>
        <p:spPr bwMode="auto">
          <a:xfrm>
            <a:off x="677334" y="4559486"/>
            <a:ext cx="8134598" cy="7921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&lt;BODY  BACKGROUND = “ชื่อแฟ้มรูปภาพ” &gt;</a:t>
            </a:r>
          </a:p>
        </p:txBody>
      </p:sp>
    </p:spTree>
    <p:extLst>
      <p:ext uri="{BB962C8B-B14F-4D97-AF65-F5344CB8AC3E}">
        <p14:creationId xmlns:p14="http://schemas.microsoft.com/office/powerpoint/2010/main" val="420685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52955" y="4531797"/>
            <a:ext cx="8642350" cy="2667000"/>
          </a:xfrm>
        </p:spPr>
        <p:txBody>
          <a:bodyPr/>
          <a:lstStyle/>
          <a:p>
            <a:pPr algn="ctr" eaLnBrk="1" hangingPunct="1">
              <a:defRPr/>
            </a:pP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การสร้างตาราง(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Table</a:t>
            </a: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)</a:t>
            </a:r>
            <a:b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</a:br>
            <a:r>
              <a:rPr lang="th-TH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ด้วยภาษา </a:t>
            </a:r>
            <a:r>
              <a:rPr lang="en-US" sz="5400" b="1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HTML</a:t>
            </a:r>
            <a:endParaRPr lang="th-TH" sz="5400" b="1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Angsana New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252536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solidFill>
                  <a:schemeClr val="bg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การสร้างตาราง</a:t>
            </a:r>
          </a:p>
        </p:txBody>
      </p:sp>
      <p:sp>
        <p:nvSpPr>
          <p:cNvPr id="7270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133600" y="1557338"/>
            <a:ext cx="7850188" cy="792162"/>
          </a:xfrm>
        </p:spPr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Table ประกอบด้วยแถว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(row)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และคอลัมน์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(col)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จุดตัดของแถว และคอลัมน์ เรียกว่า cell ซึ่งใช้บรรจุข้อมูล</a:t>
            </a:r>
          </a:p>
        </p:txBody>
      </p:sp>
      <p:graphicFrame>
        <p:nvGraphicFramePr>
          <p:cNvPr id="138353" name="Group 113"/>
          <p:cNvGraphicFramePr>
            <a:graphicFrameLocks noGrp="1"/>
          </p:cNvGraphicFramePr>
          <p:nvPr>
            <p:ph sz="half" idx="2"/>
          </p:nvPr>
        </p:nvGraphicFramePr>
        <p:xfrm>
          <a:off x="3432175" y="3313113"/>
          <a:ext cx="3886200" cy="1714658"/>
        </p:xfrm>
        <a:graphic>
          <a:graphicData uri="http://schemas.openxmlformats.org/drawingml/2006/table">
            <a:tbl>
              <a:tblPr/>
              <a:tblGrid>
                <a:gridCol w="1295400"/>
                <a:gridCol w="1295400"/>
                <a:gridCol w="1295400"/>
              </a:tblGrid>
              <a:tr h="51796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ngsana New" pitchFamily="18" charset="-34"/>
                        </a:rPr>
                        <a:t>Cell</a:t>
                      </a:r>
                      <a:endParaRPr kumimoji="0" lang="th-TH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336699"/>
                    </a:solidFill>
                  </a:tcPr>
                </a:tc>
              </a:tr>
              <a:tr h="598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82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th-TH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ngsana New" pitchFamily="18" charset="-34"/>
                      </a:endParaRPr>
                    </a:p>
                  </a:txBody>
                  <a:tcPr marT="45703" marB="457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" name="ตัวแทน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49589B4-BCCC-4888-950D-C29D854D601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2727" name="Text Box 105"/>
          <p:cNvSpPr txBox="1">
            <a:spLocks noChangeArrowheads="1"/>
          </p:cNvSpPr>
          <p:nvPr/>
        </p:nvSpPr>
        <p:spPr bwMode="auto">
          <a:xfrm>
            <a:off x="7788276" y="3471863"/>
            <a:ext cx="6127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en-US" sz="1600" b="1"/>
              <a:t>Row</a:t>
            </a:r>
            <a:endParaRPr lang="th-TH" sz="1600" b="1"/>
          </a:p>
        </p:txBody>
      </p:sp>
      <p:sp>
        <p:nvSpPr>
          <p:cNvPr id="72728" name="Line 106"/>
          <p:cNvSpPr>
            <a:spLocks noChangeShapeType="1"/>
          </p:cNvSpPr>
          <p:nvPr/>
        </p:nvSpPr>
        <p:spPr bwMode="auto">
          <a:xfrm flipH="1">
            <a:off x="7319964" y="3644900"/>
            <a:ext cx="504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  <p:sp>
        <p:nvSpPr>
          <p:cNvPr id="72729" name="Text Box 107"/>
          <p:cNvSpPr txBox="1">
            <a:spLocks noChangeArrowheads="1"/>
          </p:cNvSpPr>
          <p:nvPr/>
        </p:nvSpPr>
        <p:spPr bwMode="auto">
          <a:xfrm>
            <a:off x="4995863" y="2536825"/>
            <a:ext cx="939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en-US" sz="1600" b="1"/>
              <a:t>Column</a:t>
            </a:r>
            <a:endParaRPr lang="th-TH" sz="1600" b="1"/>
          </a:p>
        </p:txBody>
      </p:sp>
      <p:sp>
        <p:nvSpPr>
          <p:cNvPr id="72730" name="Line 108"/>
          <p:cNvSpPr>
            <a:spLocks noChangeShapeType="1"/>
          </p:cNvSpPr>
          <p:nvPr/>
        </p:nvSpPr>
        <p:spPr bwMode="auto">
          <a:xfrm>
            <a:off x="5448300" y="285273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32673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23" name="Rectangle 2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คำสั่งสร้างตาราง</a:t>
            </a:r>
          </a:p>
        </p:txBody>
      </p:sp>
      <p:graphicFrame>
        <p:nvGraphicFramePr>
          <p:cNvPr id="183300" name="Group 4"/>
          <p:cNvGraphicFramePr>
            <a:graphicFrameLocks noGrp="1"/>
          </p:cNvGraphicFramePr>
          <p:nvPr>
            <p:ph type="tbl" idx="1"/>
          </p:nvPr>
        </p:nvGraphicFramePr>
        <p:xfrm>
          <a:off x="1992313" y="1530351"/>
          <a:ext cx="7924800" cy="4419601"/>
        </p:xfrm>
        <a:graphic>
          <a:graphicData uri="http://schemas.openxmlformats.org/drawingml/2006/table">
            <a:tbl>
              <a:tblPr/>
              <a:tblGrid>
                <a:gridCol w="4211637"/>
                <a:gridCol w="3713163"/>
              </a:tblGrid>
              <a:tr h="6842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&lt;TABLE&gt;...&lt;/TABLE&gt;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สำหรับใช้เริ่มต้นการสร้าง และจบการสร้างตาราง โดยจะไม่มี เส้นแบ่ง cell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977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&lt;TABLE  BO</a:t>
                      </a: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R</a:t>
                      </a: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DER=n&gt;…&lt;/TABLE&gt;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สำหรับใช้เริ่มต้นการสร้างและจบการสร้างตาราง โดยจะมี เส้นแบ่ง Cell แสดงให้เห็น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&lt;TR&gt;...&lt;/TR&gt;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ใช้กำหนดแถวของตาราง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&lt;TD&gt;...&lt;/TD&gt;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กำหนดส่วนของข้อมูลลง cell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401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&lt;TH&gt;...&lt;/TH&gt;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ใช้กำหนดหัวตาราง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  <a:tr h="1565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&lt;CAPTION ALIGN=TOP|BOTTOM&gt;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th-TH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ahoma" pitchFamily="34" charset="0"/>
                        </a:rPr>
                        <a:t>ใช้เขียนข้อความอธิบายตาราง โดยเขียนให้อยู่ด้านบนหรือด้านล่างของตารางก็ได้ ถ้าไม่กำหนดจะเป็นการกำหนดให้คำอธิบายอยู่ด้านบนของตาราง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9CCFF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2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95280466-721F-45DC-9116-50824ABA24A4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52974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tag &lt;TABLE&gt;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idx="1"/>
          </p:nvPr>
        </p:nvSpPr>
        <p:spPr>
          <a:xfrm>
            <a:off x="2708275" y="1816101"/>
            <a:ext cx="6483350" cy="3700463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&lt;TABLE&gt;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&lt;TR&gt;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  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&lt;TR&gt;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    &lt;TD&gt;ข้อความ 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……..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&lt;/TABLE&gt;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A11BA4E0-90EE-4857-B27D-53E89C52BC17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77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403551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การตีกรอบตาราง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คำสั่ง &lt;TABLE&gt;...&lt;/TABLE&gt; เป็นการสร้างตารางที่ไม่มีเส้น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การกำหนดเส้นในตารางใช้ แอตทริบิวต์ BORDER กำหนดลงในคำสั่ง &lt;TABLE&gt; ดังนี้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9E1EDE6-286A-41C2-9E4E-C7807E957B8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78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5781" name="Rectangle 4"/>
          <p:cNvSpPr>
            <a:spLocks noChangeArrowheads="1"/>
          </p:cNvSpPr>
          <p:nvPr/>
        </p:nvSpPr>
        <p:spPr bwMode="auto">
          <a:xfrm>
            <a:off x="1848656" y="3697659"/>
            <a:ext cx="5329237" cy="1295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&lt;TABLE BORDER= ความหนา&gt;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  	 …….</a:t>
            </a:r>
          </a:p>
          <a:p>
            <a:pPr lvl="1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&lt;/TABLE&gt;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860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ตัวอย่าง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idx="1"/>
          </p:nvPr>
        </p:nvSpPr>
        <p:spPr>
          <a:xfrm>
            <a:off x="2492376" y="1744663"/>
            <a:ext cx="7491413" cy="391636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&lt;HTML&gt;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&lt;HEAD&gt;&lt;TITLE&gt; Table Demo &lt;/TITLE&gt;&lt;/HEAD&gt;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&lt;BODY&gt;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&lt;H1&gt; ตาราง 2 x 2  พร้อมเส้นกรอบ &lt;/H1&gt;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&lt;TABLE  BORDER&gt;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&lt;TR&gt; 	&lt;TD&gt;เสรี&lt;/TD&gt;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           	&lt;TD&gt;ธวัชชัย&lt;/TD&gt;&lt;/TR&gt;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    &lt;TR&gt; 	&lt;TD&gt;วิชัย&lt;/TD&gt;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		 	&lt;TD&gt;ถมกนก&lt;/TD&gt; &lt;/TR&gt;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  &lt;/TABLE&gt;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&lt;/BODY&gt;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&lt;/HTML&gt;</a:t>
            </a:r>
          </a:p>
          <a:p>
            <a:pPr eaLnBrk="1" hangingPunct="1">
              <a:lnSpc>
                <a:spcPct val="8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9EF4226-0A1E-4308-BC13-CD0C580DA81B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79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392679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การปรับขนาดความกว้างและความสูงของตาราง</a:t>
            </a:r>
          </a:p>
        </p:txBody>
      </p:sp>
      <p:sp>
        <p:nvSpPr>
          <p:cNvPr id="778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เพิ่ม แอตทริบิวต์ WIDTH = x% ลงในคำสั่งเปิด ของ tag &lt;TABLE&gt; โดยที่ x แทนความกว้างของแถวของตารางที่จะแสดงบนจอภาพ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เพิ่ม แอตทริบิวต์ HEIGHT = x% ลงในคำสั่งเปิด ของ tag &lt;TABLE&gt; โดยที่ x แทนความสูงของแถวของตารางที่จะแสดงบนจอภาพ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CD6DB69-7657-4860-84CB-641A82B3F0BA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80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7829" name="Rectangle 4"/>
          <p:cNvSpPr>
            <a:spLocks noChangeArrowheads="1"/>
          </p:cNvSpPr>
          <p:nvPr/>
        </p:nvSpPr>
        <p:spPr bwMode="auto">
          <a:xfrm>
            <a:off x="3430588" y="2781301"/>
            <a:ext cx="5257800" cy="576263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&lt;TABLE  WIDTH=x%&gt; 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auto">
          <a:xfrm>
            <a:off x="3432175" y="4868863"/>
            <a:ext cx="5257800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None/>
            </a:pPr>
            <a:r>
              <a:rPr lang="th-TH">
                <a:latin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&lt;TABLE  </a:t>
            </a:r>
            <a:r>
              <a:rPr lang="en-US" b="1">
                <a:latin typeface="Tahoma" panose="020B0604030504040204" pitchFamily="34" charset="0"/>
                <a:cs typeface="Tahoma" panose="020B0604030504040204" pitchFamily="34" charset="0"/>
              </a:rPr>
              <a:t>HEIGHT</a:t>
            </a:r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=x%&gt; </a:t>
            </a:r>
            <a:endParaRPr lang="th-TH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46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การจัดตำแหน่งของข้อมูลใน cell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การจัดข้อมูลในเซลทำได้ 2 แบบคือ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แนวนอน ได้แก่ LEFT,RIGHT,CENTER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แนวตั้ง ได้แก่ TOP, BUTTON, MIDDLE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ใน tag &lt;TR&gt;เพิ่ม แอตทริบิวต์ 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ALIGN= สำหรับแนวนอน </a:t>
            </a:r>
          </a:p>
          <a:p>
            <a:pPr lvl="1" eaLnBrk="1" hangingPunct="1">
              <a:buClr>
                <a:schemeClr val="tx1"/>
              </a:buClr>
              <a:buFontTx/>
              <a:buChar char="•"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VALIGN= สำหรับแนวตั้ง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รูปแบบ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solidFill>
                  <a:srgbClr val="000099"/>
                </a:solidFill>
                <a:latin typeface="Tahoma" panose="020B0604030504040204" pitchFamily="34" charset="0"/>
                <a:cs typeface="Tahoma" panose="020B0604030504040204" pitchFamily="34" charset="0"/>
              </a:rPr>
              <a:t>       </a:t>
            </a:r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26C94EEC-D067-4423-A299-131035EE4433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81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8853" name="Rectangle 4"/>
          <p:cNvSpPr>
            <a:spLocks noChangeArrowheads="1"/>
          </p:cNvSpPr>
          <p:nvPr/>
        </p:nvSpPr>
        <p:spPr bwMode="auto">
          <a:xfrm>
            <a:off x="3183826" y="4589484"/>
            <a:ext cx="6648943" cy="136842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&lt;TR ALIGN = … VALIGN=…&gt;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	&lt;TD&gt;…&lt;/TD&gt; </a:t>
            </a:r>
          </a:p>
          <a:p>
            <a:pPr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	&lt;/TR&gt;</a:t>
            </a:r>
          </a:p>
        </p:txBody>
      </p:sp>
    </p:spTree>
    <p:extLst>
      <p:ext uri="{BB962C8B-B14F-4D97-AF65-F5344CB8AC3E}">
        <p14:creationId xmlns:p14="http://schemas.microsoft.com/office/powerpoint/2010/main" val="25418762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ROWSPAN</a:t>
            </a:r>
          </a:p>
        </p:txBody>
      </p:sp>
      <p:sp>
        <p:nvSpPr>
          <p:cNvPr id="7987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ROWSPAN ใช้กำหนดความสูงเป็นจำนวนเท่าของแถวปกติ ใช้กับ tag &lt;TD&gt;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lvl="2" eaLnBrk="1" hangingPunct="1">
              <a:buFont typeface="Wingdings" panose="05000000000000000000" pitchFamily="2" charset="2"/>
              <a:buNone/>
            </a:pPr>
            <a:endParaRPr lang="th-TH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1E18A44-9A9E-49C2-9B31-B3BC8541AE82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82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79877" name="Rectangle 4"/>
          <p:cNvSpPr>
            <a:spLocks noChangeArrowheads="1"/>
          </p:cNvSpPr>
          <p:nvPr/>
        </p:nvSpPr>
        <p:spPr bwMode="auto">
          <a:xfrm>
            <a:off x="2771014" y="2790702"/>
            <a:ext cx="8344290" cy="291158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&lt;TABLE BORDER&gt;</a:t>
            </a:r>
          </a:p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&lt;TR&gt;	&lt;TD&gt;Item1&lt;/TD&gt; </a:t>
            </a:r>
          </a:p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&lt;TD ROWSPAN=2&gt;Item2&lt;/TD&gt;         </a:t>
            </a:r>
          </a:p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         	&lt;TD&gt;Item3&lt;/TD&gt;  &lt;/TR&gt; </a:t>
            </a:r>
          </a:p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&lt;TR&gt;	&lt;TD&gt;Item4&lt;/TD&gt; </a:t>
            </a:r>
          </a:p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&lt;TD &gt;Item5&lt;/TD&gt; &lt;/TR&gt;</a:t>
            </a:r>
          </a:p>
          <a:p>
            <a:pPr lvl="2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396468224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COLSPAN</a:t>
            </a:r>
          </a:p>
        </p:txBody>
      </p:sp>
      <p:sp>
        <p:nvSpPr>
          <p:cNvPr id="8090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COLSPAN ใช้ปรับขนาดของความกว้างคอลัมน์ในตารางให้มีขนาดเป็นจำนวนเท่าของของขนาดความกว้างปกติ ใน  tag &lt;TD&gt;</a:t>
            </a:r>
          </a:p>
          <a:p>
            <a:pPr eaLnBrk="1" hangingPunct="1">
              <a:lnSpc>
                <a:spcPct val="90000"/>
              </a:lnSpc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ตัวอย่าง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lnSpc>
                <a:spcPct val="90000"/>
              </a:lnSpc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1A9458DE-7F71-4E36-ABD3-2DFD21BAC6FC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83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80901" name="Rectangle 4"/>
          <p:cNvSpPr>
            <a:spLocks noChangeArrowheads="1"/>
          </p:cNvSpPr>
          <p:nvPr/>
        </p:nvSpPr>
        <p:spPr bwMode="auto">
          <a:xfrm>
            <a:off x="2212874" y="3103022"/>
            <a:ext cx="9424944" cy="320633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&lt;TABLE  BORDER&gt;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  &lt;TR&gt;  &lt;TD&gt;Item1&lt;/TD&gt; 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&lt;TD COL</a:t>
            </a:r>
            <a:r>
              <a:rPr lang="en-US" b="1" dirty="0">
                <a:latin typeface="Tahoma" panose="020B0604030504040204" pitchFamily="34" charset="0"/>
                <a:cs typeface="Tahoma" panose="020B0604030504040204" pitchFamily="34" charset="0"/>
              </a:rPr>
              <a:t>S</a:t>
            </a:r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PAN=2&gt;Item2&lt;/TD&gt; &lt;/TR&gt; 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  &lt;TR&gt;  &lt;TD&gt;Item3&lt;/TD&gt; 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	   &lt;TD&gt;Item4&lt;/TD&gt; 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                 &lt;TD &gt;Item5&lt;/TD&gt; &lt;/TR&gt;</a:t>
            </a:r>
          </a:p>
          <a:p>
            <a:pPr lvl="1" eaLnBrk="1" hangingPunct="1"/>
            <a:r>
              <a:rPr lang="th-TH" b="1" dirty="0">
                <a:latin typeface="Tahoma" panose="020B0604030504040204" pitchFamily="34" charset="0"/>
                <a:cs typeface="Tahoma" panose="020B0604030504040204" pitchFamily="34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286669004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CELLPADDING</a:t>
            </a:r>
          </a:p>
        </p:txBody>
      </p:sp>
      <p:sp>
        <p:nvSpPr>
          <p:cNvPr id="819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แอตทริบิวต์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CELLPADDING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ใช้กำหนดพื้นที่การแสดงข้อมูล ภายในตาราง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ปกติจะกำหนดค่า cellpadding เป็น 0 ซึ่งพื้นที่ในการแสดงข้อมูลในตารางเท่ากับจำนวนตัวอักษรที่แสดงเท่านั้น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ถ้ากำหนดให้มีค่ามากจะมีพื้นที่เป็นที่ว่างมากขึ้น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453DCA41-07EE-41E3-9277-823C73607B9F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84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8812094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CELLSPACING</a:t>
            </a:r>
          </a:p>
        </p:txBody>
      </p:sp>
      <p:sp>
        <p:nvSpPr>
          <p:cNvPr id="8294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แอตทริบิวต์ </a:t>
            </a:r>
            <a:r>
              <a:rPr lang="en-US" sz="2000" b="1">
                <a:latin typeface="Tahoma" panose="020B0604030504040204" pitchFamily="34" charset="0"/>
                <a:cs typeface="Tahoma" panose="020B0604030504040204" pitchFamily="34" charset="0"/>
              </a:rPr>
              <a:t>CELLSPACING </a:t>
            </a: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ใช้กำหนดขนาดเส้นตาราง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ปกติจะกำหนดค่า cellspacing เป็น 0 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ถ้ากำหนดให้มีค่ามากจะมีขนาดเส้นตารางมากขึ้น</a:t>
            </a:r>
          </a:p>
          <a:p>
            <a:pPr eaLnBrk="1" hangingPunct="1"/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0D7B016A-410C-4B9C-B52B-A0E89C264C55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85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7498537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ngsana New" pitchFamily="18" charset="-34"/>
              </a:rPr>
              <a:t>การใส่ภาพลงในตาราง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ให้บรรจุคำสั่งอ่านภาพ คือ </a:t>
            </a: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/>
            <a:endParaRPr lang="th-TH" sz="2000" b="1"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</a:t>
            </a:r>
            <a:endParaRPr lang="th-TH" sz="2000" b="1">
              <a:solidFill>
                <a:srgbClr val="000099"/>
              </a:solidFill>
              <a:latin typeface="Tahoma" panose="020B0604030504040204" pitchFamily="34" charset="0"/>
              <a:cs typeface="Tahoma" panose="020B0604030504040204" pitchFamily="34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    ลงในคำสั่งของตาราง</a:t>
            </a:r>
          </a:p>
          <a:p>
            <a:pPr eaLnBrk="1" hangingPunct="1"/>
            <a:r>
              <a:rPr lang="th-TH" sz="2000" b="1">
                <a:latin typeface="Tahoma" panose="020B0604030504040204" pitchFamily="34" charset="0"/>
                <a:cs typeface="Tahoma" panose="020B0604030504040204" pitchFamily="34" charset="0"/>
              </a:rPr>
              <a:t>กรณีที่ต้องการปรับขนาดของรูปภาพให้มีขนาดเหมาะสมกับตาราง ให้ใช้คำสั่ง WIDTH=x% และ HEIGHT=y% ลงในคำสั่ง &lt;IMG&gt; 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th-TH" sz="2000">
              <a:latin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" name="ตัวแทน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eaLnBrk="1" hangingPunct="1"/>
            <a:fld id="{BD2731C5-BFE1-4011-B377-691FF1A28540}" type="slidenum">
              <a:rPr lang="en-US">
                <a:latin typeface="Arial Black" panose="020B0A04020102020204" pitchFamily="34" charset="0"/>
                <a:cs typeface="Angsana New" panose="02020603050405020304" pitchFamily="18" charset="-34"/>
              </a:rPr>
              <a:pPr eaLnBrk="1" hangingPunct="1"/>
              <a:t>86</a:t>
            </a:fld>
            <a:endParaRPr lang="th-TH">
              <a:latin typeface="Arial Black" panose="020B0A04020102020204" pitchFamily="34" charset="0"/>
              <a:cs typeface="Angsana New" panose="02020603050405020304" pitchFamily="18" charset="-34"/>
            </a:endParaRPr>
          </a:p>
        </p:txBody>
      </p:sp>
      <p:sp>
        <p:nvSpPr>
          <p:cNvPr id="83973" name="Rectangle 4"/>
          <p:cNvSpPr>
            <a:spLocks noChangeArrowheads="1"/>
          </p:cNvSpPr>
          <p:nvPr/>
        </p:nvSpPr>
        <p:spPr bwMode="auto">
          <a:xfrm>
            <a:off x="2719449" y="2953183"/>
            <a:ext cx="5275882" cy="576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ngsanaUPC" panose="02020603050405020304" pitchFamily="18" charset="-34"/>
              </a:defRPr>
            </a:lvl9pPr>
          </a:lstStyle>
          <a:p>
            <a:pPr algn="ctr" eaLnBrk="1" hangingPunct="1"/>
            <a:r>
              <a:rPr lang="th-TH" b="1">
                <a:latin typeface="Tahoma" panose="020B0604030504040204" pitchFamily="34" charset="0"/>
                <a:cs typeface="Tahoma" panose="020B0604030504040204" pitchFamily="34" charset="0"/>
              </a:rPr>
              <a:t>&lt;IMG SRC = “ชื่อแฟ้มรูปภาพ”&gt;</a:t>
            </a:r>
          </a:p>
        </p:txBody>
      </p:sp>
    </p:spTree>
    <p:extLst>
      <p:ext uri="{BB962C8B-B14F-4D97-AF65-F5344CB8AC3E}">
        <p14:creationId xmlns:p14="http://schemas.microsoft.com/office/powerpoint/2010/main" val="369850616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7200" b="1">
                <a:solidFill>
                  <a:srgbClr val="0066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การเชื่อมโยงเอกสาร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09600" indent="-609600">
              <a:buNone/>
            </a:pPr>
            <a:r>
              <a:rPr lang="th-TH" sz="4000" b="1" i="1">
                <a:solidFill>
                  <a:srgbClr val="6600CC"/>
                </a:solidFill>
                <a:latin typeface="Angsana New" panose="02020603050405020304" pitchFamily="18" charset="-34"/>
              </a:rPr>
              <a:t>การเชื่อมโยงเอกสารสามารถแบ่งได้เป็น </a:t>
            </a:r>
            <a:r>
              <a:rPr lang="en-US" sz="4000" b="1" i="1">
                <a:solidFill>
                  <a:srgbClr val="6600CC"/>
                </a:solidFill>
                <a:latin typeface="Angsana New" panose="02020603050405020304" pitchFamily="18" charset="-34"/>
              </a:rPr>
              <a:t>2 </a:t>
            </a:r>
            <a:r>
              <a:rPr lang="th-TH" sz="4000" b="1" i="1">
                <a:solidFill>
                  <a:srgbClr val="6600CC"/>
                </a:solidFill>
                <a:latin typeface="Angsana New" panose="02020603050405020304" pitchFamily="18" charset="-34"/>
              </a:rPr>
              <a:t>ประเภท ดังนี้</a:t>
            </a:r>
          </a:p>
          <a:p>
            <a:pPr marL="609600" indent="-609600">
              <a:buFontTx/>
              <a:buAutoNum type="arabicPeriod"/>
            </a:pPr>
            <a:r>
              <a:rPr lang="en-US" sz="4000" b="1">
                <a:solidFill>
                  <a:srgbClr val="6600CC"/>
                </a:solidFill>
                <a:latin typeface="Angsana New" panose="02020603050405020304" pitchFamily="18" charset="-34"/>
              </a:rPr>
              <a:t>INTERNAL LINK  </a:t>
            </a:r>
            <a:r>
              <a:rPr lang="th-TH" sz="4000" b="1">
                <a:solidFill>
                  <a:srgbClr val="6600CC"/>
                </a:solidFill>
                <a:latin typeface="Angsana New" panose="02020603050405020304" pitchFamily="18" charset="-34"/>
              </a:rPr>
              <a:t>เป็นการเชื่อมโยงข้อมูลภายในเอกสารเดียวกัน หรือภายในเว็บไซต์เดียวกัน</a:t>
            </a:r>
          </a:p>
          <a:p>
            <a:pPr marL="609600" indent="-609600">
              <a:buFontTx/>
              <a:buAutoNum type="arabicPeriod"/>
            </a:pPr>
            <a:r>
              <a:rPr lang="en-US" sz="4000" b="1">
                <a:solidFill>
                  <a:srgbClr val="6600CC"/>
                </a:solidFill>
                <a:latin typeface="Angsana New" panose="02020603050405020304" pitchFamily="18" charset="-34"/>
              </a:rPr>
              <a:t>EXTERNAL LINK </a:t>
            </a:r>
            <a:r>
              <a:rPr lang="th-TH" sz="4000" b="1">
                <a:solidFill>
                  <a:srgbClr val="6600CC"/>
                </a:solidFill>
                <a:latin typeface="Angsana New" panose="02020603050405020304" pitchFamily="18" charset="-34"/>
              </a:rPr>
              <a:t> เป็นการเชื่อมโยงข้อมูลภายนอกไปยังเว็บไซต์อื่นๆ</a:t>
            </a:r>
          </a:p>
        </p:txBody>
      </p:sp>
    </p:spTree>
    <p:extLst>
      <p:ext uri="{BB962C8B-B14F-4D97-AF65-F5344CB8AC3E}">
        <p14:creationId xmlns:p14="http://schemas.microsoft.com/office/powerpoint/2010/main" val="284102909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>
              <a:defRPr/>
            </a:pPr>
            <a:r>
              <a:rPr lang="th-TH" sz="54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การเชื่อมโยงข้อมูลภายในเอกสารเดียวกัน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th-TH" sz="3600" b="1" i="1">
                <a:latin typeface="Angsana New" panose="02020603050405020304" pitchFamily="18" charset="-34"/>
              </a:rPr>
              <a:t>คำสั่ง </a:t>
            </a:r>
            <a:r>
              <a:rPr lang="en-US" sz="3600" b="1" i="1">
                <a:latin typeface="Angsana New" panose="02020603050405020304" pitchFamily="18" charset="-34"/>
              </a:rPr>
              <a:t>&lt;A NAME&gt; </a:t>
            </a:r>
            <a:r>
              <a:rPr lang="th-TH" sz="3600" b="1" i="1">
                <a:latin typeface="Angsana New" panose="02020603050405020304" pitchFamily="18" charset="-34"/>
              </a:rPr>
              <a:t>เป็นคำสั่งที่ใช้ในการกำหนดชื่อส่วนต่างๆ ที่อยู่ในหน้าเอกสารที่ต้องการทำการเชื่อมโยง เพื่อความสะดวกในการใช้คำสั่งเชื่อมโยงข้อมูลภายในเอกสาร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h-TH" sz="3600" b="1" i="1">
                <a:latin typeface="Angsana New" panose="02020603050405020304" pitchFamily="18" charset="-34"/>
              </a:rPr>
              <a:t>	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รูปแบบคำสั่ง 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&lt;A NAME=Label&gt;........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ข้อความ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......&lt;/A&gt;</a:t>
            </a:r>
          </a:p>
          <a:p>
            <a:pPr eaLnBrk="1" hangingPunct="1">
              <a:lnSpc>
                <a:spcPct val="80000"/>
              </a:lnSpc>
            </a:pPr>
            <a:r>
              <a:rPr lang="th-TH" sz="3600" b="1" i="1">
                <a:latin typeface="Angsana New" panose="02020603050405020304" pitchFamily="18" charset="-34"/>
              </a:rPr>
              <a:t>คำสั่ง </a:t>
            </a:r>
            <a:r>
              <a:rPr lang="en-US" sz="3600" b="1" i="1">
                <a:latin typeface="Angsana New" panose="02020603050405020304" pitchFamily="18" charset="-34"/>
              </a:rPr>
              <a:t>&lt;A HREF&gt; </a:t>
            </a:r>
            <a:r>
              <a:rPr lang="th-TH" sz="3600" b="1" i="1">
                <a:latin typeface="Angsana New" panose="02020603050405020304" pitchFamily="18" charset="-34"/>
              </a:rPr>
              <a:t>เป็นคำสั่งที่ใช้กำหนดเป้าหมายที่ต้องการเชื่อมโยงไปหา โดยการใส่ </a:t>
            </a:r>
            <a:r>
              <a:rPr lang="en-US" sz="3600" b="1" i="1">
                <a:latin typeface="Angsana New" panose="02020603050405020304" pitchFamily="18" charset="-34"/>
              </a:rPr>
              <a:t>Label</a:t>
            </a:r>
            <a:r>
              <a:rPr lang="th-TH" sz="3600" b="1" i="1">
                <a:latin typeface="Angsana New" panose="02020603050405020304" pitchFamily="18" charset="-34"/>
              </a:rPr>
              <a:t> ของข้อมูลที่ต้องการเชื่อมโยง และใส่ข้อความที่แสดงให้ทราบได้เชื่อมโยงไปยังส่วนใดของหน้าเอกสาร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th-TH" sz="3600" b="1" i="1">
                <a:latin typeface="Angsana New" panose="02020603050405020304" pitchFamily="18" charset="-34"/>
              </a:rPr>
              <a:t>	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รูปแบบคำสั่ง 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&lt;A HREF=#Label&gt;........</a:t>
            </a:r>
            <a:r>
              <a:rPr lang="th-TH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ข้อความ</a:t>
            </a:r>
            <a:r>
              <a:rPr lang="en-US" sz="3600" b="1" i="1">
                <a:solidFill>
                  <a:srgbClr val="FF3399"/>
                </a:solidFill>
                <a:latin typeface="Angsana New" panose="02020603050405020304" pitchFamily="18" charset="-34"/>
              </a:rPr>
              <a:t>......&lt;/A&gt;</a:t>
            </a:r>
            <a:endParaRPr lang="th-TH" sz="3600" b="1" i="1">
              <a:solidFill>
                <a:srgbClr val="FF3399"/>
              </a:solidFill>
              <a:latin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72677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490537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th-TH" sz="32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ตัวอย่างการเชื่อมโยงหน้าเดียวกัน</a:t>
            </a:r>
          </a:p>
        </p:txBody>
      </p:sp>
      <p:pic>
        <p:nvPicPr>
          <p:cNvPr id="2867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908050"/>
            <a:ext cx="8532813" cy="594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88003947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74639"/>
            <a:ext cx="8229600" cy="56197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th-TH" sz="3200" b="1">
                <a:solidFill>
                  <a:srgbClr val="339933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เฉลย</a:t>
            </a:r>
          </a:p>
        </p:txBody>
      </p:sp>
      <p:pic>
        <p:nvPicPr>
          <p:cNvPr id="2969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765176"/>
            <a:ext cx="8208963" cy="609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8821520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sz="48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การเชื่อมโยงไปยังไฟล์อื่นหรือ </a:t>
            </a:r>
            <a:r>
              <a:rPr lang="en-US" b="1" smtClean="0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Web Page</a:t>
            </a:r>
            <a:r>
              <a:rPr lang="en-US" sz="48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 </a:t>
            </a:r>
            <a:r>
              <a:rPr lang="th-TH" sz="4800" b="1">
                <a:solidFill>
                  <a:srgbClr val="333399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ngsana New" pitchFamily="18" charset="-34"/>
              </a:rPr>
              <a:t>อื่น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1981200" y="1600200"/>
            <a:ext cx="8229600" cy="5068888"/>
          </a:xfrm>
        </p:spPr>
        <p:txBody>
          <a:bodyPr/>
          <a:lstStyle/>
          <a:p>
            <a:pPr eaLnBrk="1" hangingPunct="1"/>
            <a:r>
              <a:rPr lang="th-TH" b="1" i="1" smtClean="0">
                <a:latin typeface="Angsana New" panose="02020603050405020304" pitchFamily="18" charset="-34"/>
              </a:rPr>
              <a:t>คำสั่ง </a:t>
            </a:r>
            <a:r>
              <a:rPr lang="en-US" b="1" i="1" smtClean="0">
                <a:latin typeface="Angsana New" panose="02020603050405020304" pitchFamily="18" charset="-34"/>
              </a:rPr>
              <a:t>&lt;A HREF&gt; </a:t>
            </a:r>
            <a:r>
              <a:rPr lang="th-TH" b="1" i="1" smtClean="0">
                <a:latin typeface="Angsana New" panose="02020603050405020304" pitchFamily="18" charset="-34"/>
              </a:rPr>
              <a:t>ใช้ในการเชื่อมโยงไปยังไฟล์อื่น ซึ่งเป็นคำสั่งเดียวกันกับการเชื่อมโยงข้อมูลภายในเอกสารเดียวกัน แต่มีวิธีการเรียกใช้คำสั่งที่แตกต่างกัน โดยจะมีการระบุชื่อหน้าเว็บที่ต้องการเชื่อมโยงตามด้วย </a:t>
            </a:r>
            <a:r>
              <a:rPr lang="en-US" b="1" i="1" smtClean="0">
                <a:latin typeface="Angsana New" panose="02020603050405020304" pitchFamily="18" charset="-34"/>
              </a:rPr>
              <a:t>.HTML</a:t>
            </a:r>
            <a:r>
              <a:rPr lang="th-TH" b="1" i="1" smtClean="0">
                <a:latin typeface="Angsana New" panose="02020603050405020304" pitchFamily="18" charset="-34"/>
              </a:rPr>
              <a:t> </a:t>
            </a:r>
            <a:r>
              <a:rPr lang="en-US" b="1" i="1" smtClean="0">
                <a:latin typeface="Angsana New" panose="02020603050405020304" pitchFamily="18" charset="-34"/>
              </a:rPr>
              <a:t>(</a:t>
            </a:r>
            <a:r>
              <a:rPr lang="th-TH" b="1" i="1" smtClean="0">
                <a:latin typeface="Angsana New" panose="02020603050405020304" pitchFamily="18" charset="-34"/>
              </a:rPr>
              <a:t>หากเอกสารนั้นเป็นเอกสาร </a:t>
            </a:r>
            <a:r>
              <a:rPr lang="en-US" b="1" i="1" smtClean="0">
                <a:latin typeface="Angsana New" panose="02020603050405020304" pitchFamily="18" charset="-34"/>
              </a:rPr>
              <a:t>HTML) </a:t>
            </a:r>
            <a:endParaRPr lang="th-TH" b="1" i="1" smtClean="0">
              <a:latin typeface="Angsana New" panose="02020603050405020304" pitchFamily="18" charset="-34"/>
            </a:endParaRPr>
          </a:p>
          <a:p>
            <a:pPr eaLnBrk="1" hangingPunct="1">
              <a:buFontTx/>
              <a:buNone/>
            </a:pPr>
            <a:r>
              <a:rPr lang="th-TH" b="1" i="1" smtClean="0">
                <a:latin typeface="Angsana New" panose="02020603050405020304" pitchFamily="18" charset="-34"/>
              </a:rPr>
              <a:t>	</a:t>
            </a:r>
            <a:r>
              <a:rPr lang="th-TH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รูปแบบคำสั่ง </a:t>
            </a:r>
            <a:endParaRPr lang="en-US" b="1" i="1" smtClean="0">
              <a:solidFill>
                <a:srgbClr val="FF0000"/>
              </a:solidFill>
              <a:latin typeface="Angsana New" panose="02020603050405020304" pitchFamily="18" charset="-34"/>
            </a:endParaRPr>
          </a:p>
          <a:p>
            <a:pPr eaLnBrk="1" hangingPunct="1">
              <a:buFontTx/>
              <a:buNone/>
            </a:pPr>
            <a:r>
              <a:rPr lang="en-US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	&lt;A HREF=/Path/Filename.html&gt;........</a:t>
            </a:r>
            <a:r>
              <a:rPr lang="th-TH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ข้อความ</a:t>
            </a:r>
            <a:r>
              <a:rPr lang="en-US" b="1" i="1" smtClean="0">
                <a:solidFill>
                  <a:srgbClr val="FF0000"/>
                </a:solidFill>
                <a:latin typeface="Angsana New" panose="02020603050405020304" pitchFamily="18" charset="-34"/>
              </a:rPr>
              <a:t>......&lt;/A&gt;</a:t>
            </a:r>
            <a:endParaRPr lang="th-TH" b="1" i="1" smtClean="0">
              <a:solidFill>
                <a:srgbClr val="FF0000"/>
              </a:solidFill>
              <a:latin typeface="Angsana New" panose="02020603050405020304" pitchFamily="18" charset="-34"/>
            </a:endParaRPr>
          </a:p>
          <a:p>
            <a:pPr eaLnBrk="1" hangingPunct="1">
              <a:buFontTx/>
              <a:buNone/>
            </a:pPr>
            <a:r>
              <a:rPr lang="th-TH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โดยที่  </a:t>
            </a:r>
            <a:r>
              <a:rPr lang="en-US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Path </a:t>
            </a:r>
            <a:r>
              <a:rPr lang="th-TH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 เป็นการระบุตำแหน่งของไฟล์ที่ต้องการเชื่อมโยงไปถึง ซึ่งไฟล์นั้นอาจจะอยู่ในโฟลเดอร์อื่น จึงต้องมีการระบุโฟลเดอร์ที่ไฟล์นั้นอยู่ด้วย </a:t>
            </a:r>
            <a:r>
              <a:rPr lang="en-US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Filename </a:t>
            </a:r>
            <a:r>
              <a:rPr lang="th-TH" b="1" i="1" smtClean="0">
                <a:solidFill>
                  <a:srgbClr val="6600CC"/>
                </a:solidFill>
                <a:latin typeface="Angsana New" panose="02020603050405020304" pitchFamily="18" charset="-34"/>
              </a:rPr>
              <a:t>เป็นชื่อไฟล์ที่ต้องการเชื่อมโยงไปถึง</a:t>
            </a:r>
          </a:p>
        </p:txBody>
      </p:sp>
    </p:spTree>
    <p:extLst>
      <p:ext uri="{BB962C8B-B14F-4D97-AF65-F5344CB8AC3E}">
        <p14:creationId xmlns:p14="http://schemas.microsoft.com/office/powerpoint/2010/main" val="397210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ตัวอย่างการเชื่อมโยงไปยังไฟล์อื่น</a:t>
            </a:r>
          </a:p>
        </p:txBody>
      </p:sp>
      <p:pic>
        <p:nvPicPr>
          <p:cNvPr id="3174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1" y="1141414"/>
            <a:ext cx="8424863" cy="545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38100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เฉลย</a:t>
            </a:r>
          </a:p>
        </p:txBody>
      </p:sp>
      <p:pic>
        <p:nvPicPr>
          <p:cNvPr id="32771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1196975"/>
            <a:ext cx="8810625" cy="5462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066187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การเชื่อมโยงไปยังไฟล์อื่นโดยมีการกำหนดตำแหน่ง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600201"/>
            <a:ext cx="882015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h-TH" sz="3600" b="1"/>
              <a:t>รูปแบบคำสั่ง</a:t>
            </a:r>
          </a:p>
          <a:p>
            <a:pPr eaLnBrk="1" hangingPunct="1">
              <a:buFontTx/>
              <a:buNone/>
            </a:pPr>
            <a:r>
              <a:rPr lang="en-US"/>
              <a:t>&lt;A HREF=/Path/Filename.html#Label&gt;..</a:t>
            </a:r>
            <a:r>
              <a:rPr lang="th-TH" smtClean="0"/>
              <a:t>ข้อความ</a:t>
            </a:r>
            <a:r>
              <a:rPr lang="en-US" smtClean="0"/>
              <a:t>…</a:t>
            </a:r>
            <a:r>
              <a:rPr lang="en-US"/>
              <a:t>&lt;/A&gt;</a:t>
            </a:r>
          </a:p>
          <a:p>
            <a:pPr eaLnBrk="1" hangingPunct="1">
              <a:buFontTx/>
              <a:buNone/>
            </a:pPr>
            <a:r>
              <a:rPr lang="th-TH"/>
              <a:t>โดยที่   </a:t>
            </a:r>
            <a:r>
              <a:rPr lang="en-US"/>
              <a:t>Path  </a:t>
            </a:r>
            <a:r>
              <a:rPr lang="th-TH"/>
              <a:t>คือ  การระบุตำแหน่งของไฟล์ที่ต้องการเชื่อมโยงไปถึง ซึ่งไฟล์นั้น</a:t>
            </a:r>
          </a:p>
          <a:p>
            <a:pPr eaLnBrk="1" hangingPunct="1">
              <a:buFontTx/>
              <a:buNone/>
            </a:pPr>
            <a:r>
              <a:rPr lang="th-TH"/>
              <a:t>                      อาจจะอยู่ในโฟลเดอร์อื่น จึงต้องมีการระบุโฟลเดอร์ที่ไฟล์นั้นอยู่ด้วย</a:t>
            </a:r>
          </a:p>
          <a:p>
            <a:pPr eaLnBrk="1" hangingPunct="1">
              <a:buFontTx/>
              <a:buNone/>
            </a:pPr>
            <a:r>
              <a:rPr lang="th-TH"/>
              <a:t>        </a:t>
            </a:r>
            <a:r>
              <a:rPr lang="en-US"/>
              <a:t>Filename </a:t>
            </a:r>
            <a:r>
              <a:rPr lang="th-TH"/>
              <a:t>คือ ชื่อไฟล์ที่ต้องการเชื่อมโยงไปถึง</a:t>
            </a:r>
          </a:p>
          <a:p>
            <a:pPr eaLnBrk="1" hangingPunct="1">
              <a:buFontTx/>
              <a:buNone/>
            </a:pPr>
            <a:r>
              <a:rPr lang="th-TH"/>
              <a:t>	    </a:t>
            </a:r>
            <a:r>
              <a:rPr lang="en-US"/>
              <a:t>Label   </a:t>
            </a:r>
            <a:r>
              <a:rPr lang="th-TH"/>
              <a:t>คือ  ชื่อของหัวข้อของข้อมูลที่ต้องการเชื่อมโยงไปถึง ซึ่งต้องเป็นชื่อที่</a:t>
            </a:r>
          </a:p>
          <a:p>
            <a:pPr eaLnBrk="1" hangingPunct="1">
              <a:buFontTx/>
              <a:buNone/>
            </a:pPr>
            <a:r>
              <a:rPr lang="th-TH"/>
              <a:t>	                     อยู่ในไฟล์นั้นด้วย</a:t>
            </a:r>
          </a:p>
          <a:p>
            <a:pPr eaLnBrk="1" hangingPunct="1">
              <a:buFontTx/>
              <a:buNone/>
            </a:pPr>
            <a:r>
              <a:rPr lang="th-TH"/>
              <a:t>       </a:t>
            </a:r>
            <a:r>
              <a:rPr lang="en-US"/>
              <a:t>/A </a:t>
            </a:r>
            <a:r>
              <a:rPr lang="th-TH"/>
              <a:t>       คือ    คำสั่งปิดคำสั่ง </a:t>
            </a:r>
            <a:r>
              <a:rPr lang="en-US"/>
              <a:t>A</a:t>
            </a:r>
          </a:p>
          <a:p>
            <a:pPr eaLnBrk="1" hangingPunct="1">
              <a:buFontTx/>
              <a:buNone/>
            </a:pP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86085914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th-TH" sz="4800"/>
              <a:t>ตัวอย่างการเชื่อมโยงไปยังไฟล์อื่นโดยมีการกำหนดตำแหน่ง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0875" y="1592263"/>
            <a:ext cx="8351838" cy="508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08855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เฉลย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1" y="1125538"/>
            <a:ext cx="8569325" cy="554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91855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th-TH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การเชื่อมโยงไปยัง </a:t>
            </a:r>
            <a:r>
              <a:rPr lang="en-US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Web Sites </a:t>
            </a:r>
            <a:r>
              <a:rPr lang="th-TH" b="1" smtClean="0">
                <a:effectLst>
                  <a:outerShdw blurRad="38100" dist="38100" dir="2700000" algn="tl">
                    <a:srgbClr val="FFFFFF"/>
                  </a:outerShdw>
                </a:effectLst>
              </a:rPr>
              <a:t>อื่น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>
          <a:xfrm>
            <a:off x="1774825" y="1600201"/>
            <a:ext cx="882015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th-TH" sz="3600" b="1"/>
              <a:t>รูปแบบคำสั่ง</a:t>
            </a:r>
          </a:p>
          <a:p>
            <a:pPr eaLnBrk="1" hangingPunct="1">
              <a:buFontTx/>
              <a:buNone/>
            </a:pPr>
            <a:r>
              <a:rPr lang="en-US"/>
              <a:t>&lt;A HREF=URL&gt;……..</a:t>
            </a:r>
            <a:r>
              <a:rPr lang="th-TH" smtClean="0"/>
              <a:t>ข้อความ</a:t>
            </a:r>
            <a:r>
              <a:rPr lang="en-US" smtClean="0"/>
              <a:t>……..</a:t>
            </a:r>
            <a:r>
              <a:rPr lang="en-US"/>
              <a:t>&lt;/A&gt; </a:t>
            </a:r>
            <a:r>
              <a:rPr lang="th-TH"/>
              <a:t>หรือ</a:t>
            </a:r>
          </a:p>
          <a:p>
            <a:pPr eaLnBrk="1" hangingPunct="1">
              <a:buFontTx/>
              <a:buNone/>
            </a:pPr>
            <a:r>
              <a:rPr lang="en-US"/>
              <a:t>&lt;A HREF=FTP://FtpServer&gt;</a:t>
            </a:r>
          </a:p>
          <a:p>
            <a:pPr eaLnBrk="1" hangingPunct="1">
              <a:buFontTx/>
              <a:buNone/>
            </a:pPr>
            <a:r>
              <a:rPr lang="th-TH"/>
              <a:t>โดยที่   </a:t>
            </a:r>
            <a:r>
              <a:rPr lang="en-US"/>
              <a:t>URL  </a:t>
            </a:r>
            <a:r>
              <a:rPr lang="th-TH"/>
              <a:t>คือ  ชื่อของเว็บไซต์หรือ </a:t>
            </a:r>
            <a:r>
              <a:rPr lang="en-US"/>
              <a:t>IP Address </a:t>
            </a:r>
            <a:r>
              <a:rPr lang="th-TH"/>
              <a:t>ของเว็บไซต์ที่ต้องการ</a:t>
            </a:r>
          </a:p>
          <a:p>
            <a:pPr eaLnBrk="1" hangingPunct="1">
              <a:buFontTx/>
              <a:buNone/>
            </a:pPr>
            <a:r>
              <a:rPr lang="th-TH"/>
              <a:t>                      เชื่อมโยงถึง</a:t>
            </a:r>
          </a:p>
          <a:p>
            <a:pPr eaLnBrk="1" hangingPunct="1">
              <a:buFontTx/>
              <a:buNone/>
            </a:pPr>
            <a:r>
              <a:rPr lang="th-TH"/>
              <a:t>        </a:t>
            </a:r>
            <a:r>
              <a:rPr lang="en-US"/>
              <a:t>FTP   </a:t>
            </a:r>
            <a:r>
              <a:rPr lang="th-TH"/>
              <a:t>คือ  ค่าที่ใช้กำหนดในการเชื่อมโยงไปยังแหล่งที่ให้บริการไฟล์ </a:t>
            </a:r>
            <a:r>
              <a:rPr lang="en-US"/>
              <a:t>FTP</a:t>
            </a:r>
            <a:endParaRPr lang="th-TH"/>
          </a:p>
          <a:p>
            <a:pPr eaLnBrk="1" hangingPunct="1">
              <a:buFontTx/>
              <a:buNone/>
            </a:pPr>
            <a:r>
              <a:rPr lang="th-TH"/>
              <a:t>	    </a:t>
            </a:r>
            <a:r>
              <a:rPr lang="en-US"/>
              <a:t>FtpServer    </a:t>
            </a:r>
            <a:r>
              <a:rPr lang="th-TH"/>
              <a:t>คือ  ชื่อของเครื่อง </a:t>
            </a:r>
            <a:r>
              <a:rPr lang="en-US"/>
              <a:t>Server </a:t>
            </a:r>
            <a:r>
              <a:rPr lang="th-TH"/>
              <a:t>ที่ให้บริการไฟล์ </a:t>
            </a:r>
            <a:r>
              <a:rPr lang="en-US"/>
              <a:t>Ftp</a:t>
            </a:r>
            <a:endParaRPr lang="th-TH"/>
          </a:p>
          <a:p>
            <a:pPr eaLnBrk="1" hangingPunct="1">
              <a:buFontTx/>
              <a:buNone/>
            </a:pPr>
            <a:r>
              <a:rPr lang="th-TH"/>
              <a:t>       </a:t>
            </a:r>
            <a:r>
              <a:rPr lang="en-US"/>
              <a:t>/A </a:t>
            </a:r>
            <a:r>
              <a:rPr lang="th-TH"/>
              <a:t>       คือ    คำสั่งปิดคำสั่ง </a:t>
            </a:r>
            <a:r>
              <a:rPr lang="en-US"/>
              <a:t>A</a:t>
            </a:r>
          </a:p>
          <a:p>
            <a:pPr eaLnBrk="1" hangingPunct="1">
              <a:buFontTx/>
              <a:buNone/>
            </a:pPr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40789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4800"/>
              <a:t>ตัวอย่างการเชื่อมโยงไปยังเว็บไซต์อื่น</a:t>
            </a: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146" y="1625065"/>
            <a:ext cx="8424862" cy="548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742622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mtClean="0"/>
              <a:t>เฉลย</a:t>
            </a:r>
          </a:p>
        </p:txBody>
      </p:sp>
      <p:pic>
        <p:nvPicPr>
          <p:cNvPr id="3891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128" y="1841170"/>
            <a:ext cx="8424862" cy="575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377712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th-TH" sz="5400" b="1"/>
              <a:t>การเชื่อมโยงโดยใช้รูปภาพ</a:t>
            </a:r>
          </a:p>
        </p:txBody>
      </p:sp>
      <p:sp>
        <p:nvSpPr>
          <p:cNvPr id="39939" name="Rectangle 4"/>
          <p:cNvSpPr>
            <a:spLocks noGrp="1" noChangeArrowheads="1"/>
          </p:cNvSpPr>
          <p:nvPr>
            <p:ph idx="1"/>
          </p:nvPr>
        </p:nvSpPr>
        <p:spPr>
          <a:xfrm>
            <a:off x="1524000" y="1341438"/>
            <a:ext cx="8820150" cy="4525962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th-TH" sz="3600" b="1"/>
              <a:t>รูปแบบคำสั่ง</a:t>
            </a:r>
          </a:p>
          <a:p>
            <a:pPr eaLnBrk="1" hangingPunct="1">
              <a:buFontTx/>
              <a:buNone/>
            </a:pPr>
            <a:r>
              <a:rPr lang="en-US" smtClean="0"/>
              <a:t>&lt;A HREF=URL&gt;&lt;IMG SCR=Filename&gt;&lt;/A&gt;</a:t>
            </a:r>
          </a:p>
          <a:p>
            <a:pPr eaLnBrk="1" hangingPunct="1">
              <a:buFontTx/>
              <a:buNone/>
            </a:pPr>
            <a:r>
              <a:rPr lang="th-TH" smtClean="0"/>
              <a:t>โดยที่  </a:t>
            </a:r>
            <a:r>
              <a:rPr lang="en-US" smtClean="0"/>
              <a:t>URL</a:t>
            </a:r>
            <a:r>
              <a:rPr lang="th-TH" smtClean="0"/>
              <a:t>    คือ  ชื่อของเว็บไซต์หรือ </a:t>
            </a:r>
            <a:r>
              <a:rPr lang="en-US" smtClean="0"/>
              <a:t>IP Address </a:t>
            </a:r>
            <a:r>
              <a:rPr lang="th-TH" smtClean="0"/>
              <a:t>ของเว็บไซต์ที่ต้องการเชื่อมโยงถึง</a:t>
            </a:r>
          </a:p>
          <a:p>
            <a:pPr eaLnBrk="1" hangingPunct="1">
              <a:buFontTx/>
              <a:buNone/>
            </a:pPr>
            <a:r>
              <a:rPr lang="th-TH" smtClean="0"/>
              <a:t>   </a:t>
            </a:r>
            <a:r>
              <a:rPr lang="en-US" smtClean="0"/>
              <a:t>&lt;IMG SCR&gt; </a:t>
            </a:r>
            <a:r>
              <a:rPr lang="th-TH" smtClean="0"/>
              <a:t>คือคำสั่งที่ให้ในการแทรกรูปภาพ</a:t>
            </a:r>
          </a:p>
          <a:p>
            <a:pPr eaLnBrk="1" hangingPunct="1">
              <a:buFontTx/>
              <a:buNone/>
            </a:pPr>
            <a:r>
              <a:rPr lang="th-TH" smtClean="0"/>
              <a:t> 	</a:t>
            </a:r>
            <a:r>
              <a:rPr lang="en-US" smtClean="0"/>
              <a:t>Filename</a:t>
            </a:r>
            <a:r>
              <a:rPr lang="th-TH" smtClean="0"/>
              <a:t>    คือชื่อไฟล์รูปภาพที่จะนำมาใช้สำหรับการเชื่อมโยงข้อมูล</a:t>
            </a:r>
          </a:p>
          <a:p>
            <a:pPr eaLnBrk="1" hangingPunct="1">
              <a:buFontTx/>
              <a:buNone/>
            </a:pPr>
            <a:r>
              <a:rPr lang="th-TH" smtClean="0"/>
              <a:t>	</a:t>
            </a:r>
            <a:r>
              <a:rPr lang="en-US" smtClean="0"/>
              <a:t>/A</a:t>
            </a:r>
            <a:r>
              <a:rPr lang="th-TH" smtClean="0"/>
              <a:t>		      คือ  คำสั่งปิดคำสั่ง </a:t>
            </a:r>
            <a:r>
              <a:rPr lang="en-US" smtClean="0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06077158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-26988"/>
            <a:ext cx="8229600" cy="1143001"/>
          </a:xfrm>
        </p:spPr>
        <p:txBody>
          <a:bodyPr/>
          <a:lstStyle/>
          <a:p>
            <a:pPr eaLnBrk="1" hangingPunct="1">
              <a:defRPr/>
            </a:pPr>
            <a:r>
              <a:rPr lang="th-TH" sz="6000" b="1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ตัวอย่าง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908051"/>
            <a:ext cx="8785225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5" y="3717926"/>
            <a:ext cx="864235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343915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105</TotalTime>
  <Words>3829</Words>
  <Application>Microsoft Office PowerPoint</Application>
  <PresentationFormat>Widescreen</PresentationFormat>
  <Paragraphs>923</Paragraphs>
  <Slides>101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17" baseType="lpstr">
      <vt:lpstr>Angsana New</vt:lpstr>
      <vt:lpstr>AngsanaUPC</vt:lpstr>
      <vt:lpstr>Arial</vt:lpstr>
      <vt:lpstr>Arial Black</vt:lpstr>
      <vt:lpstr>Calibri</vt:lpstr>
      <vt:lpstr>Cordia New</vt:lpstr>
      <vt:lpstr>CordiaUPC</vt:lpstr>
      <vt:lpstr>FreesiaUPC</vt:lpstr>
      <vt:lpstr>-JS Synjai Allcaps</vt:lpstr>
      <vt:lpstr>Tahoma</vt:lpstr>
      <vt:lpstr>Times New Roman</vt:lpstr>
      <vt:lpstr>Tw Cen MT</vt:lpstr>
      <vt:lpstr>Tw Cen MT Condensed</vt:lpstr>
      <vt:lpstr>Wingdings</vt:lpstr>
      <vt:lpstr>Wingdings 3</vt:lpstr>
      <vt:lpstr>Integral</vt:lpstr>
      <vt:lpstr>พื้นฐาน HTML</vt:lpstr>
      <vt:lpstr>PowerPoint Presentation</vt:lpstr>
      <vt:lpstr>PowerPoint Presentation</vt:lpstr>
      <vt:lpstr>ส่วนประกอบของ Webpage</vt:lpstr>
      <vt:lpstr>HTML Tag</vt:lpstr>
      <vt:lpstr>ชนิดของ HTML Tag</vt:lpstr>
      <vt:lpstr>PowerPoint Presentation</vt:lpstr>
      <vt:lpstr>PowerPoint Presentation</vt:lpstr>
      <vt:lpstr>PowerPoint Presentation</vt:lpstr>
      <vt:lpstr>PowerPoint Presentation</vt:lpstr>
      <vt:lpstr>คำสั่งอธิบายโปรแกรม</vt:lpstr>
      <vt:lpstr>การกำหนดสีพื้นหลัง</vt:lpstr>
      <vt:lpstr>การกำหนดสีของพื้นหลังของตัวอักษร  1. ระบุชื่อของสีที่ต้องการ อาทิเช่น red, green, yellow, blue เป็นต้น </vt:lpstr>
      <vt:lpstr>2. การระบุแบบตัวเลขโดยจะใช้ค่าสีในระบบฐาน 16 หรือเรียกว่า หลักการผสมสีแบบ RBG </vt:lpstr>
      <vt:lpstr>ตารางตัวอย่างรหัสสี</vt:lpstr>
      <vt:lpstr>ส่วนเนื้อหาของเอกสาร </vt:lpstr>
      <vt:lpstr>ตัวอย่าง</vt:lpstr>
      <vt:lpstr>PowerPoint Presentation</vt:lpstr>
      <vt:lpstr>ตัวอย่าง</vt:lpstr>
      <vt:lpstr>PowerPoint Presentation</vt:lpstr>
      <vt:lpstr>PowerPoint Presentation</vt:lpstr>
      <vt:lpstr>การจัดรูปแบบย่อหน้าในลักษณะของหัวข้อ (Heading) </vt:lpstr>
      <vt:lpstr>PowerPoint Presentation</vt:lpstr>
      <vt:lpstr>PowerPoint Presentation</vt:lpstr>
      <vt:lpstr>คำสั่งจัดข้อความให้อยู่ตรงกลางบรรทัด(Center)</vt:lpstr>
      <vt:lpstr>การตีเส้นตรงแนวนอนในเอกสาร HTML</vt:lpstr>
      <vt:lpstr>การกำหนดลักษณะของเส้นตรงแนวนอน</vt:lpstr>
      <vt:lpstr>ตัวอย่างการกำหนดเส้นตรงแนวนอน</vt:lpstr>
      <vt:lpstr>การกำหนดรูปแบบตัวอักษร</vt:lpstr>
      <vt:lpstr>Physical Character style</vt:lpstr>
      <vt:lpstr>Logical Character Style</vt:lpstr>
      <vt:lpstr>การจัดวางตำแหน่งข้อความ</vt:lpstr>
      <vt:lpstr>การกำหนดขนาดของตัวอักษร (Size)</vt:lpstr>
      <vt:lpstr>การกำหนดแบบตัวอักษร</vt:lpstr>
      <vt:lpstr>การกำหนดสีให้ตัวอักษร(Color)</vt:lpstr>
      <vt:lpstr>ความหมายของตัวเลขและการผสมสี</vt:lpstr>
      <vt:lpstr>ตารางตัวอย่างรหัสสี</vt:lpstr>
      <vt:lpstr>การกำหนดสีให้กับตัวอักษรเฉพาะข้อความ</vt:lpstr>
      <vt:lpstr>การกำหนดสีให้กับตัวอักษรทั้งเอกสาร</vt:lpstr>
      <vt:lpstr>การใช้ตัวอักษรพิเศษ (Special Character)</vt:lpstr>
      <vt:lpstr>1. ระบุชื่อสัญลักษณ์ที่ต้องการ</vt:lpstr>
      <vt:lpstr>2. ระบุโดยใช้รหัส ASCII</vt:lpstr>
      <vt:lpstr>การแสดงผลแบบรายการ (List) ด้วยภาษา HTML</vt:lpstr>
      <vt:lpstr>การแสดงผลแบบรายการ (LIST)</vt:lpstr>
      <vt:lpstr>การแสดงผลรายการแบบลำดับตัวเลข(orderer Lists)</vt:lpstr>
      <vt:lpstr>ตัวอย่าง</vt:lpstr>
      <vt:lpstr>ตัวอย่าง</vt:lpstr>
      <vt:lpstr>ตัวอย่าง</vt:lpstr>
      <vt:lpstr>การแสดงผลรายการแบบไม่มีลำดับ(Unordered List)</vt:lpstr>
      <vt:lpstr>ตัวอย่าง</vt:lpstr>
      <vt:lpstr>Directory Lists</vt:lpstr>
      <vt:lpstr>Menu Lists</vt:lpstr>
      <vt:lpstr>NESTED LISTS</vt:lpstr>
      <vt:lpstr>การจัดการรูปภาพ ด้วยภาษา HTML</vt:lpstr>
      <vt:lpstr>การจัดการกับรูปภาพ</vt:lpstr>
      <vt:lpstr>การแทรกภาพลงในเอกสาร</vt:lpstr>
      <vt:lpstr>การวางตำแหน่งรูปภาพ</vt:lpstr>
      <vt:lpstr>การใส่ภาพลงใน WEBกึ่งกลางจอภาพ</vt:lpstr>
      <vt:lpstr>การปรับขนาดภาพ</vt:lpstr>
      <vt:lpstr>การแสดงกรอบรูปภาพและระยะห่าง</vt:lpstr>
      <vt:lpstr>การใส่ภาพลงใน WEB</vt:lpstr>
      <vt:lpstr>การสร้างภาพเคลื่อนไหว</vt:lpstr>
      <vt:lpstr>การสร้างจุดเชื่อมโยง (Link)  ด้วยภาษา HTML</vt:lpstr>
      <vt:lpstr>การเชื่อมโยงเอกสาร(Link)</vt:lpstr>
      <vt:lpstr>การเชื่อมโยงกับข้อความ(Text Link)</vt:lpstr>
      <vt:lpstr>การเชื่อมโยงข้อมูลภายในแฟ้มเอกสารเดียวกัน</vt:lpstr>
      <vt:lpstr>การเชื่อมโยงข้อมูลต่างแฟ้มเอกสาร</vt:lpstr>
      <vt:lpstr>การเชื่อมโยงข้อมูลต่างแฟ้มเอกสาร</vt:lpstr>
      <vt:lpstr>ตัวอย่าง</vt:lpstr>
      <vt:lpstr>การใช้ภาพเป็นจุดเชื่อมโยง</vt:lpstr>
      <vt:lpstr>ตัวอย่าง</vt:lpstr>
      <vt:lpstr>การใช้ mailto</vt:lpstr>
      <vt:lpstr>การกำหนดลวดลายให้กับ Background</vt:lpstr>
      <vt:lpstr>การสร้างตาราง(Table) ด้วยภาษา HTML</vt:lpstr>
      <vt:lpstr>การสร้างตาราง</vt:lpstr>
      <vt:lpstr>คำสั่งสร้างตาราง</vt:lpstr>
      <vt:lpstr>tag &lt;TABLE&gt;</vt:lpstr>
      <vt:lpstr>การตีกรอบตาราง</vt:lpstr>
      <vt:lpstr>ตัวอย่าง</vt:lpstr>
      <vt:lpstr>การปรับขนาดความกว้างและความสูงของตาราง</vt:lpstr>
      <vt:lpstr>การจัดตำแหน่งของข้อมูลใน cell</vt:lpstr>
      <vt:lpstr>ROWSPAN</vt:lpstr>
      <vt:lpstr>COLSPAN</vt:lpstr>
      <vt:lpstr>CELLPADDING</vt:lpstr>
      <vt:lpstr>CELLSPACING</vt:lpstr>
      <vt:lpstr>การใส่ภาพลงในตาราง</vt:lpstr>
      <vt:lpstr>การเชื่อมโยงเอกสาร</vt:lpstr>
      <vt:lpstr>การเชื่อมโยงข้อมูลภายในเอกสารเดียวกัน</vt:lpstr>
      <vt:lpstr>ตัวอย่างการเชื่อมโยงหน้าเดียวกัน</vt:lpstr>
      <vt:lpstr>เฉลย</vt:lpstr>
      <vt:lpstr>การเชื่อมโยงไปยังไฟล์อื่นหรือ Web Page อื่น</vt:lpstr>
      <vt:lpstr>ตัวอย่างการเชื่อมโยงไปยังไฟล์อื่น</vt:lpstr>
      <vt:lpstr>เฉลย</vt:lpstr>
      <vt:lpstr>การเชื่อมโยงไปยังไฟล์อื่นโดยมีการกำหนดตำแหน่ง</vt:lpstr>
      <vt:lpstr>ตัวอย่างการเชื่อมโยงไปยังไฟล์อื่นโดยมีการกำหนดตำแหน่ง</vt:lpstr>
      <vt:lpstr>เฉลย</vt:lpstr>
      <vt:lpstr>การเชื่อมโยงไปยัง Web Sites อื่น</vt:lpstr>
      <vt:lpstr>ตัวอย่างการเชื่อมโยงไปยังเว็บไซต์อื่น</vt:lpstr>
      <vt:lpstr>เฉลย</vt:lpstr>
      <vt:lpstr>การเชื่อมโยงโดยใช้รูปภาพ</vt:lpstr>
      <vt:lpstr>ตัวอย่าง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20</cp:revision>
  <dcterms:created xsi:type="dcterms:W3CDTF">2016-07-21T03:01:56Z</dcterms:created>
  <dcterms:modified xsi:type="dcterms:W3CDTF">2020-08-10T13:47:44Z</dcterms:modified>
</cp:coreProperties>
</file>