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Sarabun"/>
      <p:regular r:id="rId20"/>
      <p:bold r:id="rId21"/>
      <p:italic r:id="rId22"/>
      <p:boldItalic r:id="rId23"/>
    </p:embeddedFont>
    <p:embeddedFont>
      <p:font typeface="Kanit Medium"/>
      <p:regular r:id="rId24"/>
      <p:bold r:id="rId25"/>
      <p:italic r:id="rId26"/>
      <p:boldItalic r:id="rId27"/>
    </p:embeddedFont>
    <p:embeddedFont>
      <p:font typeface="Kanit SemiBold"/>
      <p:regular r:id="rId28"/>
      <p:bold r:id="rId29"/>
      <p:italic r:id="rId30"/>
      <p:boldItalic r:id="rId31"/>
    </p:embeddedFont>
    <p:embeddedFont>
      <p:font typeface="Sarabun SemiBold"/>
      <p:regular r:id="rId32"/>
      <p:bold r:id="rId33"/>
      <p:italic r:id="rId34"/>
      <p:boldItalic r:id="rId35"/>
    </p:embeddedFont>
    <p:embeddedFont>
      <p:font typeface="Kani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506F5B-2BE9-48E3-8383-7DF4B6C98321}">
  <a:tblStyle styleId="{A6506F5B-2BE9-48E3-8383-7DF4B6C983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arabun-regular.fntdata"/><Relationship Id="rId22" Type="http://schemas.openxmlformats.org/officeDocument/2006/relationships/font" Target="fonts/Sarabun-italic.fntdata"/><Relationship Id="rId21" Type="http://schemas.openxmlformats.org/officeDocument/2006/relationships/font" Target="fonts/Sarabun-bold.fntdata"/><Relationship Id="rId24" Type="http://schemas.openxmlformats.org/officeDocument/2006/relationships/font" Target="fonts/KanitMedium-regular.fntdata"/><Relationship Id="rId23" Type="http://schemas.openxmlformats.org/officeDocument/2006/relationships/font" Target="fonts/Sarabun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KanitMedium-italic.fntdata"/><Relationship Id="rId25" Type="http://schemas.openxmlformats.org/officeDocument/2006/relationships/font" Target="fonts/KanitMedium-bold.fntdata"/><Relationship Id="rId28" Type="http://schemas.openxmlformats.org/officeDocument/2006/relationships/font" Target="fonts/KanitSemiBold-regular.fntdata"/><Relationship Id="rId27" Type="http://schemas.openxmlformats.org/officeDocument/2006/relationships/font" Target="fonts/Kani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Kani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KanitSemiBold-boldItalic.fntdata"/><Relationship Id="rId30" Type="http://schemas.openxmlformats.org/officeDocument/2006/relationships/font" Target="fonts/KanitSemiBold-italic.fntdata"/><Relationship Id="rId11" Type="http://schemas.openxmlformats.org/officeDocument/2006/relationships/slide" Target="slides/slide5.xml"/><Relationship Id="rId33" Type="http://schemas.openxmlformats.org/officeDocument/2006/relationships/font" Target="fonts/SarabunSemiBold-bold.fntdata"/><Relationship Id="rId10" Type="http://schemas.openxmlformats.org/officeDocument/2006/relationships/slide" Target="slides/slide4.xml"/><Relationship Id="rId32" Type="http://schemas.openxmlformats.org/officeDocument/2006/relationships/font" Target="fonts/Sarabun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Sarabun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SarabunSemiBold-italic.fntdata"/><Relationship Id="rId15" Type="http://schemas.openxmlformats.org/officeDocument/2006/relationships/slide" Target="slides/slide9.xml"/><Relationship Id="rId37" Type="http://schemas.openxmlformats.org/officeDocument/2006/relationships/font" Target="fonts/Kanit-bold.fntdata"/><Relationship Id="rId14" Type="http://schemas.openxmlformats.org/officeDocument/2006/relationships/slide" Target="slides/slide8.xml"/><Relationship Id="rId36" Type="http://schemas.openxmlformats.org/officeDocument/2006/relationships/font" Target="fonts/Kanit-regular.fntdata"/><Relationship Id="rId17" Type="http://schemas.openxmlformats.org/officeDocument/2006/relationships/slide" Target="slides/slide11.xml"/><Relationship Id="rId39" Type="http://schemas.openxmlformats.org/officeDocument/2006/relationships/font" Target="fonts/Kanit-boldItalic.fntdata"/><Relationship Id="rId16" Type="http://schemas.openxmlformats.org/officeDocument/2006/relationships/slide" Target="slides/slide10.xml"/><Relationship Id="rId38" Type="http://schemas.openxmlformats.org/officeDocument/2006/relationships/font" Target="fonts/Kani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9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05401" y="2491829"/>
            <a:ext cx="9581197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F46E5"/>
                </a:solidFill>
                <a:latin typeface="Kanit"/>
                <a:ea typeface="Kanit"/>
                <a:cs typeface="Kanit"/>
                <a:sym typeface="Kanit"/>
              </a:rPr>
              <a:t>บทที่ 1 ความรู้เบื้องต้นเกี่ยวกับอินเทอร์เน็ต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4F46E5"/>
                </a:solidFill>
                <a:latin typeface="Kanit"/>
                <a:ea typeface="Kanit"/>
                <a:cs typeface="Kanit"/>
                <a:sym typeface="Kanit"/>
              </a:rPr>
              <a:t> และการเขียนภาษา HTML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24162" y="4000351"/>
            <a:ext cx="65436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ศึกษาโครงสร้างพื้นฐาน เทคโนโลยี และวิวัฒนาการในการสร้างหน้าเว็บ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28019"/>
            <a:ext cx="5143500" cy="22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28019"/>
            <a:ext cx="5143500" cy="223063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057275" y="3023294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1. ปูพื้นฐานเทคโนโลยีเว็บ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57275" y="3470969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เรียนรู้ประวัติศาสตร์ ความสำคัญของ เซอร์ทิม เบอร์เนิร์ส-ลี และวิวัฒนาการของเว็บไซต์ตั้งแต่อดีตจนถึงยุคปัจจุบัน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57275" y="411480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• ยุคของเว็บ (Web 1.0 - 5.0)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57275" y="438909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• สถาปัตยกรรม Static &amp; Dynamic Web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581775" y="3023294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2. การพัฒนาหน้าเว็บด้วย HTML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81775" y="3470969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เข้าใจขั้นตอนและกลไกในการทำงานของเทคโนโลยีในฝั่ง Client-Side และ Server-Side พร้อมทั้งโครงสร้างภาษา HTML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411480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• 4 องค์ประกอบหลักของหน้าเว็บ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4389090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• การเขียนและทดสอบชุดคำสั่ง HTML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โครงสร้างเนื้อหาบทเรียน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19337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286500" y="2829966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เซอร์ทิโมที จอห์น เบอร์เนิร์ส-ลี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286500" y="3096666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Sir Timothy John Berners-Lee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ผู้คิดค้นและพัฒนาเวิลด์ไวด์เว็บ (World Wide Web) ซึ่งทำให้เทคโนโลยีการเชื่อมต่อข้อมูลสามารถแพร่หลายไปได้ทั่วโลก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286500" y="4033837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อิทธิพลต่อวงการเทคโนโลยี: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เขามีปณิธานแน่วแน่ว่าจะเปิดสิทธิ์ในการเข้าถึงเวิลด์ไวด์เว็บให้แก่ผู้คนทั่วโลกได้ใช้งานแบบ ฟรี โดยไม่มีค่าลิขสิทธิ์ ส่งผลให้ W3C นำมาตรฐานเว็บไปใช้โดยไม่คิดค่าใช้จ่าย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6900" y="2376487"/>
            <a:ext cx="29337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ผู้คิดค้นเวิลด์ไวด์เว็บ (WWW)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06304"/>
            <a:ext cx="2346870" cy="1198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5709" y="2863304"/>
            <a:ext cx="2346870" cy="1198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419" y="4006304"/>
            <a:ext cx="2346870" cy="1198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83129" y="2863304"/>
            <a:ext cx="2346870" cy="119806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762000" y="4014787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73349" y="4168229"/>
            <a:ext cx="2124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พ.ศ. 2523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23925" y="4482554"/>
            <a:ext cx="202302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โครงการ ENQUIRE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เสนอแนวคิด Hypertext แลกเปลี่ยนข้อมูลภายใน CERN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647059" y="3025229"/>
            <a:ext cx="2124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พ.ศ. 2532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697634" y="3339554"/>
            <a:ext cx="202302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ผสานระบบอินเทอร์เน็ต</a:t>
            </a:r>
            <a:r>
              <a:rPr b="0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ร่างข้อเสนอระบบแลกเปลี่ยนเอกสารทางวิทยาศาสตร์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420769" y="4168229"/>
            <a:ext cx="2124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พ.ศ. 2534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471344" y="4482554"/>
            <a:ext cx="202302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เว็บไซต์แรกของโลก</a:t>
            </a:r>
            <a:r>
              <a:rPr b="0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เผยแพร่เว็บแรกอย่างเป็นทางการ รวมถึงเว็บเบราว์เซอร์ตัวแรก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194478" y="3025229"/>
            <a:ext cx="2124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พ.ศ. 2537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245054" y="3339554"/>
            <a:ext cx="202302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จัดตั้ง W3C</a:t>
            </a:r>
            <a:r>
              <a:rPr b="0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ก่อตั้งองค์กรมาตรฐานร่วมกับ MIT เพื่อกำหนดทิศทางเว็บทั่วโลก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ประวัติการพัฒนาเวิลด์ไวด์เว็บ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1849710" y="394811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623420" y="394811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397129" y="394811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0170839" y="394811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38400"/>
            <a:ext cx="10668000" cy="2809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" name="Google Shape;146;p17"/>
          <p:cNvGraphicFramePr/>
          <p:nvPr/>
        </p:nvGraphicFramePr>
        <p:xfrm>
          <a:off x="771525" y="2447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{A6506F5B-2BE9-48E3-8383-7DF4B6C98321}</a:tableStyleId>
              </a:tblPr>
              <a:tblGrid>
                <a:gridCol w="1597225"/>
                <a:gridCol w="3194600"/>
                <a:gridCol w="2662225"/>
                <a:gridCol w="3194900"/>
              </a:tblGrid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Kanit Medium"/>
                          <a:ea typeface="Kanit Medium"/>
                          <a:cs typeface="Kanit Medium"/>
                          <a:sym typeface="Kanit Medium"/>
                        </a:rPr>
                        <a:t>ยุคของเว็บ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Kanit Medium"/>
                          <a:ea typeface="Kanit Medium"/>
                          <a:cs typeface="Kanit Medium"/>
                          <a:sym typeface="Kanit Medium"/>
                        </a:rPr>
                        <a:t>ลักษณะเด่น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Kanit Medium"/>
                          <a:ea typeface="Kanit Medium"/>
                          <a:cs typeface="Kanit Medium"/>
                          <a:sym typeface="Kanit Medium"/>
                        </a:rPr>
                        <a:t>เทคโนโลยีหลัก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8FAFC"/>
                          </a:solidFill>
                          <a:latin typeface="Kanit Medium"/>
                          <a:ea typeface="Kanit Medium"/>
                          <a:cs typeface="Kanit Medium"/>
                          <a:sym typeface="Kanit Medium"/>
                        </a:rPr>
                        <a:t>ตัวอย่างแพลตฟอร์ม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Web 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เว็บคงที่ (Static) อ่านได้อย่างเดียว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HTML, CSS, HTTP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Yahoo! ยุคแรก, Britannica Online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Web 2.0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เว็บสองทางโต้ตอบได้ ผู้ใช้สร้างเนื้อหา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AJAX, JavaScript, PHP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Facebook, YouTube, Wikipedia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Web 3.0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AI วิเคราะห์, ข้อมูลเชื่อมกัน, ปลอดภัยสูง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Blockchain, Smart Contracts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OpenSea, Brave Browser, Uniswap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Web 4.0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Intelligent เชื่อมต่ออุปกรณ์ IoT สะดวกขึ้น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IoT, 5G, Cloud, Edge Computing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Siri, Alexa, Smart Homes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Web 5.0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Emotional Web ตรวจจับอารมณ์และพฤติกรรม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Emotional AI, Metaverse, BCI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Metaverse, AI Chatbots ขั้นสูง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7"/>
          <p:cNvSpPr/>
          <p:nvPr/>
        </p:nvSpPr>
        <p:spPr>
          <a:xfrm>
            <a:off x="771525" y="3357562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2368748" y="3357562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563344" y="3357562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8225581" y="3357562"/>
            <a:ext cx="3194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71525" y="3824287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368748" y="3824287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563344" y="3824287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8225581" y="3824287"/>
            <a:ext cx="3194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71525" y="4291012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368748" y="4291012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563344" y="4291012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8225581" y="4291012"/>
            <a:ext cx="3194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71525" y="4757737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368748" y="4757737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563344" y="4757737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8225581" y="4757737"/>
            <a:ext cx="3194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71525" y="5224462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2368748" y="5224462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563344" y="5224462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8225581" y="5224462"/>
            <a:ext cx="3194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ตารางเปรียบเทียบยุคของเว็บ (1.0 - 5.0)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33587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62000" y="2719387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Static Web Page (เว็บเพจคงที่):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หน้าเว็บที่มีลักษณะไม่ยืดหยุ่น ทุกคนที่เข้ามาจะเห็นเนื้อหาที่เหมือนกันเสมอ ไม่ว่าจะต่างเวลาหรือต่างผู้ใช้งาน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3382267"/>
            <a:ext cx="5400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ขั้นตอนการทำงานแบบสถิต:</a:t>
            </a:r>
            <a:endParaRPr/>
          </a:p>
        </p:txBody>
      </p:sp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33587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1190625" y="3687067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Client ส่งคำขอ (Request) ไปที่ Web Server ผ่านเว็บเบราว์เซอร์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190625" y="4113758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Web Server ค้นหาไฟล์ HTML ดั้งเดิมที่ถูกเก็บไว้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190625" y="4540448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ส่งสตรีมไฟล์ HTML ตอบกลับ (Response) กลับไปยังผู้ใช้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72040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414709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457378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สถาปัตยกรรมแบบ Static Web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81275"/>
            <a:ext cx="5143500" cy="2523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81275"/>
            <a:ext cx="5143500" cy="252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1057275" y="2876550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การแสดงผลที่ยืดหยุ่นได้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057275" y="33242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หน้าเว็บที่สามารถประมวลผลข้อมูลแตกต่างกันไปตามปัจจัยของผู้ใช้แต่ละบุคคลและเวลาที่เข้าใช้งาน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057275" y="3987105"/>
            <a:ext cx="45529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มีการประสานความร่วมมือระหว่างโค้ด HTML ร่วมกับการใช้งาน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ภาษาสคริปต์ (Script Languages)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เพื่อดึงข้อมูลเชิงลึกแบบยืดหยุ่น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581775" y="2876550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CGI และ Database เชื่อมโยงข้อมูล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581775" y="332422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กลไกการเรียกฐานข้อมูลมาแสดงผล ต้องอาศัย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CGI (Common Gateway Interface)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ในการทำหน้าที่เชื่อมการเข้าถึง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581775" y="398710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ภาษาสคริปต์ยอดนิยมที่ใช้ในการพัฒนาส่วนนี้ เช่น PHP, ASP, JSP, JavaScript ในฝั่ง Back-end เพื่อส่งต่อข้อมูลคืนผู้ใช้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สถาปัตยกรรมแบบ Dynamic Web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67012"/>
            <a:ext cx="3397299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767012"/>
            <a:ext cx="3397299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767012"/>
            <a:ext cx="3397299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1000125" y="3586162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1. ติดตั้ง Web Server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000125" y="3995737"/>
            <a:ext cx="29210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เลือกติดตั้งซอฟต์แวร์ที่รองรับภาษาสคริปต์ เช่น Apache Tomcat, GlassFish สำหรับ JSP หรือ IIS สำหรับ ASP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4635549" y="3586162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2. ติดตั้งระบบฐานข้อมูล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4635549" y="3995737"/>
            <a:ext cx="29210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เลือกใช้งาน DBMS ที่เหมาะสมตามขนาดโปรเจกต์ เช่น MySQL (ใช้งานง่าย ไม่มีค่าใช้จ่าย), Oracle, MS-SQL หรือ Access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270974" y="3586162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3. เตรียมเครื่องมือพัฒนา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270974" y="3995737"/>
            <a:ext cx="29210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เลือกใช้โปรแกรม Editor เช่น Notepad (เบื้องต้น), Dreamweaver (กราฟิกมีเครื่องมือเสริม) หรือ Visual Studio Code ในปัจจุบัน</a:t>
            </a:r>
            <a:endParaRPr/>
          </a:p>
        </p:txBody>
      </p:sp>
      <p:pic>
        <p:nvPicPr>
          <p:cNvPr descr="image.png" id="215" name="Google Shape;21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30718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307181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70974" y="3071812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ขั้นตอนการเตรียมระบบเพื่อพัฒนาเว็บ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1190625" y="2989957"/>
            <a:ext cx="10239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1. HTML (HyperText Markup Language) 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ทำหน้าที่เป็นโครงสร้างหลักและเนื้อหาของหน้าเพจ กำหนดข้อความ ลิงก์ และโครงร่างทั้งหมด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90625" y="3416647"/>
            <a:ext cx="10239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2. CSS (Cascading Style Sheets) 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ทำหน้าที่จัดระเบียบรูปลักษณ์ ตกแต่งสี สีพื้นหลัง จัดระเบียบการแสดงผลให้ออกมาสวยงามน่ามอง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190625" y="3843337"/>
            <a:ext cx="10239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3. JavaScript (Client-Side) 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มอบความสามารถในการตอบสนองกับผู้ใช้งาน เช่น อนิเมชัน ปุ่มตอบสนองแบบเรียลไทม์ไม่ต้องรอโหลดซ้ำ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190625" y="4270027"/>
            <a:ext cx="10239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4. Server-Side Scripting 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ประมวลผลข้อมูลเชิงลึกที่เกี่ยวข้องกับระบบหลังบ้าน การจัดการฐานข้อมูล และการเข้าสู่ระบบ</a:t>
            </a:r>
            <a:endParaRPr/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302329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344998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38766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430336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4 องค์ประกอบสำคัญของหน้าเว็บสมัยใหม่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11054"/>
            <a:ext cx="2346870" cy="1011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5709" y="2768054"/>
            <a:ext cx="2346870" cy="1011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419" y="3911054"/>
            <a:ext cx="2346870" cy="1198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83129" y="2768054"/>
            <a:ext cx="2346870" cy="119806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/>
          <p:nvPr/>
        </p:nvSpPr>
        <p:spPr>
          <a:xfrm>
            <a:off x="762000" y="3919537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873349" y="4072979"/>
            <a:ext cx="2124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1991 - HTML 1.0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923925" y="4387304"/>
            <a:ext cx="202302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เปิดเผยข้อกำหนดแรกของภาษาเพื่อใช้อ้างอิงโครงสร้างแบบเรียบง่าย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3647059" y="2929979"/>
            <a:ext cx="2124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1999 - HTML 4.01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3697634" y="3244304"/>
            <a:ext cx="202302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เริ่มนำเสนอโครงสร้างปรับปรุงการทำงานที่ดีขึ้นและยอมรับในวงกว้าง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6420769" y="4072979"/>
            <a:ext cx="2124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2008 - HTML5 Draft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471344" y="4387304"/>
            <a:ext cx="202302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ริเริ่มร่างมาตรฐาน HTML5 โดย WHATWG รองรับมัลติมีเดียโดยไม่พึ่งพิงปลั๊กอิน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9194478" y="2929979"/>
            <a:ext cx="21241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2014 - HTML5 Spec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9245054" y="3244304"/>
            <a:ext cx="202302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ประกาศยอมรับสากลโดย W3C กลายเป็นมาตรฐานหลักสำหรับทุกหน้าเว็บจนถึงยุคปัจจุบัน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วิวัฒนาการในการกำหนดมาตรฐาน HTML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1849710" y="38528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4623420" y="38528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7397129" y="38528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0170839" y="3852862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98452"/>
            <a:ext cx="51435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772792"/>
            <a:ext cx="5143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762000" y="2755552"/>
            <a:ext cx="5400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โครงสร้างพื้นฐานภาษา HTML: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762000" y="4717702"/>
            <a:ext cx="5143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Sarabun"/>
                <a:ea typeface="Sarabun"/>
                <a:cs typeface="Sarabun"/>
                <a:sym typeface="Sarabun"/>
              </a:rPr>
              <a:t>• ใช้แอปพลิเคชันอย่างเช่น Notepad หรือ VS Code ในการสร้างโค้ดขึ้นมา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286500" y="2199382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การรันชุดคำสั่ง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286500" y="2466082"/>
            <a:ext cx="514350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1. วิธีการบันทึกไฟล์: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บันทึกชุดคำสั่งดังกล่าวเป็นไฟล์นามสกุล .html หรือ .htm เสมอ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286500" y="3128962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2. รันผลลัพธ์ผ่านเบราว์เซอร์: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 สามารถเปิดไฟล์ขึ้นมาผ่านเว็บเบราว์เซอร์ใดก็ได้ เช่น Google Chrome, Firefox เพื่อประมวลผลเป็นหน้าเพจ</a:t>
            </a:r>
            <a:endParaRPr/>
          </a:p>
        </p:txBody>
      </p:sp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772792"/>
            <a:ext cx="5143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การเขียนโค้ดและรันผลภาษา HTML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0587" y="2192535"/>
            <a:ext cx="27908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495300" y="571500"/>
            <a:ext cx="112014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4F46E5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มีคำถามเพิ่มเติมไหมครับ?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762000" y="1571625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บทสรุป: HTML5 คือหัวใจสำคัญในการเริ่มสร้างหน้าเว็บและต่อยอดไปสู่ระบบโปรแกรมมิ่ง</a:t>
            </a:r>
            <a:endParaRPr/>
          </a:p>
        </p:txBody>
      </p:sp>
      <p:pic>
        <p:nvPicPr>
          <p:cNvPr descr="image.png" id="282" name="Google Shape;28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0587" y="2430660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/>
          <p:nvPr/>
        </p:nvSpPr>
        <p:spPr>
          <a:xfrm>
            <a:off x="762000" y="2670869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762000" y="345564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762000" y="344611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762000" y="344611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762000" y="423088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762000" y="423088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202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1857375" y="2813744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https://home.cern/wp-content/uploads/2026/04/CDS-CERN-GE-9407011-31.jpg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1857375" y="3059459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home.cern</a:t>
            </a:r>
            <a:endParaRPr/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050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1857375" y="359851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https://www.webopedia.com/wp-content/uploads/1996/10/static-website-vs-dynamic-website-1-1536x1343.webp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1857375" y="384423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www.vpsmalaysia.com.my</a:t>
            </a:r>
            <a:endParaRPr/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898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857375" y="438328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https://media.geeksforgeeks.org/wp-content/uploads/20250705111716832915/web_browser.webp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857375" y="462900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www.geeksforgeeks.org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Kanit SemiBold"/>
                <a:ea typeface="Kanit SemiBold"/>
                <a:cs typeface="Kanit SemiBold"/>
                <a:sym typeface="Kanit SemiBold"/>
              </a:rPr>
              <a:t>Image Sources</a:t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