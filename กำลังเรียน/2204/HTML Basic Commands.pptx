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Sarabun"/>
      <p:regular r:id="rId22"/>
      <p:bold r:id="rId23"/>
      <p:italic r:id="rId24"/>
      <p:boldItalic r:id="rId25"/>
    </p:embeddedFont>
    <p:embeddedFont>
      <p:font typeface="Prompt SemiBold"/>
      <p:regular r:id="rId26"/>
      <p:bold r:id="rId27"/>
      <p:italic r:id="rId28"/>
      <p:boldItalic r:id="rId29"/>
    </p:embeddedFont>
    <p:embeddedFont>
      <p:font typeface="Prompt"/>
      <p:regular r:id="rId30"/>
      <p:bold r:id="rId31"/>
      <p:italic r:id="rId32"/>
      <p:boldItalic r:id="rId33"/>
    </p:embeddedFont>
    <p:embeddedFont>
      <p:font typeface="Sarabun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AC683D-E608-444B-B513-DDD46C16E534}">
  <a:tblStyle styleId="{78AC683D-E608-444B-B513-DDD46C16E5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arabun-regular.fntdata"/><Relationship Id="rId21" Type="http://schemas.openxmlformats.org/officeDocument/2006/relationships/slide" Target="slides/slide15.xml"/><Relationship Id="rId24" Type="http://schemas.openxmlformats.org/officeDocument/2006/relationships/font" Target="fonts/Sarabun-italic.fntdata"/><Relationship Id="rId23" Type="http://schemas.openxmlformats.org/officeDocument/2006/relationships/font" Target="fonts/Sarabun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mptSemiBold-regular.fntdata"/><Relationship Id="rId25" Type="http://schemas.openxmlformats.org/officeDocument/2006/relationships/font" Target="fonts/Sarabun-boldItalic.fntdata"/><Relationship Id="rId28" Type="http://schemas.openxmlformats.org/officeDocument/2006/relationships/font" Target="fonts/PromptSemiBold-italic.fntdata"/><Relationship Id="rId27" Type="http://schemas.openxmlformats.org/officeDocument/2006/relationships/font" Target="fonts/Prompt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mpt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mpt-bold.fntdata"/><Relationship Id="rId30" Type="http://schemas.openxmlformats.org/officeDocument/2006/relationships/font" Target="fonts/Prompt-regular.fntdata"/><Relationship Id="rId11" Type="http://schemas.openxmlformats.org/officeDocument/2006/relationships/slide" Target="slides/slide5.xml"/><Relationship Id="rId33" Type="http://schemas.openxmlformats.org/officeDocument/2006/relationships/font" Target="fonts/Prompt-boldItalic.fntdata"/><Relationship Id="rId10" Type="http://schemas.openxmlformats.org/officeDocument/2006/relationships/slide" Target="slides/slide4.xml"/><Relationship Id="rId32" Type="http://schemas.openxmlformats.org/officeDocument/2006/relationships/font" Target="fonts/Prompt-italic.fntdata"/><Relationship Id="rId13" Type="http://schemas.openxmlformats.org/officeDocument/2006/relationships/slide" Target="slides/slide7.xml"/><Relationship Id="rId35" Type="http://schemas.openxmlformats.org/officeDocument/2006/relationships/font" Target="fonts/SarabunSemiBold-bold.fntdata"/><Relationship Id="rId12" Type="http://schemas.openxmlformats.org/officeDocument/2006/relationships/slide" Target="slides/slide6.xml"/><Relationship Id="rId34" Type="http://schemas.openxmlformats.org/officeDocument/2006/relationships/font" Target="fonts/Sarabun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Sarabun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Sarabun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บทที่ 2: คำสั่งพื้นฐาน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592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BC9C"/>
                </a:solidFill>
                <a:latin typeface="Sarabun"/>
                <a:ea typeface="Sarabun"/>
                <a:cs typeface="Sarabun"/>
                <a:sym typeface="Sarabun"/>
              </a:rPr>
              <a:t>HTML5 Web Programming &amp; Basic Tags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40015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7F8C8D"/>
                </a:solidFill>
                <a:latin typeface="Sarabun"/>
                <a:ea typeface="Sarabun"/>
                <a:cs typeface="Sarabun"/>
                <a:sym typeface="Sarabun"/>
              </a:rPr>
              <a:t>การเรียนรู้มาร์กอัปมาตรฐานและการจัดการโครงสร้างหน้าเว็บ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571500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พื้นฐานความรู้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 HTML Tag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2571750"/>
            <a:ext cx="952500" cy="5715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146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Hyper Text Markup Language: ภาษามาร์กอัปมาตรฐานในการสร้างเว็บเพจ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39515"/>
            <a:ext cx="5381625" cy="4074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39515"/>
            <a:ext cx="5381625" cy="40743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ชนิดของ HTML TAG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077765"/>
            <a:ext cx="485060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แท็กเดี่ยว (Single Tag)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3696890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ระบุเฉพาะการเปิดแท็กใช้งานเท่านั้น ไม่ต้องมีแท็กปิด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19875" y="3077765"/>
            <a:ext cx="485060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แท็กคู่ (Paired Tag)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19875" y="3696890"/>
            <a:ext cx="46196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ต้องมีทั้งส่วนเปิด  และส่วนปิด 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35386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257300" y="424255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333500" y="4241601"/>
            <a:ext cx="42386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สร้างเส้นคั่น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257300" y="460629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333500" y="4605337"/>
            <a:ext cx="42386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ขึ้นบรรทัดใหม่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257300" y="497002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333500" y="4969073"/>
            <a:ext cx="42386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แสดงรูปภาพ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235386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924675" y="427112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000875" y="4270176"/>
            <a:ext cx="42386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... ชื่อหน้าเว็บ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924675" y="463486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000875" y="4633912"/>
            <a:ext cx="42386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... เนื้อหาหลัก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924675" y="499860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000875" y="4997648"/>
            <a:ext cx="42386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... หัวข้อใหญ่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คำสั่งกำหนดหัวเรื่อง (HEADINGS)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337494"/>
            <a:ext cx="11049000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ใช้แท็ก  ถึง  เพื่อกำหนดความสำคัญและขนาดของหัวข้อ</a:t>
            </a:r>
            <a:endParaRPr/>
          </a:p>
        </p:txBody>
      </p:sp>
      <p:graphicFrame>
        <p:nvGraphicFramePr>
          <p:cNvPr id="131" name="Google Shape;131;p16"/>
          <p:cNvGraphicFramePr/>
          <p:nvPr/>
        </p:nvGraphicFramePr>
        <p:xfrm>
          <a:off x="571500" y="30822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{78AC683D-E608-444B-B513-DDD46C16E534}</a:tableStyleId>
              </a:tblPr>
              <a:tblGrid>
                <a:gridCol w="1397350"/>
                <a:gridCol w="6800700"/>
                <a:gridCol w="2850950"/>
              </a:tblGrid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Tag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คำอธิบาย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ขนาดสัมพัทธ์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0"/>
                    </a:solidFill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หัวข้อที่มีขนาดใหญ่ที่สุด (Main Heading)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Heading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-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หัวข้อรองและหัวข้อย่อย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Heading 2-3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-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หัวข้อขนาดเล็กตามลำดับความสำคัญ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Heading 4-6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16"/>
          <p:cNvSpPr/>
          <p:nvPr/>
        </p:nvSpPr>
        <p:spPr>
          <a:xfrm>
            <a:off x="571500" y="4391917"/>
            <a:ext cx="139734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1968847" y="4391917"/>
            <a:ext cx="680070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769548" y="4391917"/>
            <a:ext cx="285095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5001517"/>
            <a:ext cx="139734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968847" y="5001517"/>
            <a:ext cx="680070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769548" y="5001517"/>
            <a:ext cx="285095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5611117"/>
            <a:ext cx="139734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968847" y="5611117"/>
            <a:ext cx="680070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769548" y="5611117"/>
            <a:ext cx="285095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16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32746"/>
            <a:ext cx="52387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การกำหนดสีพื้นหลัง (BGCOLOR)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339578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กำหนดผ่านแท็ก 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2815828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สามารถระบุสีได้ 2 รูปแบบ: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9716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000125" y="3360539"/>
            <a:ext cx="481012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ชื่อสีภาษาอังกฤษ: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เช่น RED, GREEN, BLUE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00125" y="3914775"/>
            <a:ext cx="4810125" cy="727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เลขฐานสิบหก (RGB):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รูปแบบ #RRGGBB เช่น #FF6644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6053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147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1396"/>
            <a:ext cx="3492549" cy="3510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21396"/>
            <a:ext cx="3492549" cy="3510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21396"/>
            <a:ext cx="3492549" cy="351055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คำสั่งย่อหน้าและการจัดวาง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952500" y="3359646"/>
            <a:ext cx="28670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แท็ก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3978771"/>
            <a:ext cx="2730549" cy="698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ใช้จัดย่อหน้าใหม่ มีช่องว่างระหว่างบรรทัดมากกว่า 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730799" y="3359646"/>
            <a:ext cx="28670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คุณสมบัติ Align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730799" y="3978771"/>
            <a:ext cx="2730549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กำหนด align="left | center | right" เพื่อวางตำแหน่งข้อความ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509099" y="3359646"/>
            <a:ext cx="28670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แท็ก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509099" y="3978771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ใช้สำหรับเพิ่มการเยื้อง (Indentation) ให้กับเนื้อหาในย่อหน้า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63574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63574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635746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20980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การเชื่อมโยง (HYPERLINK)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125" y="220980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334000" y="2549128"/>
            <a:ext cx="6600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แท็ก  และแอตทริบิวต์ href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334000" y="3025378"/>
            <a:ext cx="6286500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รูปแบบ: ข้อความ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62625" y="3598664"/>
            <a:ext cx="58578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External Link: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เชื่อมโยงไปยัง URL ภายนอก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762625" y="4124325"/>
            <a:ext cx="585787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Internal Link: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เชื่อมโยงภายในหน้าเดียวกัน (ใช้ #id)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62625" y="4678560"/>
            <a:ext cx="58578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File Link: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เชื่อมโยงไปยังแฟ้มเอกสารอื่นๆ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359866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41243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467856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42046"/>
            <a:ext cx="45720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52500" y="762000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แท็กจัดการรูปภาพ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62000" y="7620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762000" y="1657350"/>
            <a:ext cx="480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แท็ก 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2133600"/>
            <a:ext cx="4572000" cy="698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เป็นแท็กเดี่ยวที่ต้องระบุแหล่งที่มาของไฟล์ภาพผ่านแอตทริบิวต์ src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4585096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รองรับทั้ง Absolute URL (ระบุโดเมน) และ Relative URL (ระบุตำแหน่งในเครื่อง)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คุณสมบัติเพิ่มเติมของรูปภาพ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381125" y="2872978"/>
            <a:ext cx="1023937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Align (แนวตั้ง):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top, middle, bottom จัดวางภาพเทียบกับข้อความ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381125" y="3427214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Border: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กำหนดความหนาของกรอบรูปภาพด้วยค่าตัวเลข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1381125" y="3952875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VSPACE / HSPACE: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เว้นระยะห่างแนวตั้งและแนวนอนรอบรูปภาพ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381125" y="4478535"/>
            <a:ext cx="10239375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Background: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กำหนดภาพพื้นหลังผ่าน </a:t>
            </a:r>
            <a:endParaRPr/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7297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2721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52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47853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การสร้างเส้นคั่น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2867025"/>
            <a:ext cx="33337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1ABC9C"/>
                </a:solidFill>
                <a:latin typeface="Prompt"/>
                <a:ea typeface="Prompt"/>
                <a:cs typeface="Prompt"/>
                <a:sym typeface="Prompt"/>
              </a:rPr>
              <a:t>2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4581525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F8C8D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Pixel (ขนาดเริ่มต้น)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286250" y="2692896"/>
            <a:ext cx="45307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แอตทริบิวต์ที่น่าสนใจ: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286250" y="3169146"/>
            <a:ext cx="4314973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SIZE: กำหนดความหนาของเส้น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286250" y="3742432"/>
            <a:ext cx="4314973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WIDTH: กำหนดความยาว (ระบุเป็น Pixel หรือ %)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286250" y="4315717"/>
            <a:ext cx="4314973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NOSHADE: กำหนดเส้นทึบแบบไม่มีเงา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4286250" y="4889003"/>
            <a:ext cx="4314973" cy="9525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7076"/>
            <a:ext cx="3492549" cy="3118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27076"/>
            <a:ext cx="3492549" cy="3118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27076"/>
            <a:ext cx="3492549" cy="311824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การสร้างรายการแบบมีลำดับ (OL)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1753790"/>
            <a:ext cx="11049000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แท็ก  (Ordered Lists) ใช้สำหรับรายการที่ต้องการตัวเลขหรืออักษรกำกับ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5635823"/>
            <a:ext cx="11049000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ใช้  ภายในแท็กหลักเพื่อระบุแต่ละรายการ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952500" y="3565326"/>
            <a:ext cx="28670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Type = "1"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952500" y="4184451"/>
            <a:ext cx="273054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ลำดับตัวเลขปกติ (1, 2, 3...)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730799" y="3565326"/>
            <a:ext cx="28670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Type = "a"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4730799" y="4184451"/>
            <a:ext cx="273054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ลำดับตามตัวอักษรภาษาอังกฤษ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8509099" y="3565326"/>
            <a:ext cx="28670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Type = "I"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509099" y="4184451"/>
            <a:ext cx="273054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ลำดับเป็นตัวเลขโรมัน (I, II, III...)</a:t>
            </a:r>
            <a:endParaRPr/>
          </a:p>
        </p:txBody>
      </p:sp>
      <p:pic>
        <p:nvPicPr>
          <p:cNvPr descr="image.png" id="252" name="Google Shape;25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841426"/>
            <a:ext cx="2381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841426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841426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การสร้างรายการแบบไม่มีลำดับ (UL)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571500" y="3446264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Unordered Lists (UL)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71500" y="3922514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ใช้สัญลักษณ์ (Bullet) กำกับหน้าหัวข้อ แทนการใช้ลำดับตัวเลข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381750" y="3088183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ชนิดของ Bullet (Type)</a:t>
            </a:r>
            <a:endParaRPr/>
          </a:p>
        </p:txBody>
      </p:sp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716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6762750" y="3507283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Disc: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วงกลมทึบ (ค่าเริ่มต้น)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762750" y="3842444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Circle: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วงกลมโปร่ง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762750" y="417760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Square: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 สี่เหลี่ยมทึบ</a:t>
            </a:r>
            <a:endParaRPr/>
          </a:p>
        </p:txBody>
      </p:sp>
      <p:pic>
        <p:nvPicPr>
          <p:cNvPr descr="image.png" id="269" name="Google Shape;26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0" y="390911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356919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4239517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การกำหนดรูปแบบ (STYLE ATTRIBUTE)</a:t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571500" y="2046982"/>
            <a:ext cx="11049000" cy="36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ใช้แอตทริบิวต์ style เพื่อกำหนด CSS Inline ให้กับแท็กต่างๆ</a:t>
            </a:r>
            <a:endParaRPr/>
          </a:p>
        </p:txBody>
      </p:sp>
      <p:graphicFrame>
        <p:nvGraphicFramePr>
          <p:cNvPr id="280" name="Google Shape;280;p25"/>
          <p:cNvGraphicFramePr/>
          <p:nvPr/>
        </p:nvGraphicFramePr>
        <p:xfrm>
          <a:off x="571500" y="28107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{78AC683D-E608-444B-B513-DDD46C16E534}</a:tableStyleId>
              </a:tblPr>
              <a:tblGrid>
                <a:gridCol w="2908550"/>
                <a:gridCol w="3096225"/>
                <a:gridCol w="5044225"/>
              </a:tblGrid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คุณสมบัติ (Property)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คำสั่ง Style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ตัวอย่างการใช้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0"/>
                    </a:solidFill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พื้นหลัง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background-color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style="background-color:red;"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สีข้อความ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color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style="color:blue;"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แบบอักษร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font-family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style="font-family:courier;"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การจัดตำแหน่ง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text-align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style="text-align:center;"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81" name="Google Shape;281;p25"/>
          <p:cNvSpPr/>
          <p:nvPr/>
        </p:nvSpPr>
        <p:spPr>
          <a:xfrm>
            <a:off x="571500" y="4072830"/>
            <a:ext cx="29085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3480048" y="4072830"/>
            <a:ext cx="309622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6576268" y="4072830"/>
            <a:ext cx="50442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71500" y="4682430"/>
            <a:ext cx="29085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480048" y="4682430"/>
            <a:ext cx="309622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6576268" y="4682430"/>
            <a:ext cx="50442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5292030"/>
            <a:ext cx="29085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3480048" y="5292030"/>
            <a:ext cx="309622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6576268" y="5292030"/>
            <a:ext cx="50442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5901630"/>
            <a:ext cx="29085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3480048" y="5901630"/>
            <a:ext cx="309622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6576268" y="5901630"/>
            <a:ext cx="50442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24151"/>
            <a:ext cx="11049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295275" y="200025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3E50"/>
                </a:solidFill>
                <a:latin typeface="Prompt"/>
                <a:ea typeface="Prompt"/>
                <a:cs typeface="Prompt"/>
                <a:sym typeface="Prompt"/>
              </a:rPr>
              <a:t>คำถามและข้อเสนอแนะ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571500" y="302121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BC9C"/>
                </a:solidFill>
                <a:latin typeface="Sarabun"/>
                <a:ea typeface="Sarabun"/>
                <a:cs typeface="Sarabun"/>
                <a:sym typeface="Sarabun"/>
              </a:rPr>
              <a:t>สรุปบทเรียน: คำสั่งพื้นฐาน HTML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IMAGE SOURCES</a:t>
            </a:r>
            <a:endParaRPr/>
          </a:p>
        </p:txBody>
      </p:sp>
      <p:sp>
        <p:nvSpPr>
          <p:cNvPr id="307" name="Google Shape;307;p27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571500" y="250611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571500" y="348897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571500" y="34794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571500" y="34794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71500" y="44623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571500" y="44623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4" name="Google Shape;31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4659"/>
            <a:ext cx="1914525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1666875" y="264899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https://colorcodes.imgix.net/1M3g7JVJzP4fgrqFNdwgJw/78e26bdde699bcdac85bb010bdd9d192/html-color-codes-color-wheel-tetradic--small.png?w=3840&amp;q=60&amp;auto=format,compress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1666875" y="309279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htmlcolorcodes.com</a:t>
            </a:r>
            <a:endParaRPr/>
          </a:p>
        </p:txBody>
      </p:sp>
      <p:pic>
        <p:nvPicPr>
          <p:cNvPr descr="image.png" id="317" name="Google Shape;3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75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 txBox="1"/>
          <p:nvPr/>
        </p:nvSpPr>
        <p:spPr>
          <a:xfrm>
            <a:off x="1666875" y="363185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https://static.vecteezy.com/system/resources/previews/066/381/830/non_2x/web-browser-mockup-window-in-light-mode-modern-flat-simple-line-web-interface-blank-frame-screen-webpage-ui-template-interface-bar-vector.jpg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1666875" y="40756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www.vecteezy.com</a:t>
            </a:r>
            <a:endParaRPr/>
          </a:p>
        </p:txBody>
      </p:sp>
      <p:pic>
        <p:nvPicPr>
          <p:cNvPr descr="image.png" id="320" name="Google Shape;3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21262"/>
            <a:ext cx="173355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/>
          <p:nvPr/>
        </p:nvSpPr>
        <p:spPr>
          <a:xfrm>
            <a:off x="1666875" y="461471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https://static.vecteezy.com/system/resources/thumbnails/068/356/848/small_2x/simple-image-placeholder-icon-for-website-design-vector.jpg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1666875" y="486042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