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565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1371600"/>
            <a:ext cx="108749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แฟ้มวิเคราะห์ข้อมูลข้าวสาลี: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ถอดรหัสคัดสายพันธุ์ผ่านข้อมูลเรขาคณิต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383280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การสำรวจและวิเคราะห์ข้อมูลเบื้องต้น (Exploratory Data Analysis)  ·  ชุดข้อมูล Wheat Seeds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114800"/>
            <a:ext cx="2011680" cy="0"/>
          </a:xfrm>
          <a:prstGeom prst="line">
            <a:avLst/>
          </a:prstGeom>
          <a:noFill/>
          <a:ln w="31750">
            <a:solidFill>
              <a:srgbClr val="8AA8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29768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วิเคราะห์เจาะลึก 210 ตัวอย่าง เพื่อสร้างมาตรฐานสำหรับโมเดล Machine Learning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292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วิชา COS3302 — การบ้านครั้งที่ 3     |     ชื่อ–สกุล / รหัสนักศึกษา : 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ข้อมูลมาตรฐานระดับสากล สำหรับการวิจัยด้านการเกษตรและ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566928" cy="566928"/>
          </a:xfrm>
          <a:prstGeom prst="ellipse">
            <a:avLst/>
          </a:prstGeom>
          <a:solidFill>
            <a:srgbClr val="41566B"/>
          </a:solidFill>
          <a:ln w="12700">
            <a:solidFill>
              <a:srgbClr val="4156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364" dirty="0"/>
          </a:p>
        </p:txBody>
      </p:sp>
      <p:sp>
        <p:nvSpPr>
          <p:cNvPr id="5" name="Text 3"/>
          <p:cNvSpPr txBox="1"/>
          <p:nvPr/>
        </p:nvSpPr>
        <p:spPr>
          <a:xfrm>
            <a:off x="1316736" y="1572768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แหล่งที่มา (Provenance)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23160"/>
            <a:ext cx="338114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บริจาคปี 2012 ให้ UCI Machine Learning Repository โดย Institute of Agrophysics (Polish Academy of Sciences)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เก็บข้อมูลด้วยเทคนิค Soft X-ray (ฟิล์ม 13×18 ซม.) ซึ่งเป็นวิธีไม่ทำลายเมล็ดและต้นทุนต่ำ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05274" y="1554480"/>
            <a:ext cx="566928" cy="566928"/>
          </a:xfrm>
          <a:prstGeom prst="ellipse">
            <a:avLst/>
          </a:prstGeom>
          <a:solidFill>
            <a:srgbClr val="B5654A"/>
          </a:solidFill>
          <a:ln w="12700">
            <a:solidFill>
              <a:srgbClr val="B565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05274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364" dirty="0"/>
          </a:p>
        </p:txBody>
      </p:sp>
      <p:sp>
        <p:nvSpPr>
          <p:cNvPr id="9" name="Text 7"/>
          <p:cNvSpPr txBox="1"/>
          <p:nvPr/>
        </p:nvSpPr>
        <p:spPr>
          <a:xfrm>
            <a:off x="5155082" y="1572768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 (Structure)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05274" y="2423160"/>
            <a:ext cx="338114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ตัวอย่างข้าวสาลี 210 เมล็ด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แบ่งเป็น 7 ตัวแปรเชิงตัวเลข (float64) และ 1 ตัวแปรกลุ่มเป้าหมาย (Target Class)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43621" y="1554480"/>
            <a:ext cx="566928" cy="566928"/>
          </a:xfrm>
          <a:prstGeom prst="ellipse">
            <a:avLst/>
          </a:prstGeom>
          <a:solidFill>
            <a:srgbClr val="8AA88B"/>
          </a:solidFill>
          <a:ln w="12700">
            <a:solidFill>
              <a:srgbClr val="8AA8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3621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364" dirty="0"/>
          </a:p>
        </p:txBody>
      </p:sp>
      <p:sp>
        <p:nvSpPr>
          <p:cNvPr id="13" name="Text 11"/>
          <p:cNvSpPr txBox="1"/>
          <p:nvPr/>
        </p:nvSpPr>
        <p:spPr>
          <a:xfrm>
            <a:off x="8993429" y="1572768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ความสำคัญ (Purpose)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43621" y="2423160"/>
            <a:ext cx="338114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ทุกตัวแปรตีความเชิงกายภาพได้ชัดเจน จึงเป็น Benchmark คลาสสิกสำหรับทดสอบโมเดล Classification (kNN, SVM) และ Clustering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กายวิภาคของเมล็ด : 7 มิติเชิงเรขาคณิตที่ใช้ในการจำแนก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50876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F3F1EA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5528" y="1545336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(A) &amp; Perimeter (P)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90288" y="1545336"/>
            <a:ext cx="67601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พื้นที่และความยาวเส้นรอบรูปเมล็ด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229514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F3F1EA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331720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Length &amp; Width of Kernel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2331720"/>
            <a:ext cx="67601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ความยาวและความกว้างของเมล็ด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081528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FBFAF6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31181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Compactness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118104"/>
            <a:ext cx="67601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ความกลมของเมล็ด  C = 4πA / P²  (ค่าเข้าใกล้ 1 = ยิ่งกลม)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867912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F3F1EA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904488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Asymmetry Coefficient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904488"/>
            <a:ext cx="67601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ระดับความไม่สมมาตรของรูปทรงเมล็ด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654296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F3F1EA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69087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Length of Kernel Groove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4690872"/>
            <a:ext cx="67601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ความยาวร่องกลางเมล็ด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577840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FBFAF6"/>
          </a:solidFill>
          <a:ln w="12700">
            <a:solidFill>
              <a:srgbClr val="B565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5577840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กลุ่ม 'ขนาด' : Area, Perimeter, Length, Width (Kernel Groove ก็แปรผันตามขนาด — r ≈ 0.93 กับ Length)   •   กลุ่ม 'รูปทรง' : Compactness, Asymmetry (เป็นอิสระจากขนาด)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ชุดข้อมูลสมบูรณ์แบบ ไร้ค่าสูญหาย และคลาสสมดุล 100%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338114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063240"/>
            <a:ext cx="3381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ค่าสูญหาย (Missing Values) และแถวซ้ำ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023360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ข้อมูลสมบูรณ์ทุกเซลล์ ไม่ต้องทำ Data Imputation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05274" y="1737360"/>
            <a:ext cx="338114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65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70 : 70 : 70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405274" y="3063240"/>
            <a:ext cx="3381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ความสมดุลของ 3 สายพันธุ์ (Kama, Rosa, Canadian)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405274" y="4023360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ทุกคลาส 33.3% เท่ากันพอดี ป้องกันปัญหาโมเดลเอนเอียง (Class Imbalance)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43621" y="1737360"/>
            <a:ext cx="338114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A8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0.3%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43621" y="3063240"/>
            <a:ext cx="3381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สัดส่วนของค่าผิดปกติ (Outliers)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43621" y="4023360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พบเพียง 5 จุด จาก 1,470 ค่า (Compactness 3, Asymmetry 2) — ไม่ต้องตัดทิ้งหรือแปลงค่า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การกระจายตัวซ้อนทับกัน เผยให้เห็นร่องรอยของ 3 สายพันธุ์</a:t>
            </a:r>
            <a:endParaRPr lang="en-US" sz="2700" dirty="0"/>
          </a:p>
        </p:txBody>
      </p:sp>
      <p:pic>
        <p:nvPicPr>
          <p:cNvPr id="3" name="Image 0" descr="/Users/tytanasertmac/aider/typroject/ru/3302/hw3/charts_dossier/g05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417320"/>
            <a:ext cx="4904842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645920"/>
            <a:ext cx="52239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ลักษณะสองยอด (Bimodal)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2057400"/>
            <a:ext cx="522396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ตัวแปรเชิงขนาด (Area, Perimeter, Length) มีกราฟสองยอดชัดเจน เพราะเป็นการซ้อนทับของ 3 สายพันธุ์ที่มีขนาดต่างกัน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3611880"/>
            <a:ext cx="52239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A8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การแจกแจงแบบแบน (Platykurtic)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4023360"/>
            <a:ext cx="522396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Kurtosis ส่วนใหญ่ติดลบ (ยอดแบนกว่าเส้นโค้งปกติ) และ Skewness อยู่ในช่วงแคบ (−0.54 ถึง +0.56) → เบ้เพียงเล็กน้อย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วิเคราะห์โปรไฟล์ : เอกลักษณ์เฉพาะของข้าวสาลีทั้ง 3 สายพันธุ์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3411626" cy="4480560"/>
          </a:xfrm>
          <a:prstGeom prst="roundRect">
            <a:avLst>
              <a:gd name="adj" fmla="val 1608"/>
            </a:avLst>
          </a:prstGeom>
          <a:solidFill>
            <a:srgbClr val="FBFAF6"/>
          </a:solidFill>
          <a:ln w="19050">
            <a:solidFill>
              <a:srgbClr val="B565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645920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Rosa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41248" y="2194560"/>
            <a:ext cx="2862986" cy="658368"/>
          </a:xfrm>
          <a:prstGeom prst="roundRect">
            <a:avLst>
              <a:gd name="adj" fmla="val 41667"/>
            </a:avLst>
          </a:prstGeom>
          <a:solidFill>
            <a:srgbClr val="B5654A"/>
          </a:solidFill>
          <a:ln w="12700">
            <a:solidFill>
              <a:srgbClr val="B565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94560"/>
            <a:ext cx="28629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ใหญ่ที่สุด (The Giant)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063240"/>
            <a:ext cx="282641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ครองอันดับ 1 ทุกมิติของขนาด (Area 18.33, Length 6.15)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Compactness (0.884) ใกล้เคียง Kama — ทั้งคู่สูงกว่า Canadian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0034" y="1463040"/>
            <a:ext cx="3411626" cy="4480560"/>
          </a:xfrm>
          <a:prstGeom prst="roundRect">
            <a:avLst>
              <a:gd name="adj" fmla="val 1608"/>
            </a:avLst>
          </a:prstGeom>
          <a:solidFill>
            <a:srgbClr val="FBFAF6"/>
          </a:solidFill>
          <a:ln w="19050">
            <a:solidFill>
              <a:srgbClr val="8AA8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0034" y="1645920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Canadian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664354" y="2194560"/>
            <a:ext cx="2862986" cy="658368"/>
          </a:xfrm>
          <a:prstGeom prst="roundRect">
            <a:avLst>
              <a:gd name="adj" fmla="val 41667"/>
            </a:avLst>
          </a:prstGeom>
          <a:solidFill>
            <a:srgbClr val="8AA88B"/>
          </a:solidFill>
          <a:ln w="12700">
            <a:solidFill>
              <a:srgbClr val="8AA8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4354" y="2194560"/>
            <a:ext cx="28629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เล็กและเป็นตัวสุดขั้ว (Small &amp; Distinct)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82642" y="3063240"/>
            <a:ext cx="282641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เล็กที่สุดทุกมิติของขนาด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 'ตัวสุดขั้ว' ของรูปทรง : Asymmetry สูงสุด (4.79) และ Compactness ต่ำสุด (0.849)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13141" y="1463040"/>
            <a:ext cx="3411626" cy="4480560"/>
          </a:xfrm>
          <a:prstGeom prst="roundRect">
            <a:avLst>
              <a:gd name="adj" fmla="val 1608"/>
            </a:avLst>
          </a:prstGeom>
          <a:solidFill>
            <a:srgbClr val="FBFAF6"/>
          </a:solidFill>
          <a:ln w="19050">
            <a:solidFill>
              <a:srgbClr val="415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3141" y="1645920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Kama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87461" y="2194560"/>
            <a:ext cx="2862986" cy="658368"/>
          </a:xfrm>
          <a:prstGeom prst="roundRect">
            <a:avLst>
              <a:gd name="adj" fmla="val 41667"/>
            </a:avLst>
          </a:prstGeom>
          <a:solidFill>
            <a:srgbClr val="41566B"/>
          </a:solidFill>
          <a:ln w="12700">
            <a:solidFill>
              <a:srgbClr val="4156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87461" y="2194560"/>
            <a:ext cx="28629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สายพันธุ์มาตรฐาน (The Baseline)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05749" y="3063240"/>
            <a:ext cx="282641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ค่าอยู่กึ่งกลางระหว่าง Rosa กับ Canadian แทบทุกตัวแปร ทั้งด้านขนาดและรูปทรง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มิติทางขนาด (Size) : แยก Rosa ได้เด็ดขาด และแยก Canadian จาก Kama ได้ดี</a:t>
            </a:r>
            <a:endParaRPr lang="en-US" sz="2200" dirty="0"/>
          </a:p>
        </p:txBody>
      </p:sp>
      <p:pic>
        <p:nvPicPr>
          <p:cNvPr id="3" name="Image 0" descr="/Users/tytanasertmac/aider/typroject/ru/3302/hw3/charts_dossier/g07_box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575" y="1234440"/>
            <a:ext cx="7562545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4572000"/>
            <a:ext cx="1105783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กล่อง (IQR) ของ Rosa แทบไม่เหลื่อมกับอีก 2 พันธุ์เลย — Rosa คือพันธุ์ที่แยกง่ายที่สุด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บนแกน Area กล่องของ Kama (median 14.4) กับ Canadian (median 11.8) ก็ไม่เหลื่อมกัน → ขนาดแยก Kama–Canadian ได้เช่นกัน (Cohen's d ≈ 2.5)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หนวด (whisker) สั้น → การกระจายภายในแต่ละสายพันธุ์ต่ำ (low intra-class variance)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มิติทางรูปทรง (Shape) : จุดที่ Canadian โดดออกมาเป็น 'ตัวสุดขั้ว'</a:t>
            </a:r>
            <a:endParaRPr lang="en-US" sz="2300" dirty="0"/>
          </a:p>
        </p:txBody>
      </p:sp>
      <p:pic>
        <p:nvPicPr>
          <p:cNvPr id="3" name="Image 0" descr="/Users/tytanasertmac/aider/typroject/ru/3302/hw3/charts_dossier/g08_box_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575" y="1234440"/>
            <a:ext cx="7562545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4572000"/>
            <a:ext cx="110578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Asymmetry Coefficient : ค่าเพิ่มตามลำดับ Kama (2.55) &lt; Rosa (3.61) &lt; Canadian (4.84) ; กล่องของ Kama กับ Canadian ไม่เหลื่อมกัน — เป็นตัวแปร 'กลุ่มรูปทรง' ที่แยก Canadian จาก Kama ได้ดีที่สุด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Compactness : Kama ≈ Rosa (~0.88) ทับซ้อนกัน ส่วน Canadian (0.85) ต่ำกว่าอย่างเห็นได้ (ยังเหลื่อมกันเล็กน้อย)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หมายเหตุ : การแยก Kama–Canadian ที่ 'แรง' ที่สุดจริง ๆ ยังเป็นกลุ่มขนาด (Area/Width, d ≈ 2.4–2.5) — รูปทรงคือข้อมูลเสริมที่เป็นอิสระจากขนาด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 Multicollinearity และการแบ่งกลุ่มตัวแปร (Feature Clustering)</a:t>
            </a:r>
            <a:endParaRPr lang="en-US" sz="2400" dirty="0"/>
          </a:p>
        </p:txBody>
      </p:sp>
      <p:pic>
        <p:nvPicPr>
          <p:cNvPr id="3" name="Image 0" descr="/Users/tytanasertmac/aider/typroject/ru/3302/hw3/charts_dossier/g09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79" y="1417320"/>
            <a:ext cx="5041179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600200"/>
            <a:ext cx="54982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Core Insight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011680"/>
            <a:ext cx="54982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ตัวแปรกลุ่มขนาด (Area, Perimeter, Length, Width และ Kernel Groove) มีค่าสหสัมพันธ์กันเองสูงมาก (r = 0.86 – 0.99) — ข้อมูลกำลังบอกเล่า 'เรื่องเดียวกัน' ซ้ำ ๆ  ส่วน Asymmetry แทบไม่สัมพันธ์กับใคร (|r| ≤ 0.33)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26480" y="4114800"/>
            <a:ext cx="5498287" cy="1737360"/>
          </a:xfrm>
          <a:prstGeom prst="roundRect">
            <a:avLst>
              <a:gd name="adj" fmla="val 4211"/>
            </a:avLst>
          </a:prstGeom>
          <a:solidFill>
            <a:srgbClr val="FBFAF6"/>
          </a:solidFill>
          <a:ln w="15240">
            <a:solidFill>
              <a:srgbClr val="8AA8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4114800"/>
            <a:ext cx="504108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ทางแก้ :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หากใช้ Linear Models ควรลดมิติด้วย PCA หรือเลือกตัวแทนเพียง 1 ตัวจากกลุ่มขนาด (เช่น Area) ไปประกอบกับตัวแปรอิสระอย่าง Asymmetry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ตารางสรุป : แต่ละตัวแปรแยกสายพันธุ์ 'คู่ไหน' ได้ดีแค่ไหน (Cohen's d)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24328"/>
                <a:gridCol w="2624328"/>
                <a:gridCol w="262432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ตัวแปร (Feature)</a:t>
                      </a:r>
                      <a:endParaRPr lang="en-US" sz="11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Kama – Canadian</a:t>
                      </a:r>
                      <a:endParaRPr lang="en-US" sz="11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Kama – Rosa</a:t>
                      </a:r>
                      <a:endParaRPr lang="en-US" sz="11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Rosa – Canadian</a:t>
                      </a:r>
                      <a:endParaRPr lang="en-US" sz="11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6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Area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2.46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3.00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5.67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Perimeter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2.21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3.08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5.80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Width of Kernel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2.39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2.38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4.91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1.46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2.55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4.31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Compactness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1.60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0.22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1.81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Asymmetry Coefficient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1.69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0.83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0.91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Length of Kernel Groove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0.13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3.61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A25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4.24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D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5029200"/>
            <a:ext cx="256032" cy="256032"/>
          </a:xfrm>
          <a:prstGeom prst="rect">
            <a:avLst/>
          </a:prstGeom>
          <a:solidFill>
            <a:srgbClr val="D9E4D5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4992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 ≥ 1.5  แยกได้ดีมาก (กล่องแทบไม่เหลื่อม)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315968" y="5029200"/>
            <a:ext cx="256032" cy="256032"/>
          </a:xfrm>
          <a:prstGeom prst="rect">
            <a:avLst/>
          </a:prstGeom>
          <a:solidFill>
            <a:srgbClr val="EFE4CE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0" y="4992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0.8 – 1.5  แยกได้ (เหลื่อมกันบ้าง)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065008" y="5029200"/>
            <a:ext cx="256032" cy="256032"/>
          </a:xfrm>
          <a:prstGeom prst="rect">
            <a:avLst/>
          </a:prstGeom>
          <a:solidFill>
            <a:srgbClr val="EAD9D2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4992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 &lt; 0.8  แยกแทบไม่ได้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532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4156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อ่านตาราง :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/ Perimeter / Width แยกได้ดีทั้ง 3 คู่  •  Kernel Groove แยกได้เฉพาะคู่ที่มี Rosa — คู่ Kama–Canadian = 0.13 คือแยกแทบไม่ได้  →  จับคู่ </a:t>
            </a:r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B565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Area (คุมคู่ Kama–Canadian) + Kernel Groove (คุม Rosa)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จึงแยกครบทั้ง 3 สายพันธุ์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บทสรุปการแยกคลาส : Area × Kernel Groove จำแนกได้เกือบสมบูรณ์</a:t>
            </a:r>
            <a:endParaRPr lang="en-US" sz="2400" dirty="0"/>
          </a:p>
        </p:txBody>
      </p:sp>
      <p:pic>
        <p:nvPicPr>
          <p:cNvPr id="3" name="Image 0" descr="/Users/tytanasertmac/aider/typroject/ru/3302/hw3/charts_dossier/g10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4607"/>
            <a:ext cx="7589520" cy="41002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554480"/>
            <a:ext cx="330372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แกน Y (Kernel Groove) ดึง Rosa แยกขึ้นไป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แกน X (Area) ดึง Canadian (เมล็ดเล็ก) แยกออกจาก Kama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Kernel Groove เพียงลำพังแยกได้แค่ Rosa — Kama กับ Canadian ค่าเฉลี่ยเท่ากัน (5.09 = 5.09)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เหลือส่วนเหลื่อม Kama–Canadian เล็กน้อย → SVM / Decision Tree จัดการได้สบาย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ข้อสรุปและคำแนะนำสำหรับการสร้างโมเดล (Next Steps)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54480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D3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Readiness (ความพร้อมสูงสุด)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1859631" cy="0"/>
          </a:xfrm>
          <a:prstGeom prst="line">
            <a:avLst/>
          </a:prstGeom>
          <a:noFill/>
          <a:ln w="31750">
            <a:solidFill>
              <a:srgbClr val="4156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3429000"/>
            <a:ext cx="338114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ชุดข้อมูลสะอาดและสมดุล 100% (70:70:70) ไม่มี Outlier รุนแรง ป้อนเข้าสู่ไปป์ไลน์ Machine Learning ได้ทันที ไม่ต้องผ่าน Data Cleaning ที่ซับซ้อน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05274" y="1554480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D3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05274" y="237744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Selection (การเลือกตัวแปร)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274" y="3246120"/>
            <a:ext cx="1859631" cy="0"/>
          </a:xfrm>
          <a:prstGeom prst="line">
            <a:avLst/>
          </a:prstGeom>
          <a:noFill/>
          <a:ln w="31750">
            <a:solidFill>
              <a:srgbClr val="B565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5274" y="3429000"/>
            <a:ext cx="338114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พบ Multicollinearity สูงในกลุ่มตัวแปรขนาด — เลือกใช้ Area (หรือทำ PCA) แทนการใส่ทุกตัว เพื่อลดมิติและป้องกัน Overfitting ในโมเดลเชิงเส้น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43621" y="1554480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D3C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43621" y="2377440"/>
            <a:ext cx="33811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E2A2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High Separability (ศักยภาพในการจำแนก)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43621" y="3246120"/>
            <a:ext cx="1859631" cy="0"/>
          </a:xfrm>
          <a:prstGeom prst="line">
            <a:avLst/>
          </a:prstGeom>
          <a:noFill/>
          <a:ln w="31750">
            <a:solidFill>
              <a:srgbClr val="8AA8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3621" y="3429000"/>
            <a:ext cx="338114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E67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คลาสแยกกันได้ดีในหลายมิติ — Rosa แยกง่ายที่สุด ส่วน Kama–Canadian ต้องอาศัยหลายมิติรวมกัน คาดว่า kNN / Decision Tree / SVM จะทำ Accuracy ได้สูงมาก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Geometry Dossier (revised)</dc:title>
  <dc:subject>PptxGenJS Presentation</dc:subject>
  <dc:creator>PptxGenJS</dc:creator>
  <cp:lastModifiedBy>PptxGenJS</cp:lastModifiedBy>
  <cp:revision>1</cp:revision>
  <dcterms:created xsi:type="dcterms:W3CDTF">2026-09-03T02:43:12Z</dcterms:created>
  <dcterms:modified xsi:type="dcterms:W3CDTF">2026-09-03T02:43:12Z</dcterms:modified>
</cp:coreProperties>
</file>