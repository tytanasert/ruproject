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ชุดข้อมูล Wheat Seeds จาก UCI — นำเสนอ 3 ส่วน: ที่มา/ความสำคัญ, ค่าสถิติเบื้องต้น, และกราฟ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3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687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82880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ชุดข้อมูล Wheat Seeds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9718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2B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การสำรวจข้อมูลเบื้องต้นและการนำเสนอด้วยภาพ  ·  Exploratory Data Analysis &amp; Visualization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65760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871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วิชา COS3302 — การบ้านครั้งที่ 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11480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B7A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ชื่อ–สกุล / รหัสนักศึกษา : ____________________________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5166360"/>
            <a:ext cx="3108960" cy="640080"/>
          </a:xfrm>
          <a:prstGeom prst="roundRect">
            <a:avLst>
              <a:gd name="adj" fmla="val 50000"/>
            </a:avLst>
          </a:prstGeom>
          <a:solidFill>
            <a:srgbClr val="3A4429"/>
          </a:solidFill>
          <a:ln w="12700">
            <a:solidFill>
              <a:srgbClr val="C6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5166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1.  ที่มา &amp; ความสำคัญ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886200" y="5166360"/>
            <a:ext cx="3108960" cy="640080"/>
          </a:xfrm>
          <a:prstGeom prst="roundRect">
            <a:avLst>
              <a:gd name="adj" fmla="val 50000"/>
            </a:avLst>
          </a:prstGeom>
          <a:solidFill>
            <a:srgbClr val="3A4429"/>
          </a:solidFill>
          <a:ln w="12700">
            <a:solidFill>
              <a:srgbClr val="C687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86200" y="5166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2.  ค่าสถิติเบื้องต้น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269480" y="5166360"/>
            <a:ext cx="3108960" cy="640080"/>
          </a:xfrm>
          <a:prstGeom prst="roundRect">
            <a:avLst>
              <a:gd name="adj" fmla="val 50000"/>
            </a:avLst>
          </a:prstGeom>
          <a:solidFill>
            <a:srgbClr val="3A4429"/>
          </a:solidFill>
          <a:ln w="12700">
            <a:solidFill>
              <a:srgbClr val="C687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69480" y="5166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3.  กราฟแบบต่าง ๆ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6871E"/>
          </a:solidFill>
          <a:ln w="12700">
            <a:solidFill>
              <a:srgbClr val="C687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408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ที่มาของชุดข้อมูล (Data Provenance)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6766560" cy="4114800"/>
          </a:xfrm>
          <a:prstGeom prst="roundRect">
            <a:avLst>
              <a:gd name="adj" fmla="val 1333"/>
            </a:avLst>
          </a:prstGeom>
          <a:solidFill>
            <a:srgbClr val="F4EFE2"/>
          </a:solidFill>
          <a:ln w="12700">
            <a:solidFill>
              <a:srgbClr val="D9D2B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08760"/>
            <a:ext cx="230063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6B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ชื่อชุดข้อมูล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032150" y="1508760"/>
            <a:ext cx="400873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Seeds Data Set (Wheat Seeds)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76856"/>
            <a:ext cx="230063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6B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แหล่งเผยแพร่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032150" y="2276856"/>
            <a:ext cx="400873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UCI Machine Learning Repository (บริจาคปี 2012)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044952"/>
            <a:ext cx="230063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6B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ผู้จัดทำ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032150" y="3044952"/>
            <a:ext cx="400873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M. Charytanowicz และคณะ — Institute of Agrophysics, Polish Academy of Sciences (Lublin, โปแลนด์)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813048"/>
            <a:ext cx="230063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6B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ขนาดข้อมูล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032150" y="3813048"/>
            <a:ext cx="400873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210 เมล็ด  ×  (7 ตัวแปรตัวเลข + 1 ตัวแปรกลุ่ม)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581144"/>
            <a:ext cx="230063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6B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กลุ่มเป้าหมาย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032150" y="4581144"/>
            <a:ext cx="400873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ข้าวสาลี 3 สายพันธุ์ : Kama, Rosa, Canadian — พันธุ์ละ 70 เมล็ด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98080" y="1371600"/>
            <a:ext cx="4190695" cy="4114800"/>
          </a:xfrm>
          <a:prstGeom prst="roundRect">
            <a:avLst>
              <a:gd name="adj" fmla="val 1333"/>
            </a:avLst>
          </a:prstGeom>
          <a:solidFill>
            <a:srgbClr val="2B331F"/>
          </a:solidFill>
          <a:ln w="12700">
            <a:solidFill>
              <a:srgbClr val="2B33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572768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871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วิธีเก็บข้อมูล : soft X-ray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2148840"/>
            <a:ext cx="373349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3D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เก็บเมล็ดข้าวสาลีจากแปลงทดลองในโปแลนด์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3D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ถ่ายภาพโครงสร้างภายในเมล็ดด้วยเทคนิค soft X-ray (ฟิล์ม 13×18 ซม.)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3D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เป็นวิธีไม่ทำลายเมล็ด (non-destructive) และต้นทุนต่ำกว่ากล้องความละเอียดสูง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3D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วัดค่าเชิงเรขาคณิต 7 ค่า ด้วยแพ็กเกจ GRAINS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943600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B65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ชุดข้อมูลนี้ถูกอ้างอิงในงานวิจัยด้านการจำแนกภาพเมล็ดพืชและอัลกอริทึม clustering จำนวนมาก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6871E"/>
          </a:solidFill>
          <a:ln w="12700">
            <a:solidFill>
              <a:srgbClr val="C687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408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ทำไมชุดข้อมูลนี้จึงถูกใช้บ่อย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457200" cy="457200"/>
          </a:xfrm>
          <a:prstGeom prst="ellipse">
            <a:avLst/>
          </a:prstGeom>
          <a:solidFill>
            <a:srgbClr val="4A6B3A"/>
          </a:solidFill>
          <a:ln w="12700">
            <a:solidFill>
              <a:srgbClr val="4A6B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6304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เกษตร &amp; อุตสาหกรรมเมล็ดพันธุ์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92024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5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จำแนก/คัดแยกสายพันธุ์อัตโนมัติจากภาพถ่าย ช่วยควบคุมคุณภาพเมล็ดพันธุ์และลดการใช้แรงงานคนตรวจทีละเมล็ด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880360"/>
            <a:ext cx="457200" cy="457200"/>
          </a:xfrm>
          <a:prstGeom prst="ellipse">
            <a:avLst/>
          </a:prstGeom>
          <a:solidFill>
            <a:srgbClr val="4A6B3A"/>
          </a:solidFill>
          <a:ln w="12700">
            <a:solidFill>
              <a:srgbClr val="4A6B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3464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ชุดข้อมูลมาตรฐานสำหรับสอนและวิจัย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29184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5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สะอาด ไม่มีค่าหาย คลาสสมดุล 70:70:70 ขนาดกำลังดี — เหมาะทดสอบ classification (kNN, SVM, Decision Tree) และ clustering (k-means)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251960"/>
            <a:ext cx="457200" cy="457200"/>
          </a:xfrm>
          <a:prstGeom prst="ellipse">
            <a:avLst/>
          </a:prstGeom>
          <a:solidFill>
            <a:srgbClr val="4A6B3A"/>
          </a:solidFill>
          <a:ln w="12700">
            <a:solidFill>
              <a:srgbClr val="4A6B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0624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ตีความเชิงกายภาพได้ชัดเจน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66344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5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ทุกตัวแปรคือขนาดหรือรูปทรงของเมล็ด อธิบายผลเชิงสถิติและกราฟได้ง่าย เหมาะกับผู้เริ่มต้นทำ EDA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5669280"/>
            <a:ext cx="11185855" cy="685800"/>
          </a:xfrm>
          <a:prstGeom prst="roundRect">
            <a:avLst>
              <a:gd name="adj" fmla="val 10667"/>
            </a:avLst>
          </a:prstGeom>
          <a:solidFill>
            <a:srgbClr val="F4EFE2"/>
          </a:solidFill>
          <a:ln w="12700">
            <a:solidFill>
              <a:srgbClr val="C6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566928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6B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โจทย์คลาสสิกของชุดข้อมูล : ทำนายสายพันธุ์ (Class) จาก 7 ตัวแปรเชิงเรขาคณิตของเมล็ด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6871E"/>
          </a:solidFill>
          <a:ln w="12700">
            <a:solidFill>
              <a:srgbClr val="C687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408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โครงสร้างข้อมูล (Data Structure)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556434" cy="1417320"/>
          </a:xfrm>
          <a:prstGeom prst="roundRect">
            <a:avLst>
              <a:gd name="adj" fmla="val 3871"/>
            </a:avLst>
          </a:prstGeom>
          <a:solidFill>
            <a:srgbClr val="F4EFE2"/>
          </a:solidFill>
          <a:ln w="12700">
            <a:solidFill>
              <a:srgbClr val="D9D2B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664208"/>
            <a:ext cx="25564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6871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210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395728"/>
            <a:ext cx="23735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แถว (เมล็ด)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79394" y="1554480"/>
            <a:ext cx="2556434" cy="1417320"/>
          </a:xfrm>
          <a:prstGeom prst="roundRect">
            <a:avLst>
              <a:gd name="adj" fmla="val 3871"/>
            </a:avLst>
          </a:prstGeom>
          <a:solidFill>
            <a:srgbClr val="F4EFE2"/>
          </a:solidFill>
          <a:ln w="12700">
            <a:solidFill>
              <a:srgbClr val="D9D2B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79394" y="1664208"/>
            <a:ext cx="25564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6871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470834" y="2395728"/>
            <a:ext cx="23735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ตัวแปรตัวเลข (float64)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55868" y="1554480"/>
            <a:ext cx="2556434" cy="1417320"/>
          </a:xfrm>
          <a:prstGeom prst="roundRect">
            <a:avLst>
              <a:gd name="adj" fmla="val 3871"/>
            </a:avLst>
          </a:prstGeom>
          <a:solidFill>
            <a:srgbClr val="F4EFE2"/>
          </a:solidFill>
          <a:ln w="12700">
            <a:solidFill>
              <a:srgbClr val="D9D2B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55868" y="1664208"/>
            <a:ext cx="25564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6871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347308" y="2395728"/>
            <a:ext cx="23735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สายพันธุ์ (คลาสเป้าหมาย)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32341" y="1554480"/>
            <a:ext cx="2556434" cy="1417320"/>
          </a:xfrm>
          <a:prstGeom prst="roundRect">
            <a:avLst>
              <a:gd name="adj" fmla="val 3871"/>
            </a:avLst>
          </a:prstGeom>
          <a:solidFill>
            <a:srgbClr val="F4EFE2"/>
          </a:solidFill>
          <a:ln w="12700">
            <a:solidFill>
              <a:srgbClr val="D9D2B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32341" y="1664208"/>
            <a:ext cx="25564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6871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9223781" y="2395728"/>
            <a:ext cx="23735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ค่าหาย / แถวซ้ำ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338328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การกระจายของคลาส (สมดุลพอดี)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794760"/>
            <a:ext cx="3545738" cy="1051560"/>
          </a:xfrm>
          <a:prstGeom prst="roundRect">
            <a:avLst>
              <a:gd name="adj" fmla="val 5217"/>
            </a:avLst>
          </a:prstGeom>
          <a:solidFill>
            <a:srgbClr val="F4EFE2"/>
          </a:solidFill>
          <a:ln w="19050">
            <a:solidFill>
              <a:srgbClr val="4C72B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3886200"/>
            <a:ext cx="3545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72B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Kama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4279392"/>
            <a:ext cx="3545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70 เมล็ด  (33.3%)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22978" y="3794760"/>
            <a:ext cx="3545738" cy="1051560"/>
          </a:xfrm>
          <a:prstGeom prst="roundRect">
            <a:avLst>
              <a:gd name="adj" fmla="val 5217"/>
            </a:avLst>
          </a:prstGeom>
          <a:solidFill>
            <a:srgbClr val="F4EFE2"/>
          </a:solidFill>
          <a:ln w="19050">
            <a:solidFill>
              <a:srgbClr val="DD845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22978" y="3886200"/>
            <a:ext cx="3545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D845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Rosa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22978" y="4279392"/>
            <a:ext cx="3545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70 เมล็ด  (33.3%)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43037" y="3794760"/>
            <a:ext cx="3545738" cy="1051560"/>
          </a:xfrm>
          <a:prstGeom prst="roundRect">
            <a:avLst>
              <a:gd name="adj" fmla="val 5217"/>
            </a:avLst>
          </a:prstGeom>
          <a:solidFill>
            <a:srgbClr val="F4EFE2"/>
          </a:solidFill>
          <a:ln w="19050">
            <a:solidFill>
              <a:srgbClr val="55A8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43037" y="3886200"/>
            <a:ext cx="3545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A8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Canadian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143037" y="4279392"/>
            <a:ext cx="3545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70 เมล็ด  (33.3%)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5943600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B65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ทุกตัวแปรอิสระเป็น float64 ; ตัวแปรเป้าหมาย Class เป็นรหัสจำนวนเต็ม 1 = Kama, 2 = Rosa, 3 = Canadian — ไม่มีการเข้ารหัสข้อความ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6871E"/>
          </a:solidFill>
          <a:ln w="12700">
            <a:solidFill>
              <a:srgbClr val="C687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408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ความหมายของ 7 ตัวแปร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410048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D2B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17904"/>
            <a:ext cx="504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6B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 · Area (A)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10512"/>
            <a:ext cx="504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พื้นที่ของเมล็ด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78728" y="1463040"/>
            <a:ext cx="5410048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D2B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61608" y="1517904"/>
            <a:ext cx="504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6B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 · Perimeter (P)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61608" y="1810512"/>
            <a:ext cx="504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ความยาวเส้นรอบรูปเมล็ด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304288"/>
            <a:ext cx="5410048" cy="731520"/>
          </a:xfrm>
          <a:prstGeom prst="roundRect">
            <a:avLst>
              <a:gd name="adj" fmla="val 6250"/>
            </a:avLst>
          </a:prstGeom>
          <a:solidFill>
            <a:srgbClr val="F4EFE2"/>
          </a:solidFill>
          <a:ln w="12700">
            <a:solidFill>
              <a:srgbClr val="D9D2B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359152"/>
            <a:ext cx="504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6B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 · Compactness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651760"/>
            <a:ext cx="504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ความกลม  C = 4πA / P²  (0–1 ยิ่งใกล้ 1 ยิ่งกลม)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8728" y="2304288"/>
            <a:ext cx="5410048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D2B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1608" y="2359152"/>
            <a:ext cx="504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6B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 · Length of Kernel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61608" y="2651760"/>
            <a:ext cx="504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ความยาวเมล็ด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145536"/>
            <a:ext cx="5410048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D2B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200400"/>
            <a:ext cx="504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6B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 · Width of Kernel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93008"/>
            <a:ext cx="504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ความกว้างเมล็ด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78728" y="3145536"/>
            <a:ext cx="5410048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D2B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61608" y="3200400"/>
            <a:ext cx="504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6B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6 · Asymmetry Coefficient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61608" y="3493008"/>
            <a:ext cx="504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ระดับความไม่สมมาตรของรูปเมล็ด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986784"/>
            <a:ext cx="5410048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D2B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4041648"/>
            <a:ext cx="504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6B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 · Length of Kernel Groove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4334256"/>
            <a:ext cx="504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ความยาวร่องกลางเมล็ด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5943600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B65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หน่วยเป็นค่าที่วัดจากภาพ X-ray (ต้นฉบับไม่ระบุหน่วยมาตรฐาน) ; Compactness เป็นอัตราส่วนไม่มีหน่วย — กลุ่มตัวแปร 1,2,4,5 สื่อ “ขนาด”, ตัวแปร 3,6 สื่อ “รูปทรง”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6871E"/>
          </a:solidFill>
          <a:ln w="12700">
            <a:solidFill>
              <a:srgbClr val="C687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408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ค่าสถิติเบื้องต้น — describe()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8585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78992"/>
                <a:gridCol w="1078992"/>
                <a:gridCol w="1078992"/>
                <a:gridCol w="1078992"/>
                <a:gridCol w="1097280"/>
                <a:gridCol w="1078992"/>
                <a:gridCol w="105156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Feature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Mean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Std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Min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Q1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Median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Q3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Max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Area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14.85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2.91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10.59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12.27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14.36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17.31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21.18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Perimeter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14.56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1.31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12.41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13.45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14.32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15.72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17.25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Compactness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0.871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0.024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0.808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0.857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0.873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0.888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0.918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Length of Kernel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5.63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0.44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4.90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5.26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5.52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5.98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6.68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Width of Kernel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3.26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0.38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2.63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2.94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3.24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3.56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4.03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Asymmetry Coefficient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3.70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1.50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0.77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2.56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3.60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4.77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8.46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Length of Kernel Groove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5.41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0.49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4.52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5.05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5.22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5.88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6.55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257800"/>
            <a:ext cx="11185855" cy="914400"/>
          </a:xfrm>
          <a:prstGeom prst="roundRect">
            <a:avLst>
              <a:gd name="adj" fmla="val 8000"/>
            </a:avLst>
          </a:prstGeom>
          <a:solidFill>
            <a:srgbClr val="F4EFE2"/>
          </a:solidFill>
          <a:ln w="12700">
            <a:solidFill>
              <a:srgbClr val="D9D2B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25780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Mean ≈ Median เกือบทุกตัวแปร → การแจกแจงค่อนข้างสมมาตร  |  ยกเว้น Asymmetry Coefficient (Mean 3.70 &gt; Median 3.60, ช่วง Max–Q3 กว้าง) → มีหางขวายาว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6871E"/>
          </a:solidFill>
          <a:ln w="12700">
            <a:solidFill>
              <a:srgbClr val="C687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408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การกระจาย รูปร่าง และค่าผิดปกติ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65379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09728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Feature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Range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Mode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Skew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Kurtosis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Area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10.59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11.23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0.40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-1.08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Perimeter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4.84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13.47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0.39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-1.11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Compactness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0.11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0.882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-0.54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-0.14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Length of Kernel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1.78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5.24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0.53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-0.79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Width of Kernel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1.40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3.03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0.13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-1.10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Asymmetry Coef.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7.69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2.13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0.40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-0.07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Kernel Groove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2.03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5.00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0.56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-0.84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0" y="1463040"/>
            <a:ext cx="4373575" cy="2926080"/>
          </a:xfrm>
          <a:prstGeom prst="roundRect">
            <a:avLst>
              <a:gd name="adj" fmla="val 1875"/>
            </a:avLst>
          </a:prstGeom>
          <a:solidFill>
            <a:srgbClr val="2B331F"/>
          </a:solidFill>
          <a:ln w="12700">
            <a:solidFill>
              <a:srgbClr val="2B331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43800" y="1645920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871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Outlier ตามกฎ IQR (1.5 × IQR)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543800" y="2103120"/>
            <a:ext cx="39163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7E3D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Compactness : 3 จุด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7E3D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Asymmetry Coefficient : 2 จุด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7E3D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ตัวแปรอื่นทั้งหมด : 0 จุด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7E3D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รวม 5 จุด จาก 1,470 ค่า (0.3%)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4709160"/>
            <a:ext cx="111858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Skewness ทุกตัวอยู่ในช่วง −0.54 ถึง +0.56 → เบ้เพียงเล็กน้อย (Compactness เบ้ซ้าย, ที่เหลือเบ้ขวาเบา ๆ)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Kurtosis ติดลบเกือบทั้งหมด → การแจกแจงแบนกว่าปกติ (platykurtic) เพราะเป็นข้อมูลผสมจาก 3 สายพันธุ์ที่มีค่ากลางต่างกัน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สรุป : ข้อมูลแทบไม่มีค่าผิดปกติ ไม่จำเป็นต้องตัดทิ้งหรือแปลงค่า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6871E"/>
          </a:solidFill>
          <a:ln w="12700">
            <a:solidFill>
              <a:srgbClr val="C687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408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ค่าเฉลี่ยแยกตามสายพันธุ์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5943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Feature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Kama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Rosa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Canadian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Area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14.33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18.33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11.87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Perimeter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14.29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16.14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13.25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Compactness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0.880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0.884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0.849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Length of Kernel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5.51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6.15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5.23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Width of Kernel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3.25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3.68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2.85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Asymmetry Coef.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2.67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3.65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4.79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Kernel Groove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5.09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6.02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3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5.12</a:t>
                      </a:r>
                      <a:endParaRPr lang="en-US" sz="9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2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/Users/tytanasertmac/aider/typroject/ru/3302/hw3/charts/10_mean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805482"/>
            <a:ext cx="5150815" cy="21497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4617720"/>
            <a:ext cx="111858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Rosa เมล็ดใหญ่ที่สุดทุกมิติ (Area 18.33, Perimeter 16.14, Length 6.15)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Canadian เล็กที่สุด และมี Asymmetry Coefficient สูงสุด (4.79) → เมล็ดเบี้ยวกว่าพันธุ์อื่น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Kama อยู่กึ่งกลาง ; Compactness ของ Rosa ≈ Kama (~0.88) สูงกว่า Canadian (0.85)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6871E"/>
          </a:solidFill>
          <a:ln w="12700">
            <a:solidFill>
              <a:srgbClr val="C687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408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การกระจายจำนวนเมล็ด และการแจกแจงรวม</a:t>
            </a:r>
            <a:endParaRPr lang="en-US" sz="2600" dirty="0"/>
          </a:p>
        </p:txBody>
      </p:sp>
      <p:pic>
        <p:nvPicPr>
          <p:cNvPr id="5" name="Image 0" descr="/Users/tytanasertmac/aider/typroject/ru/3302/hw3/charts/01_clas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42859"/>
            <a:ext cx="4206240" cy="2680841"/>
          </a:xfrm>
          <a:prstGeom prst="rect">
            <a:avLst/>
          </a:prstGeom>
        </p:spPr>
      </p:pic>
      <p:pic>
        <p:nvPicPr>
          <p:cNvPr id="6" name="Image 1" descr="/Users/tytanasertmac/aider/typroject/ru/3302/hw3/charts/02_hist_over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31600"/>
            <a:ext cx="6659575" cy="330336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5943600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B65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คลาสสมดุลพอดี 70:70:70 ; หลายตัวแปร (Area, Perimeter, Length) มีลักษณะสองยอด (bimodal) เพราะเป็นการซ้อนทับของ 3 สายพันธุ์ — เส้นประแดงคือค่าเฉลี่ย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6871E"/>
          </a:solidFill>
          <a:ln w="12700">
            <a:solidFill>
              <a:srgbClr val="C687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408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การแจกแจงแยกตามสายพันธุ์ (Histogram)</a:t>
            </a:r>
            <a:endParaRPr lang="en-US" sz="2600" dirty="0"/>
          </a:p>
        </p:txBody>
      </p:sp>
      <p:pic>
        <p:nvPicPr>
          <p:cNvPr id="5" name="Image 0" descr="/Users/tytanasertmac/aider/typroject/ru/3302/hw3/charts/03_hist_by_varie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2043" y="1325880"/>
            <a:ext cx="8387608" cy="4160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5943600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B65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Area / Perimeter / Width / Kernel Groove แยก Rosa (ส้ม) ออกจากอีกสองพันธุ์ได้ชัด ; Asymmetry Coefficient ช่วยแยก Canadian (เขียว) ; Kama–Canadian ทับกันมากในแกน Compactness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6871E"/>
          </a:solidFill>
          <a:ln w="12700">
            <a:solidFill>
              <a:srgbClr val="C687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408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Boxplot &amp; Violin แยกตามสายพันธุ์</a:t>
            </a:r>
            <a:endParaRPr lang="en-US" sz="2600" dirty="0"/>
          </a:p>
        </p:txBody>
      </p:sp>
      <p:pic>
        <p:nvPicPr>
          <p:cNvPr id="5" name="Image 0" descr="/Users/tytanasertmac/aider/typroject/ru/3302/hw3/charts/04_box_by_varie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6359" y="1280160"/>
            <a:ext cx="5898977" cy="2926080"/>
          </a:xfrm>
          <a:prstGeom prst="rect">
            <a:avLst/>
          </a:prstGeom>
        </p:spPr>
      </p:pic>
      <p:pic>
        <p:nvPicPr>
          <p:cNvPr id="6" name="Image 1" descr="/Users/tytanasertmac/aider/typroject/ru/3302/hw3/charts/05_violin_top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853" y="4251960"/>
            <a:ext cx="5579989" cy="1417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5943600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B65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มัธยฐานของ 3 สายพันธุ์แยกกันชัดในตัวแปรกลุ่มขนาด ; หนวด (whisker) สั้น = การกระจายภายในแต่ละพันธุ์ต่ำ ; รูป violin ยืนยันว่าแต่ละพันธุ์มียอดเดียว ไม่มีหลายกลุ่มซ่อน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6871E"/>
          </a:solidFill>
          <a:ln w="12700">
            <a:solidFill>
              <a:srgbClr val="C687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408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Correlation Heatmap</a:t>
            </a:r>
            <a:endParaRPr lang="en-US" sz="2600" dirty="0"/>
          </a:p>
        </p:txBody>
      </p:sp>
      <p:pic>
        <p:nvPicPr>
          <p:cNvPr id="5" name="Image 0" descr="/Users/tytanasertmac/aider/typroject/ru/3302/hw3/charts/06_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396" y="1371600"/>
            <a:ext cx="4643689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1554480"/>
            <a:ext cx="57451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Area – Perimeter – Length – Width สัมพันธ์กันสูงมาก (r = 0.86 – 0.99) เป็นกลุ่ม “ขนาด” เดียวกัน → เกิด multicollinearity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Length of Kernel Groove สัมพันธ์กับกลุ่มขนาดสูง (r ≈ 0.93 กับ Length of Kernel)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Asymmetry Coefficient สัมพันธ์ต่ำถึงติดลบกับทุกตัว (−0.33 ถึง −0.01) → ให้ข้อมูลที่เป็นอิสระ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แนวทาง : หากทำโมเดลเชิงเส้น ควรลดมิติด้วย PCA หรือเลือกตัวแทนจากกลุ่มขนาดเพียงตัวเดียว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6871E"/>
          </a:solidFill>
          <a:ln w="12700">
            <a:solidFill>
              <a:srgbClr val="C687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408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Pairplot — ความสัมพันธ์ทุกคู่ตัวแปร</a:t>
            </a:r>
            <a:endParaRPr lang="en-US" sz="2600" dirty="0"/>
          </a:p>
        </p:txBody>
      </p:sp>
      <p:pic>
        <p:nvPicPr>
          <p:cNvPr id="5" name="Image 0" descr="/Users/tytanasertmac/aider/typroject/ru/3302/hw3/charts/07_pair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3406" y="1280160"/>
            <a:ext cx="4504883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5943600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B65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แนวทแยง = การแจกแจง (KDE) ของแต่ละตัวแปรแยกสี ; นอกแนวทแยง = scatter ของคู่ตัวแปร — จุดสีแยกกลุ่มชัดในคู่ที่เกี่ยวกับขนาด โดย Rosa (ส้ม) แยกตัวออกมากที่สุด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6871E"/>
          </a:solidFill>
          <a:ln w="12700">
            <a:solidFill>
              <a:srgbClr val="C687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408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Scatter คู่เด่น &amp; Parallel Coordinates</a:t>
            </a:r>
            <a:endParaRPr lang="en-US" sz="2600" dirty="0"/>
          </a:p>
        </p:txBody>
      </p:sp>
      <p:pic>
        <p:nvPicPr>
          <p:cNvPr id="5" name="Image 0" descr="/Users/tytanasertmac/aider/typroject/ru/3302/hw3/charts/08_scatter_pai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6606" y="1280160"/>
            <a:ext cx="6158484" cy="2286000"/>
          </a:xfrm>
          <a:prstGeom prst="rect">
            <a:avLst/>
          </a:prstGeom>
        </p:spPr>
      </p:pic>
      <p:pic>
        <p:nvPicPr>
          <p:cNvPr id="6" name="Image 1" descr="/Users/tytanasertmac/aider/typroject/ru/3302/hw3/charts/09_parallel_coordina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142" y="3657600"/>
            <a:ext cx="5073411" cy="2148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5943600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B65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Area × Kernel Groove แยก 3 สายพันธุ์ได้เกือบสมบูรณ์ ; Parallel Coordinates : Rosa สูงทุกแกนขนาด, Canadian ต่ำแต่ Asymmetry สูง, Kama อยู่กลาง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B3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687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50292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สรุปข้อค้นพบ (Key Findings)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111858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FEAD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ข้อมูลสะอาดพร้อมใช้ — 210 แถว ไม่มีค่าหาย ไม่มีแถวซ้ำ คลาสสมดุล 70:70:70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FEAD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Rosa เมล็ดใหญ่ที่สุดทุกมิติ  ·  Canadian เล็กที่สุด  ·  Kama อยู่กึ่งกลาง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FEAD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Compactness ของ Rosa/Kama สูงกว่า Canadian (กลมกว่า) ; Asymmetry ของ Canadian สูงสุด (เบี้ยวกว่า)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FEAD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ตัวแปรกลุ่มขนาด (Area, Perimeter, Length, Width) สหสัมพันธ์สูงมาก (r &gt; 0.86) → multicollinearity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FEAD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Asymmetry Coefficient สหสัมพันธ์ต่ำ/ติดลบกับตัวอื่น → เป็นข้อมูลเสริมที่เป็นอิสระ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FEAD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คู่ Area × Kernel Groove แยก 3 สายพันธุ์ได้เกือบสมบูรณ์ → เหมาะกับงาน classification / clustering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FEAD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Outlier ตามกฎ IQR มีเพียง 5 จุดจาก 1,470 ค่า (0.3%) — ไม่รุนแรง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5760720"/>
            <a:ext cx="11185855" cy="640080"/>
          </a:xfrm>
          <a:prstGeom prst="roundRect">
            <a:avLst>
              <a:gd name="adj" fmla="val 50000"/>
            </a:avLst>
          </a:prstGeom>
          <a:solidFill>
            <a:srgbClr val="3A4429"/>
          </a:solidFill>
          <a:ln w="12700">
            <a:solidFill>
              <a:srgbClr val="C687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576072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ชุดข้อมูลสะอาด แยกกลุ่มได้ดี — เป็น benchmark ที่ดีสำหรับ classification และ clustering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Wheat Seeds Dataset</dc:title>
  <dc:subject>PptxGenJS Presentation</dc:subject>
  <dc:creator>COS3302 HW3</dc:creator>
  <cp:lastModifiedBy>COS3302 HW3</cp:lastModifiedBy>
  <cp:revision>1</cp:revision>
  <dcterms:created xsi:type="dcterms:W3CDTF">2026-08-31T10:35:38Z</dcterms:created>
  <dcterms:modified xsi:type="dcterms:W3CDTF">2026-08-31T10:35:38Z</dcterms:modified>
</cp:coreProperties>
</file>