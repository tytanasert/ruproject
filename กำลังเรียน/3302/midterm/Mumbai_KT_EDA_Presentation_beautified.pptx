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Rounded Rectangle 23"/>
          <p:cNvSpPr/>
          <p:nvPr/>
        </p:nvSpPr>
        <p:spPr>
          <a:xfrm>
            <a:off x="438912" y="960120"/>
            <a:ext cx="11201400" cy="5303520"/>
          </a:xfrm>
          <a:prstGeom prst="roundRect">
            <a:avLst/>
          </a:prstGeom>
          <a:solidFill>
            <a:srgbClr val="F5F7FA"/>
          </a:solidFill>
          <a:ln w="889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2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69494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ปัจจัยเสี่ยงของการ</a:t>
            </a:r>
          </a:p>
          <a:p>
            <a:pPr algn="l">
              <a:lnSpc>
                <a:spcPct val="102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ติด KT</a:t>
            </a:r>
            <a:r>
              <a:rPr sz="2700" b="1" i="0">
                <a:solidFill>
                  <a:srgbClr val="14223D"/>
                </a:solidFill>
                <a:latin typeface="Aptos Display"/>
              </a:rPr>
              <a:t>  ในนักศึกษา</a:t>
            </a:r>
          </a:p>
          <a:p>
            <a:pPr algn="l">
              <a:lnSpc>
                <a:spcPct val="102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มหาวิทยาลัยมุมไบ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383280"/>
            <a:ext cx="67665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800" b="0" i="0">
                <a:solidFill>
                  <a:srgbClr val="14223D"/>
                </a:solidFill>
                <a:latin typeface="Aptos Display"/>
              </a:rPr>
              <a:t>การสำรวจและวิเคราะห์ข้อมูลเบื้องต้น (Exploratory Data Analysis)</a:t>
            </a:r>
          </a:p>
          <a:p>
            <a:pPr algn="l">
              <a:lnSpc>
                <a:spcPct val="12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800" b="0" i="0">
                <a:solidFill>
                  <a:srgbClr val="14223D"/>
                </a:solidFill>
                <a:latin typeface="Aptos Display"/>
              </a:rPr>
              <a:t>ค่าสถิติเชิงพรรณนา · ความสัมพันธ์ระหว่างตัวแปร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60" y="1051560"/>
            <a:ext cx="25400" cy="4206240"/>
          </a:xfrm>
          <a:prstGeom prst="rect">
            <a:avLst/>
          </a:prstGeom>
          <a:solidFill>
            <a:srgbClr val="D8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23960" y="3063240"/>
            <a:ext cx="603504" cy="2194560"/>
          </a:xfrm>
          <a:prstGeom prst="roundRect">
            <a:avLst>
              <a:gd name="adj" fmla="val 4500"/>
            </a:avLst>
          </a:prstGeom>
          <a:solidFill>
            <a:srgbClr val="4F6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701784" y="1874520"/>
            <a:ext cx="603504" cy="3383280"/>
          </a:xfrm>
          <a:prstGeom prst="roundRect">
            <a:avLst>
              <a:gd name="adj" fmla="val 4500"/>
            </a:avLst>
          </a:prstGeom>
          <a:solidFill>
            <a:srgbClr val="B56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79608" y="3703320"/>
            <a:ext cx="603504" cy="1554480"/>
          </a:xfrm>
          <a:prstGeom prst="roundRect">
            <a:avLst>
              <a:gd name="adj" fmla="val 4500"/>
            </a:avLst>
          </a:prstGeom>
          <a:solidFill>
            <a:srgbClr val="7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457432" y="2514600"/>
            <a:ext cx="603504" cy="2743200"/>
          </a:xfrm>
          <a:prstGeom prst="roundRect">
            <a:avLst>
              <a:gd name="adj" fmla="val 4500"/>
            </a:avLst>
          </a:prstGeom>
          <a:solidFill>
            <a:srgbClr val="4F6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015984" y="1371600"/>
            <a:ext cx="219456" cy="219456"/>
          </a:xfrm>
          <a:prstGeom prst="ellipse">
            <a:avLst/>
          </a:prstGeom>
          <a:solidFill>
            <a:srgbClr val="7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93808" y="1371600"/>
            <a:ext cx="219456" cy="219456"/>
          </a:xfrm>
          <a:prstGeom prst="ellipse">
            <a:avLst/>
          </a:prstGeom>
          <a:solidFill>
            <a:srgbClr val="4F6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71632" y="1371600"/>
            <a:ext cx="219456" cy="219456"/>
          </a:xfrm>
          <a:prstGeom prst="ellipse">
            <a:avLst/>
          </a:prstGeom>
          <a:solidFill>
            <a:srgbClr val="B56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649456" y="1371600"/>
            <a:ext cx="219456" cy="219456"/>
          </a:xfrm>
          <a:prstGeom prst="ellipse">
            <a:avLst/>
          </a:prstGeom>
          <a:solidFill>
            <a:srgbClr val="7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" y="4709160"/>
            <a:ext cx="1280160" cy="40640"/>
          </a:xfrm>
          <a:prstGeom prst="rect">
            <a:avLst/>
          </a:prstGeom>
          <a:solidFill>
            <a:srgbClr val="B56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892040"/>
            <a:ext cx="6949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400" b="1" i="0">
                <a:solidFill>
                  <a:srgbClr val="14223D"/>
                </a:solidFill>
                <a:latin typeface="Aptos Display"/>
              </a:rPr>
              <a:t>ชุดข้อมูล 10,000 records × 21 features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300" b="0" i="0">
                <a:solidFill>
                  <a:srgbClr val="14223D"/>
                </a:solidFill>
                <a:latin typeface="Aptos Display"/>
              </a:rPr>
              <a:t>จำแนกปัจจัยที่ทำให้นักศึกษาสอบไม่ผ่านและต้องสอบแก้ (Keep Terms)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989320"/>
            <a:ext cx="10545775" cy="12700"/>
          </a:xfrm>
          <a:prstGeom prst="rect">
            <a:avLst/>
          </a:prstGeom>
          <a:solidFill>
            <a:srgbClr val="D8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6108192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200" b="0" i="0">
                <a:solidFill>
                  <a:srgbClr val="14223D"/>
                </a:solidFill>
                <a:latin typeface="Aptos Display"/>
              </a:rPr>
              <a:t>วิชา COS3302 — Data Science · สอบกลางภาค   |   ชื่อ–สกุล: </a:t>
            </a:r>
            <a:r>
              <a:rPr sz="1200" b="1" i="0">
                <a:solidFill>
                  <a:srgbClr val="14223D"/>
                </a:solidFill>
                <a:latin typeface="Aptos Display"/>
              </a:rPr>
              <a:t>ธนเสริฐ ตั้งตรงสกุลดี</a:t>
            </a:r>
            <a:r>
              <a:rPr sz="1200" b="0" i="0">
                <a:solidFill>
                  <a:srgbClr val="14223D"/>
                </a:solidFill>
                <a:latin typeface="Aptos Display"/>
              </a:rPr>
              <a:t>   |   รหัสนักศึกษา: </a:t>
            </a:r>
            <a:r>
              <a:rPr sz="1200" b="1" i="0">
                <a:solidFill>
                  <a:srgbClr val="14223D"/>
                </a:solidFill>
                <a:latin typeface="Aptos Display"/>
              </a:rPr>
              <a:t>6805007181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16459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060B4"/>
                </a:solidFill>
                <a:latin typeface="Aptos"/>
              </a:defRPr>
            </a:pPr>
            <a:r>
              <a:t>DATA STORY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510528"/>
            <a:ext cx="11155680" cy="7315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800">
                <a:solidFill>
                  <a:srgbClr val="697382"/>
                </a:solidFill>
                <a:latin typeface="Aptos"/>
              </a:defRPr>
            </a:pPr>
            <a:r>
              <a:rPr sz="1700">
                <a:solidFill>
                  <a:srgbClr val="14223D"/>
                </a:solidFill>
                <a:latin typeface="Aptos Display"/>
              </a:rPr>
              <a:t>COS3302 · Data Science  |  Mumbai University KT Students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4223D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32520" y="109728"/>
            <a:ext cx="3456432" cy="6309360"/>
          </a:xfrm>
          <a:prstGeom prst="rect">
            <a:avLst/>
          </a:prstGeom>
          <a:solidFill>
            <a:srgbClr val="14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Rounded Rectangle 24"/>
          <p:cNvSpPr/>
          <p:nvPr/>
        </p:nvSpPr>
        <p:spPr>
          <a:xfrm>
            <a:off x="438912" y="960120"/>
            <a:ext cx="11201400" cy="5303520"/>
          </a:xfrm>
          <a:prstGeom prst="roundRect">
            <a:avLst/>
          </a:prstGeom>
          <a:solidFill>
            <a:srgbClr val="F5F7FA"/>
          </a:solidFill>
          <a:ln w="889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4500"/>
            </a:avLst>
          </a:prstGeom>
          <a:noFill/>
          <a:ln w="13970">
            <a:solidFill>
              <a:srgbClr val="D8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COS3302 · Data Science — สอบกลางภาค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59575" y="6382512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ธนเสริฐ ตั้งตรงสกุลดี · 6805007181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ส่วนที่ 1 ·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50976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ที่มา บริบท และความสำคัญของชุดข้อมูล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92224"/>
            <a:ext cx="1371600" cy="40640"/>
          </a:xfrm>
          <a:prstGeom prst="rect">
            <a:avLst/>
          </a:prstGeom>
          <a:solidFill>
            <a:srgbClr val="4F6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2148840"/>
            <a:ext cx="640080" cy="640080"/>
          </a:xfrm>
          <a:prstGeom prst="ellipse">
            <a:avLst/>
          </a:prstGeom>
          <a:solidFill>
            <a:srgbClr val="4F6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700"/>
              </a:spcAft>
              <a:defRPr>
                <a:latin typeface="Sarabun"/>
              </a:defRPr>
            </a:pPr>
            <a:r>
              <a:rPr sz="1800" b="1" i="0">
                <a:solidFill>
                  <a:srgbClr val="262D38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017520"/>
            <a:ext cx="3429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600" b="1" i="0">
                <a:solidFill>
                  <a:srgbClr val="262D38"/>
                </a:solidFill>
                <a:latin typeface="Aptos"/>
              </a:rPr>
              <a:t>ที่มา (Source)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566160"/>
            <a:ext cx="34290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250" b="0" i="0">
                <a:solidFill>
                  <a:srgbClr val="262D38"/>
                </a:solidFill>
                <a:latin typeface="Aptos"/>
              </a:rPr>
              <a:t>•  ชุดข้อมูล Mumbai University KT Students</a:t>
            </a:r>
          </a:p>
          <a:p>
            <a:pPr algn="l">
              <a:lnSpc>
                <a:spcPct val="118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250" b="0" i="0">
                <a:solidFill>
                  <a:srgbClr val="262D38"/>
                </a:solidFill>
                <a:latin typeface="Aptos"/>
              </a:rPr>
              <a:t>•  นักศึกษาคณะวิศวกรรมศาสตร์ในเครือ University of Mumbai (อินเดีย)</a:t>
            </a:r>
          </a:p>
          <a:p>
            <a:pPr algn="l">
              <a:lnSpc>
                <a:spcPct val="118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250" b="0" i="0">
                <a:solidFill>
                  <a:srgbClr val="262D38"/>
                </a:solidFill>
                <a:latin typeface="Aptos"/>
              </a:rPr>
              <a:t>•  1 แถว = นักศึกษา 1 คน · 10,000 แถว × 21 คอลัมน์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2240280"/>
            <a:ext cx="17780" cy="3383280"/>
          </a:xfrm>
          <a:prstGeom prst="rect">
            <a:avLst/>
          </a:prstGeom>
          <a:solidFill>
            <a:srgbClr val="D8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16552" y="2148840"/>
            <a:ext cx="640080" cy="640080"/>
          </a:xfrm>
          <a:prstGeom prst="ellipse">
            <a:avLst/>
          </a:prstGeom>
          <a:solidFill>
            <a:srgbClr val="B56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700"/>
              </a:spcAft>
              <a:defRPr>
                <a:latin typeface="Sarabun"/>
              </a:defRPr>
            </a:pPr>
            <a:r>
              <a:rPr sz="1800" b="1" i="0">
                <a:solidFill>
                  <a:srgbClr val="262D38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3017520"/>
            <a:ext cx="3429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600" b="1" i="0">
                <a:solidFill>
                  <a:srgbClr val="262D38"/>
                </a:solidFill>
                <a:latin typeface="Aptos"/>
              </a:rPr>
              <a:t>บริบท: KT คืออะไร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3566160"/>
            <a:ext cx="34290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250" b="0" i="0">
                <a:solidFill>
                  <a:srgbClr val="262D38"/>
                </a:solidFill>
                <a:latin typeface="Aptos"/>
              </a:rPr>
              <a:t>•  KT = "Keep Terms" = สอบไม่ผ่านรายวิชา แต่ยังเลื่อนชั้นได้</a:t>
            </a:r>
          </a:p>
          <a:p>
            <a:pPr algn="l">
              <a:lnSpc>
                <a:spcPct val="118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250" b="0" i="0">
                <a:solidFill>
                  <a:srgbClr val="262D38"/>
                </a:solidFill>
                <a:latin typeface="Aptos"/>
              </a:rPr>
              <a:t>•  ต้องสอบแก้ (backlog) วิชานั้นภายหลัง</a:t>
            </a:r>
          </a:p>
          <a:p>
            <a:pPr algn="l">
              <a:lnSpc>
                <a:spcPct val="118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250" b="0" i="0">
                <a:solidFill>
                  <a:srgbClr val="262D38"/>
                </a:solidFill>
                <a:latin typeface="Aptos"/>
              </a:rPr>
              <a:t>•  เทียบได้กับการ "ติด F / ติดค้างวิชา" ในระบบไทย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0144" y="2240280"/>
            <a:ext cx="17780" cy="3383280"/>
          </a:xfrm>
          <a:prstGeom prst="rect">
            <a:avLst/>
          </a:prstGeom>
          <a:solidFill>
            <a:srgbClr val="D8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74736" y="2148840"/>
            <a:ext cx="640080" cy="640080"/>
          </a:xfrm>
          <a:prstGeom prst="ellipse">
            <a:avLst/>
          </a:prstGeom>
          <a:solidFill>
            <a:srgbClr val="7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Aft>
                <a:spcPts val="700"/>
              </a:spcAft>
              <a:defRPr>
                <a:latin typeface="Sarabun"/>
              </a:defRPr>
            </a:pPr>
            <a:r>
              <a:rPr sz="1800" b="1" i="0">
                <a:solidFill>
                  <a:srgbClr val="262D38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3017520"/>
            <a:ext cx="3429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600" b="1" i="0">
                <a:solidFill>
                  <a:srgbClr val="262D38"/>
                </a:solidFill>
                <a:latin typeface="Aptos"/>
              </a:rPr>
              <a:t>ความสำคัญ (Why)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6" y="3566160"/>
            <a:ext cx="34290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250" b="0" i="0">
                <a:solidFill>
                  <a:srgbClr val="262D38"/>
                </a:solidFill>
                <a:latin typeface="Aptos"/>
              </a:rPr>
              <a:t>•  อัตราการติด KT = ตัวชี้วัดความเสี่ยงการคงอยู่และการจบการศึกษา</a:t>
            </a:r>
          </a:p>
          <a:p>
            <a:pPr algn="l">
              <a:lnSpc>
                <a:spcPct val="118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250" b="0" i="0">
                <a:solidFill>
                  <a:srgbClr val="262D38"/>
                </a:solidFill>
                <a:latin typeface="Aptos"/>
              </a:rPr>
              <a:t>•  ตัวแปรครบทั้ง demographic / พฤติกรรม / ระบบสนับสนุน / ผลลัพธ์</a:t>
            </a:r>
          </a:p>
          <a:p>
            <a:pPr algn="l">
              <a:lnSpc>
                <a:spcPct val="118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250" b="0" i="0">
                <a:solidFill>
                  <a:srgbClr val="262D38"/>
                </a:solidFill>
                <a:latin typeface="Aptos"/>
              </a:rPr>
              <a:t>•  รู้ปัจจัยล่วงหน้า → ออกแบบระบบ early-warning ได้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16459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060B4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10528"/>
            <a:ext cx="11155680" cy="7315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800">
                <a:solidFill>
                  <a:srgbClr val="697382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COS3302 · Data Science  |  Mumbai University KT Students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4223D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Rounded Rectangle 24"/>
          <p:cNvSpPr/>
          <p:nvPr/>
        </p:nvSpPr>
        <p:spPr>
          <a:xfrm>
            <a:off x="438912" y="960120"/>
            <a:ext cx="11201400" cy="5303520"/>
          </a:xfrm>
          <a:prstGeom prst="roundRect">
            <a:avLst/>
          </a:prstGeom>
          <a:solidFill>
            <a:srgbClr val="F5F7FA"/>
          </a:solidFill>
          <a:ln w="889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4500"/>
            </a:avLst>
          </a:prstGeom>
          <a:noFill/>
          <a:ln w="13970">
            <a:solidFill>
              <a:srgbClr val="D8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COS3302 · Data Science — สอบกลางภาค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59575" y="6382512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ธนเสริฐ ตั้งตรงสกุลดี · 6805007181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ส่วนที่ 2 · DESCRIPTIVE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50976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ภาพรวมชุดข้อมูล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92224"/>
            <a:ext cx="1371600" cy="40640"/>
          </a:xfrm>
          <a:prstGeom prst="rect">
            <a:avLst/>
          </a:prstGeom>
          <a:solidFill>
            <a:srgbClr val="B56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3566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6400" b="1" i="0">
                <a:solidFill>
                  <a:srgbClr val="262D38"/>
                </a:solidFill>
                <a:latin typeface="Aptos"/>
              </a:rPr>
              <a:t>10,000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4904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500" b="1" i="0">
                <a:solidFill>
                  <a:srgbClr val="262D38"/>
                </a:solidFill>
                <a:latin typeface="Aptos"/>
              </a:rPr>
              <a:t>จำนวนนักศึกษา (rows)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51959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200" b="0" i="0">
                <a:solidFill>
                  <a:srgbClr val="262D38"/>
                </a:solidFill>
                <a:latin typeface="Aptos"/>
              </a:rPr>
              <a:t>ครบทุกแถว ไม่มี Student_ID ซ้ำ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560320"/>
            <a:ext cx="17780" cy="2468880"/>
          </a:xfrm>
          <a:prstGeom prst="rect">
            <a:avLst/>
          </a:prstGeom>
          <a:solidFill>
            <a:srgbClr val="D8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377440"/>
            <a:ext cx="3566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6400" b="1" i="0">
                <a:solidFill>
                  <a:srgbClr val="262D38"/>
                </a:solidFill>
                <a:latin typeface="Aptos"/>
              </a:rPr>
              <a:t>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74904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500" b="1" i="0">
                <a:solidFill>
                  <a:srgbClr val="262D38"/>
                </a:solidFill>
                <a:latin typeface="Aptos"/>
              </a:rPr>
              <a:t>จำนวนตัวแปร (columns)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251959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200" b="0" i="0">
                <a:solidFill>
                  <a:srgbClr val="262D38"/>
                </a:solidFill>
                <a:latin typeface="Aptos"/>
              </a:rPr>
              <a:t>ตัวเลข 8 · จัดกลุ่ม/ทวิภาค 13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2560320"/>
            <a:ext cx="17780" cy="2468880"/>
          </a:xfrm>
          <a:prstGeom prst="rect">
            <a:avLst/>
          </a:prstGeom>
          <a:solidFill>
            <a:srgbClr val="D8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2377440"/>
            <a:ext cx="3566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6400" b="1" i="0">
                <a:solidFill>
                  <a:srgbClr val="262D38"/>
                </a:solidFill>
                <a:latin typeface="Aptos"/>
              </a:rPr>
              <a:t>74%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374904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500" b="1" i="0">
                <a:solidFill>
                  <a:srgbClr val="262D38"/>
                </a:solidFill>
                <a:latin typeface="Aptos"/>
              </a:rPr>
              <a:t>สัดส่วนที่ติด KT ≥ 1 วิชา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4251959"/>
            <a:ext cx="3566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200" b="0" i="0">
                <a:solidFill>
                  <a:srgbClr val="262D38"/>
                </a:solidFill>
                <a:latin typeface="Aptos"/>
              </a:rPr>
              <a:t>ข้อมูลไม่สมดุล (74 : 26)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16459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060B4"/>
                </a:solidFill>
                <a:latin typeface="Aptos"/>
              </a:defRPr>
            </a:pPr>
            <a:r>
              <a:t>DESCRIPTIVE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10528"/>
            <a:ext cx="11155680" cy="7315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800">
                <a:solidFill>
                  <a:srgbClr val="697382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COS3302 · Data Science  |  Mumbai University KT Students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4223D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Rounded Rectangle 14"/>
          <p:cNvSpPr/>
          <p:nvPr/>
        </p:nvSpPr>
        <p:spPr>
          <a:xfrm>
            <a:off x="438912" y="960120"/>
            <a:ext cx="11201400" cy="5303520"/>
          </a:xfrm>
          <a:prstGeom prst="roundRect">
            <a:avLst/>
          </a:prstGeom>
          <a:solidFill>
            <a:srgbClr val="F5F7FA"/>
          </a:solidFill>
          <a:ln w="889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4500"/>
            </a:avLst>
          </a:prstGeom>
          <a:noFill/>
          <a:ln w="13970">
            <a:solidFill>
              <a:srgbClr val="D8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COS3302 · Data Science — สอบกลางภาค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59575" y="6382512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ธนเสริฐ ตั้งตรงสกุลดี · 6805007181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ส่วนที่ 2 · DESCRIPTIVE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50976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โครงสร้างตัวแปร 21 คอลัมน์ · 6 กลุ่ม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92224"/>
            <a:ext cx="1371600" cy="40640"/>
          </a:xfrm>
          <a:prstGeom prst="rect">
            <a:avLst/>
          </a:prstGeom>
          <a:solidFill>
            <a:srgbClr val="B56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965960"/>
          <a:ext cx="10881360" cy="268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8138160"/>
              </a:tblGrid>
              <a:tr h="384048">
                <a:tc>
                  <a:txBody>
                    <a:bodyPr/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  <a:latin typeface="Sarabun"/>
                        </a:defRPr>
                      </a:pPr>
                      <a:r>
                        <a:t>กลุ่ม</a:t>
                      </a:r>
                    </a:p>
                  </a:txBody>
                  <a:tcPr anchor="ctr">
                    <a:solidFill>
                      <a:srgbClr val="B565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  <a:latin typeface="Sarabun"/>
                        </a:defRPr>
                      </a:pPr>
                      <a:r>
                        <a:t>คอลัมน์</a:t>
                      </a:r>
                    </a:p>
                  </a:txBody>
                  <a:tcPr anchor="ctr">
                    <a:solidFill>
                      <a:srgbClr val="B565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รหัส (1)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Student_ID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Demographic (4)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Age · Gender · Branch · Year_of_Study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การเดินทาง (2)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Commute_Mode · Commute_Time_mins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พฤติกรรม / เวลา (4)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Attendance_% · Study_Hours · Social_Media_Hours · Sleep_Hours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ระบบสนับสนุน (5)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Part_Time_Job · Extracurricular · Peer_Learning · Mentorship · Financial_Status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ผลลัพธ์ / เป้าหมาย (5)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Previous_Semester_SGPA · Stress_Level · Number_of_KTs · Has_KT · Cleared_in_First_Attempt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459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060B4"/>
                </a:solidFill>
                <a:latin typeface="Aptos"/>
              </a:defRPr>
            </a:pPr>
            <a:r>
              <a:t>DESCRIPTIVE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510528"/>
            <a:ext cx="11155680" cy="7315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800">
                <a:solidFill>
                  <a:srgbClr val="697382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COS3302 · Data Science  |  Mumbai University KT Students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4223D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Rounded Rectangle 24"/>
          <p:cNvSpPr/>
          <p:nvPr/>
        </p:nvSpPr>
        <p:spPr>
          <a:xfrm>
            <a:off x="438912" y="960120"/>
            <a:ext cx="11201400" cy="5303520"/>
          </a:xfrm>
          <a:prstGeom prst="roundRect">
            <a:avLst/>
          </a:prstGeom>
          <a:solidFill>
            <a:srgbClr val="F5F7FA"/>
          </a:solidFill>
          <a:ln w="889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4500"/>
            </a:avLst>
          </a:prstGeom>
          <a:noFill/>
          <a:ln w="13970">
            <a:solidFill>
              <a:srgbClr val="D8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COS3302 · Data Science — สอบกลางภาค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59575" y="6382512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ธนเสริฐ ตั้งตรงสกุลดี · 6805007181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ส่วนที่ 2 ·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50976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คุณภาพข้อมูล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92224"/>
            <a:ext cx="1371600" cy="40640"/>
          </a:xfrm>
          <a:prstGeom prst="rect">
            <a:avLst/>
          </a:prstGeom>
          <a:solidFill>
            <a:srgbClr val="B56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3566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5400" b="1" i="0">
                <a:solidFill>
                  <a:srgbClr val="262D38"/>
                </a:solidFill>
                <a:latin typeface="Aptos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6616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500" b="1" i="0">
                <a:solidFill>
                  <a:srgbClr val="262D38"/>
                </a:solidFill>
                <a:latin typeface="Aptos"/>
              </a:rPr>
              <a:t>แถวซ้ำ / รหัสซ้ำ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14800"/>
            <a:ext cx="3566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ข้อมูลสะอาด ไม่ต้อง de-duplicate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514600"/>
            <a:ext cx="17780" cy="2651760"/>
          </a:xfrm>
          <a:prstGeom prst="rect">
            <a:avLst/>
          </a:prstGeom>
          <a:solidFill>
            <a:srgbClr val="D8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331720"/>
            <a:ext cx="3566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5400" b="1" i="0">
                <a:solidFill>
                  <a:srgbClr val="262D38"/>
                </a:solidFill>
                <a:latin typeface="Aptos"/>
              </a:rPr>
              <a:t>~2%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56616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500" b="1" i="0">
                <a:solidFill>
                  <a:srgbClr val="262D38"/>
                </a:solidFill>
                <a:latin typeface="Aptos"/>
              </a:rPr>
              <a:t>ค่าหาย ใน 4 คอลัมน์ตัวเลข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114800"/>
            <a:ext cx="3566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Study / Social_Media / Sleep / SGPA · กระจายแบบสุ่ม (คล้าย MCAR)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2514600"/>
            <a:ext cx="17780" cy="2651760"/>
          </a:xfrm>
          <a:prstGeom prst="rect">
            <a:avLst/>
          </a:prstGeom>
          <a:solidFill>
            <a:srgbClr val="D8CF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2331720"/>
            <a:ext cx="3566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5400" b="1" i="0">
                <a:solidFill>
                  <a:srgbClr val="262D38"/>
                </a:solidFill>
                <a:latin typeface="Aptos"/>
              </a:rPr>
              <a:t>3 →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356616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500" b="1" i="0">
                <a:solidFill>
                  <a:srgbClr val="262D38"/>
                </a:solidFill>
                <a:latin typeface="Aptos"/>
              </a:rPr>
              <a:t>คอลัมน์เป้าหมายที่ซ้ำซ้อน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4114800"/>
            <a:ext cx="3566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Has_KT ≡ (KTs&gt;0) ≡ ตรงข้าม Cleared → ระวัง target leakage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16459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060B4"/>
                </a:solidFill>
                <a:latin typeface="Aptos"/>
              </a:defRPr>
            </a:pPr>
            <a:r>
              <a:t>DATA QUALITY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10528"/>
            <a:ext cx="11155680" cy="7315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800">
                <a:solidFill>
                  <a:srgbClr val="697382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COS3302 · Data Science  |  Mumbai University KT Students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4223D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4500"/>
            </a:avLst>
          </a:prstGeom>
          <a:noFill/>
          <a:ln w="13970">
            <a:solidFill>
              <a:srgbClr val="D8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COS3302 · Data Science — สอบกลางภาค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59575" y="6382512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ธนเสริฐ ตั้งตรงสกุลดี · 6805007181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ส่วนที่ 2 ·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50976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แผนที่ค่าหาย (Missing-Value Map)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92224"/>
            <a:ext cx="1371600" cy="40640"/>
          </a:xfrm>
          <a:prstGeom prst="rect">
            <a:avLst/>
          </a:prstGeom>
          <a:solidFill>
            <a:srgbClr val="B56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missing_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709231"/>
            <a:ext cx="8869680" cy="267397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692640" y="1874519"/>
            <a:ext cx="27940" cy="4343401"/>
          </a:xfrm>
          <a:prstGeom prst="rect">
            <a:avLst/>
          </a:prstGeom>
          <a:solidFill>
            <a:srgbClr val="B56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0" y="1874519"/>
            <a:ext cx="1913839" cy="43434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350" b="1" i="0">
                <a:solidFill>
                  <a:srgbClr val="262D38"/>
                </a:solidFill>
                <a:latin typeface="Aptos"/>
              </a:rPr>
              <a:t>อ่านกราฟ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ซ้าย: อัตราค่าหายรายคอลัมน์ อยู่ที่ ~2% เท่านั้น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ขวา: จุดค่าหายกระจายทั่วตาราง ไม่เกาะกลุ่ม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350" b="1" i="0">
                <a:solidFill>
                  <a:srgbClr val="262D38"/>
                </a:solidFill>
                <a:latin typeface="Aptos"/>
              </a:rPr>
              <a:t>นัยยะ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รูปแบบคล้าย MCAR → เติมด้วย median / model-based ได้ปลอดภัย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ไม่จำเป็นต้องตัดแถวทิ้ง (จะเสียข้อมูลโดยไม่จำเป็น)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459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060B4"/>
                </a:solidFill>
                <a:latin typeface="Aptos"/>
              </a:defRPr>
            </a:pPr>
            <a:r>
              <a:t>DATA QUALITY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10528"/>
            <a:ext cx="11155680" cy="7315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800">
                <a:solidFill>
                  <a:srgbClr val="697382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COS3302 · Data Science  |  Mumbai University KT Students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4223D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Rounded Rectangle 14"/>
          <p:cNvSpPr/>
          <p:nvPr/>
        </p:nvSpPr>
        <p:spPr>
          <a:xfrm>
            <a:off x="438912" y="960120"/>
            <a:ext cx="11201400" cy="5303520"/>
          </a:xfrm>
          <a:prstGeom prst="roundRect">
            <a:avLst/>
          </a:prstGeom>
          <a:solidFill>
            <a:srgbClr val="F5F7FA"/>
          </a:solidFill>
          <a:ln w="889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4500"/>
            </a:avLst>
          </a:prstGeom>
          <a:noFill/>
          <a:ln w="13970">
            <a:solidFill>
              <a:srgbClr val="D8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COS3302 · Data Science — สอบกลางภาค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59575" y="6382512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ธนเสริฐ ตั้งตรงสกุลดี · 6805007181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ส่วนที่ 2 · DESCRIPTIVE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50976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สถิติเชิงพรรณนา — ตัวแปรตัวเลข (describe)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92224"/>
            <a:ext cx="1371600" cy="40640"/>
          </a:xfrm>
          <a:prstGeom prst="rect">
            <a:avLst/>
          </a:prstGeom>
          <a:solidFill>
            <a:srgbClr val="B56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965960"/>
          <a:ext cx="10698480" cy="3456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1097280"/>
                <a:gridCol w="1097280"/>
                <a:gridCol w="1097280"/>
                <a:gridCol w="1097280"/>
                <a:gridCol w="1143000"/>
                <a:gridCol w="1051560"/>
                <a:gridCol w="914400"/>
              </a:tblGrid>
              <a:tr h="384048"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FFFFFF"/>
                          </a:solidFill>
                          <a:latin typeface="Sarabun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B565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FFFFFF"/>
                          </a:solidFill>
                          <a:latin typeface="Sarabun"/>
                        </a:defRPr>
                      </a:pPr>
                      <a:r>
                        <a:t>mean</a:t>
                      </a:r>
                    </a:p>
                  </a:txBody>
                  <a:tcPr anchor="ctr">
                    <a:solidFill>
                      <a:srgbClr val="B565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FFFFFF"/>
                          </a:solidFill>
                          <a:latin typeface="Sarabun"/>
                        </a:defRPr>
                      </a:pPr>
                      <a:r>
                        <a:t>std</a:t>
                      </a:r>
                    </a:p>
                  </a:txBody>
                  <a:tcPr anchor="ctr">
                    <a:solidFill>
                      <a:srgbClr val="B565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FFFFFF"/>
                          </a:solidFill>
                          <a:latin typeface="Sarabun"/>
                        </a:defRPr>
                      </a:pPr>
                      <a:r>
                        <a:t>min</a:t>
                      </a:r>
                    </a:p>
                  </a:txBody>
                  <a:tcPr anchor="ctr">
                    <a:solidFill>
                      <a:srgbClr val="B565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FFFFFF"/>
                          </a:solidFill>
                          <a:latin typeface="Sarabun"/>
                        </a:defRPr>
                      </a:pPr>
                      <a:r>
                        <a:t>Q1</a:t>
                      </a:r>
                    </a:p>
                  </a:txBody>
                  <a:tcPr anchor="ctr">
                    <a:solidFill>
                      <a:srgbClr val="B565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FFFFFF"/>
                          </a:solidFill>
                          <a:latin typeface="Sarabun"/>
                        </a:defRPr>
                      </a:pPr>
                      <a:r>
                        <a:t>median</a:t>
                      </a:r>
                    </a:p>
                  </a:txBody>
                  <a:tcPr anchor="ctr">
                    <a:solidFill>
                      <a:srgbClr val="B565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FFFFFF"/>
                          </a:solidFill>
                          <a:latin typeface="Sarabun"/>
                        </a:defRPr>
                      </a:pPr>
                      <a:r>
                        <a:t>Q3</a:t>
                      </a:r>
                    </a:p>
                  </a:txBody>
                  <a:tcPr anchor="ctr">
                    <a:solidFill>
                      <a:srgbClr val="B565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FFFFFF"/>
                          </a:solidFill>
                          <a:latin typeface="Sarabun"/>
                        </a:defRPr>
                      </a:pPr>
                      <a:r>
                        <a:t>max</a:t>
                      </a:r>
                    </a:p>
                  </a:txBody>
                  <a:tcPr anchor="ctr">
                    <a:solidFill>
                      <a:srgbClr val="B565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 b="1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Age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21.02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2.02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 b="1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Commute_Time_mins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69.10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35.11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180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 b="1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Attendance_Percentage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69.19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14.64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59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69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79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 b="1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Study_Hours_per_Day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2.99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1.47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2.0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3.0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4.0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8.5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 b="1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Social_Media_Hours_per_Day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3.51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1.49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2.5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3.5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4.5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8.0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 b="1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Sleep_Hours_per_Night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6.52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1.19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3.0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5.7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6.5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7.3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10.0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 b="1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Previous_Semester_SGPA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5.53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0.86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2.32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4.94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5.52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6.11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9.08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50" b="1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Number_of_KTs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1.54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1.33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459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060B4"/>
                </a:solidFill>
                <a:latin typeface="Aptos"/>
              </a:defRPr>
            </a:pPr>
            <a:r>
              <a:t>DESCRIPTIVE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510528"/>
            <a:ext cx="11155680" cy="7315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800">
                <a:solidFill>
                  <a:srgbClr val="697382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COS3302 · Data Science  |  Mumbai University KT Students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4223D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Rounded Rectangle 15"/>
          <p:cNvSpPr/>
          <p:nvPr/>
        </p:nvSpPr>
        <p:spPr>
          <a:xfrm>
            <a:off x="438912" y="960120"/>
            <a:ext cx="11201400" cy="5303520"/>
          </a:xfrm>
          <a:prstGeom prst="roundRect">
            <a:avLst/>
          </a:prstGeom>
          <a:solidFill>
            <a:srgbClr val="F5F7FA"/>
          </a:solidFill>
          <a:ln w="889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4500"/>
            </a:avLst>
          </a:prstGeom>
          <a:noFill/>
          <a:ln w="13970">
            <a:solidFill>
              <a:srgbClr val="D8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COS3302 · Data Science — สอบกลางภาค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59575" y="6382512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ธนเสริฐ ตั้งตรงสกุลดี · 6805007181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ส่วนที่ 2 · DESCRIPTIVE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50976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สถิติขยาย — range · mode · IQR · skew · kurtosis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92224"/>
            <a:ext cx="1371600" cy="40640"/>
          </a:xfrm>
          <a:prstGeom prst="rect">
            <a:avLst/>
          </a:prstGeom>
          <a:solidFill>
            <a:srgbClr val="B56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965960"/>
          <a:ext cx="10881360" cy="3456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6160"/>
                <a:gridCol w="1645920"/>
                <a:gridCol w="1554480"/>
                <a:gridCol w="1463040"/>
                <a:gridCol w="1371600"/>
                <a:gridCol w="1280160"/>
              </a:tblGrid>
              <a:tr h="384048">
                <a:tc>
                  <a:txBody>
                    <a:bodyPr/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  <a:latin typeface="Sarabun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B565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  <a:latin typeface="Sarabun"/>
                        </a:defRPr>
                      </a:pPr>
                      <a:r>
                        <a:t>range</a:t>
                      </a:r>
                    </a:p>
                  </a:txBody>
                  <a:tcPr anchor="ctr">
                    <a:solidFill>
                      <a:srgbClr val="B565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  <a:latin typeface="Sarabun"/>
                        </a:defRPr>
                      </a:pPr>
                      <a:r>
                        <a:t>mode</a:t>
                      </a:r>
                    </a:p>
                  </a:txBody>
                  <a:tcPr anchor="ctr">
                    <a:solidFill>
                      <a:srgbClr val="B565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  <a:latin typeface="Sarabun"/>
                        </a:defRPr>
                      </a:pPr>
                      <a:r>
                        <a:t>IQR</a:t>
                      </a:r>
                    </a:p>
                  </a:txBody>
                  <a:tcPr anchor="ctr">
                    <a:solidFill>
                      <a:srgbClr val="B565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  <a:latin typeface="Sarabun"/>
                        </a:defRPr>
                      </a:pPr>
                      <a:r>
                        <a:t>skew</a:t>
                      </a:r>
                    </a:p>
                  </a:txBody>
                  <a:tcPr anchor="ctr">
                    <a:solidFill>
                      <a:srgbClr val="B565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 i="0">
                          <a:solidFill>
                            <a:srgbClr val="FFFFFF"/>
                          </a:solidFill>
                          <a:latin typeface="Sarabun"/>
                        </a:defRPr>
                      </a:pPr>
                      <a:r>
                        <a:t>kurtosis</a:t>
                      </a:r>
                    </a:p>
                  </a:txBody>
                  <a:tcPr anchor="ctr">
                    <a:solidFill>
                      <a:srgbClr val="B565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Age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4.0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-0.01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-1.28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Commute_Time_mins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170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53.0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0.30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-0.54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Attendance_Percentage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20.0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-0.13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-0.23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Study_Hours_per_Day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8.5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2.9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2.0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0.10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-0.33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Social_Media_Hours_per_Day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8.0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3.8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2.0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0.07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-0.23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Sleep_Hours_per_Night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7.0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6.5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1.6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0.02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-0.13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Previous_Semester_SGPA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6.76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5.59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1.17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0.02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-0.04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1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Number_of_KTs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2.0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0.79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0.44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8368" y="5394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200" b="0" i="0">
                <a:solidFill>
                  <a:srgbClr val="262D38"/>
                </a:solidFill>
                <a:latin typeface="Aptos"/>
              </a:rPr>
              <a:t>ทุกตัว |skew| &lt; 0.8 → ค่อนข้างสมมาตร  ·  kurtosis ติดลบเกือบทั้งหมด → หางบาง/ค่อนข้างแบน (Age และ Commute_Time_mins แบนที่สุด)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6459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060B4"/>
                </a:solidFill>
                <a:latin typeface="Aptos"/>
              </a:defRPr>
            </a:pPr>
            <a:r>
              <a:t>DESCRIPTIVE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10528"/>
            <a:ext cx="11155680" cy="7315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800">
                <a:solidFill>
                  <a:srgbClr val="697382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COS3302 · Data Science  |  Mumbai University KT Students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4223D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Rounded Rectangle 14"/>
          <p:cNvSpPr/>
          <p:nvPr/>
        </p:nvSpPr>
        <p:spPr>
          <a:xfrm>
            <a:off x="438912" y="960120"/>
            <a:ext cx="11201400" cy="5303520"/>
          </a:xfrm>
          <a:prstGeom prst="roundRect">
            <a:avLst/>
          </a:prstGeom>
          <a:solidFill>
            <a:srgbClr val="F5F7FA"/>
          </a:solidFill>
          <a:ln w="889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4500"/>
            </a:avLst>
          </a:prstGeom>
          <a:noFill/>
          <a:ln w="13970">
            <a:solidFill>
              <a:srgbClr val="D8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COS3302 · Data Science — สอบกลางภาค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59575" y="6382512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ธนเสริฐ ตั้งตรงสกุลดี · 6805007181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ส่วนที่ 2 · DESCRIPTIVE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50976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ตัวแปรจัดกลุ่ม — การกระจายเด่น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92224"/>
            <a:ext cx="1371600" cy="40640"/>
          </a:xfrm>
          <a:prstGeom prst="rect">
            <a:avLst/>
          </a:prstGeom>
          <a:solidFill>
            <a:srgbClr val="B56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1965960"/>
          <a:ext cx="10881360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8503920"/>
              </a:tblGrid>
              <a:tr h="384048">
                <a:tc>
                  <a:txBody>
                    <a:bodyPr/>
                    <a:lstStyle/>
                    <a:p>
                      <a:pPr>
                        <a:defRPr sz="1350" b="1" i="0">
                          <a:solidFill>
                            <a:srgbClr val="FFFFFF"/>
                          </a:solidFill>
                          <a:latin typeface="Sarabun"/>
                        </a:defRPr>
                      </a:pPr>
                      <a:r>
                        <a:t>ตัวแปร</a:t>
                      </a:r>
                    </a:p>
                  </a:txBody>
                  <a:tcPr anchor="ctr">
                    <a:solidFill>
                      <a:srgbClr val="B565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 i="0">
                          <a:solidFill>
                            <a:srgbClr val="FFFFFF"/>
                          </a:solidFill>
                          <a:latin typeface="Sarabun"/>
                        </a:defRPr>
                      </a:pPr>
                      <a:r>
                        <a:t>การกระจาย (%)</a:t>
                      </a:r>
                    </a:p>
                  </a:txBody>
                  <a:tcPr anchor="ctr">
                    <a:solidFill>
                      <a:srgbClr val="B565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Gender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Male 59.0 · Female 39.2 · Other 1.8   (ไม่สมดุล)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Branch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Computer Eng. 25 · IT 20 · AI&amp;DS 15 · EXTC 14 · อื่น ๆ 26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Year_of_Study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First / Second / Third / Final ≈ 25% เท่ากัน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Commute_Mode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Local Train 55 · Bus 20 · Two-Wheeler 15 · Walking 5 · Auto/Cab 5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Financial_Status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Middle 55 · Upper Middle 25 · Lower Middle 15 · Wealthy 5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Stress_Level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Low 50 · Medium 32 · High 18</a:t>
                      </a:r>
                    </a:p>
                  </a:txBody>
                  <a:tcPr anchor="ctr">
                    <a:solidFill>
                      <a:srgbClr val="F4EF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50" b="1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Has_KT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 i="0">
                          <a:solidFill>
                            <a:srgbClr val="4A453D"/>
                          </a:solidFill>
                          <a:latin typeface="Sarabun"/>
                        </a:defRPr>
                      </a:pPr>
                      <a:r>
                        <a:t>Yes 74.1 · No 25.9   (class imbalance)</a:t>
                      </a:r>
                    </a:p>
                  </a:txBody>
                  <a:tcPr anchor="ctr">
                    <a:solidFill>
                      <a:srgbClr val="FCFAF4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459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060B4"/>
                </a:solidFill>
                <a:latin typeface="Aptos"/>
              </a:defRPr>
            </a:pPr>
            <a:r>
              <a:t>DESCRIPTIVE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510528"/>
            <a:ext cx="11155680" cy="7315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800">
                <a:solidFill>
                  <a:srgbClr val="697382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COS3302 · Data Science  |  Mumbai University KT Students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4223D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4500"/>
            </a:avLst>
          </a:prstGeom>
          <a:noFill/>
          <a:ln w="13970">
            <a:solidFill>
              <a:srgbClr val="D8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COS3302 · Data Science — สอบกลางภาค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59575" y="6382512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ธนเสริฐ ตั้งตรงสกุลดี · 6805007181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ส่วนที่ 2 · UNIVARIATE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50976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การแจกแจงตัวแปรตัวเลขทั้ง 8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92224"/>
            <a:ext cx="1371600" cy="40640"/>
          </a:xfrm>
          <a:prstGeom prst="rect">
            <a:avLst/>
          </a:prstGeom>
          <a:solidFill>
            <a:srgbClr val="B56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_hist_numer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042445"/>
            <a:ext cx="8595360" cy="400754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418320" y="1874519"/>
            <a:ext cx="27940" cy="4343401"/>
          </a:xfrm>
          <a:prstGeom prst="rect">
            <a:avLst/>
          </a:prstGeom>
          <a:solidFill>
            <a:srgbClr val="B56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0" y="1874519"/>
            <a:ext cx="2188159" cy="43434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350" b="1" i="0">
                <a:solidFill>
                  <a:srgbClr val="262D38"/>
                </a:solidFill>
                <a:latin typeface="Aptos"/>
              </a:rPr>
              <a:t>รูปทรงการแจกแจง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เส้นแดง = mean, เส้นเขียว = median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เกือบทุกตัวสมมาตร mean ≈ median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350" b="1" i="0">
                <a:solidFill>
                  <a:srgbClr val="262D38"/>
                </a:solidFill>
                <a:latin typeface="Aptos"/>
              </a:rPr>
              <a:t>ข้อสังเกต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Number_of_KTs เบ้ขวาเล็กน้อย (ข้อมูลนับ)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Age เป็นแบบไม่ต่อเนื่อง (18–24 ปี)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459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060B4"/>
                </a:solidFill>
                <a:latin typeface="Aptos"/>
              </a:defRPr>
            </a:pPr>
            <a:r>
              <a:t>UNIVARIATE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10528"/>
            <a:ext cx="11155680" cy="7315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800">
                <a:solidFill>
                  <a:srgbClr val="697382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COS3302 · Data Science  |  Mumbai University KT Students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4223D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4500"/>
            </a:avLst>
          </a:prstGeom>
          <a:noFill/>
          <a:ln w="13970">
            <a:solidFill>
              <a:srgbClr val="D8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COS3302 · Data Science — สอบกลางภาค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59575" y="6382512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ธนเสริฐ ตั้งตรงสกุลดี · 6805007181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ส่วนที่ 2 · UNIVARIATE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50976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ความถี่ตัวแปรจัดกลุ่มหลัก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92224"/>
            <a:ext cx="1371600" cy="40640"/>
          </a:xfrm>
          <a:prstGeom prst="rect">
            <a:avLst/>
          </a:prstGeom>
          <a:solidFill>
            <a:srgbClr val="B56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_bar_categor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74519"/>
            <a:ext cx="8284514" cy="434340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107474" y="1874519"/>
            <a:ext cx="27940" cy="4343401"/>
          </a:xfrm>
          <a:prstGeom prst="rect">
            <a:avLst/>
          </a:prstGeom>
          <a:solidFill>
            <a:srgbClr val="B56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90354" y="1874519"/>
            <a:ext cx="2499005" cy="43434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350" b="1" i="0">
                <a:solidFill>
                  <a:srgbClr val="262D38"/>
                </a:solidFill>
                <a:latin typeface="Aptos"/>
              </a:rPr>
              <a:t>สัดส่วนกลุ่ม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Local Train ครองการเดินทางกว่าครึ่ง (บริบทมุมไบ)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Year_of_Study สมดุล ~25% ต่อชั้นปี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350" b="1" i="0">
                <a:solidFill>
                  <a:srgbClr val="262D38"/>
                </a:solidFill>
                <a:latin typeface="Aptos"/>
              </a:rPr>
              <a:t>ข้อสังเกต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Stress_Level เอียงไปทาง Low (50%)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Branch กระจุกที่กลุ่มคอมพิวเตอร์/IT/AI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459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060B4"/>
                </a:solidFill>
                <a:latin typeface="Aptos"/>
              </a:defRPr>
            </a:pPr>
            <a:r>
              <a:t>UNIVARIATE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10528"/>
            <a:ext cx="11155680" cy="7315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800">
                <a:solidFill>
                  <a:srgbClr val="697382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COS3302 · Data Science  |  Mumbai University KT Students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4223D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4500"/>
            </a:avLst>
          </a:prstGeom>
          <a:noFill/>
          <a:ln w="13970">
            <a:solidFill>
              <a:srgbClr val="D8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COS3302 · Data Science — สอบกลางภาค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59575" y="6382512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ธนเสริฐ ตั้งตรงสกุลดี · 6805007181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ส่วนที่ 2 ·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50976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ตัวแปรเป้าหมาย — Number_of_KTs &amp; Has_KT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92224"/>
            <a:ext cx="1371600" cy="40640"/>
          </a:xfrm>
          <a:prstGeom prst="rect">
            <a:avLst/>
          </a:prstGeom>
          <a:solidFill>
            <a:srgbClr val="B56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_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46511"/>
            <a:ext cx="8778240" cy="339941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601200" y="1874519"/>
            <a:ext cx="27940" cy="4343401"/>
          </a:xfrm>
          <a:prstGeom prst="rect">
            <a:avLst/>
          </a:prstGeom>
          <a:solidFill>
            <a:srgbClr val="B56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0" y="1874519"/>
            <a:ext cx="2005279" cy="43434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350" b="1" i="0">
                <a:solidFill>
                  <a:srgbClr val="262D38"/>
                </a:solidFill>
                <a:latin typeface="Aptos"/>
              </a:rPr>
              <a:t>เป้าหมาย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ค่าเฉลี่ย 1.54 วิชา/คน · median 1 · สูงสุด 7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74% ของนักศึกษาติด KT อย่างน้อย 1 วิชา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350" b="1" i="0">
                <a:solidFill>
                  <a:srgbClr val="262D38"/>
                </a:solidFill>
                <a:latin typeface="Aptos"/>
              </a:rPr>
              <a:t>นัยยะต่อการสร้างโมเดล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คลาสไม่สมดุล (74 : 26)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ควรใช้ metric เช่น F1 / ROC-AUC แทน 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459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060B4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10528"/>
            <a:ext cx="11155680" cy="7315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800">
                <a:solidFill>
                  <a:srgbClr val="697382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COS3302 · Data Science  |  Mumbai University KT Students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4223D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Rounded Rectangle 19"/>
          <p:cNvSpPr/>
          <p:nvPr/>
        </p:nvSpPr>
        <p:spPr>
          <a:xfrm>
            <a:off x="438912" y="960120"/>
            <a:ext cx="11201400" cy="5303520"/>
          </a:xfrm>
          <a:prstGeom prst="roundRect">
            <a:avLst/>
          </a:prstGeom>
          <a:solidFill>
            <a:srgbClr val="F5F7FA"/>
          </a:solidFill>
          <a:ln w="889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500" b="1" i="0">
                <a:solidFill>
                  <a:srgbClr val="262D38"/>
                </a:solidFill>
                <a:latin typeface="Aptos"/>
              </a:rPr>
              <a:t>ส่วนที่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28600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4000" b="1" i="0">
                <a:solidFill>
                  <a:srgbClr val="262D38"/>
                </a:solidFill>
                <a:latin typeface="Aptos"/>
              </a:rPr>
              <a:t>ความสัมพันธ์ระหว่างตัวแปร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429000"/>
            <a:ext cx="1371600" cy="40640"/>
          </a:xfrm>
          <a:prstGeom prst="rect">
            <a:avLst/>
          </a:prstGeom>
          <a:solidFill>
            <a:srgbClr val="7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3895344"/>
            <a:ext cx="128016" cy="384048"/>
          </a:xfrm>
          <a:prstGeom prst="rect">
            <a:avLst/>
          </a:prstGeom>
          <a:solidFill>
            <a:srgbClr val="7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840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500" b="1" i="0">
                <a:solidFill>
                  <a:srgbClr val="262D38"/>
                </a:solidFill>
                <a:latin typeface="Aptos"/>
              </a:rPr>
              <a:t>ตัวเลข × ตัวเลข   </a:t>
            </a:r>
            <a:r>
              <a:rPr sz="1300" b="0" i="0">
                <a:solidFill>
                  <a:srgbClr val="262D38"/>
                </a:solidFill>
                <a:latin typeface="Aptos"/>
              </a:rPr>
              <a:t>Pearson &amp; Spearman correlation, regression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553712"/>
            <a:ext cx="128016" cy="384048"/>
          </a:xfrm>
          <a:prstGeom prst="rect">
            <a:avLst/>
          </a:prstGeom>
          <a:solidFill>
            <a:srgbClr val="7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49884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500" b="1" i="0">
                <a:solidFill>
                  <a:srgbClr val="262D38"/>
                </a:solidFill>
                <a:latin typeface="Aptos"/>
              </a:rPr>
              <a:t>ตัวเลข × กลุ่ม   </a:t>
            </a:r>
            <a:r>
              <a:rPr sz="1300" b="0" i="0">
                <a:solidFill>
                  <a:srgbClr val="262D38"/>
                </a:solidFill>
                <a:latin typeface="Aptos"/>
              </a:rPr>
              <a:t>boxplot / violin, ค่าเฉลี่ยแยกกลุ่ม, ANOVA F-test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5212080"/>
            <a:ext cx="128016" cy="384048"/>
          </a:xfrm>
          <a:prstGeom prst="rect">
            <a:avLst/>
          </a:prstGeom>
          <a:solidFill>
            <a:srgbClr val="7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5157216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500" b="1" i="0">
                <a:solidFill>
                  <a:srgbClr val="262D38"/>
                </a:solidFill>
                <a:latin typeface="Aptos"/>
              </a:rPr>
              <a:t>กลุ่ม × กลุ่ม   </a:t>
            </a:r>
            <a:r>
              <a:rPr sz="1300" b="0" i="0">
                <a:solidFill>
                  <a:srgbClr val="262D38"/>
                </a:solidFill>
                <a:latin typeface="Aptos"/>
              </a:rPr>
              <a:t>crosstab, stacked bar, Cramér's V, chi-square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38251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COS3302 · Data Science — สอบกลางภาค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9575" y="6382512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ธนเสริฐ ตั้งตรงสกุลดี · 6805007181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6459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060B4"/>
                </a:solidFill>
                <a:latin typeface="Aptos"/>
              </a:defRPr>
            </a:pPr>
            <a:r>
              <a:t>DATA STORY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10528"/>
            <a:ext cx="11155680" cy="7315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800">
                <a:solidFill>
                  <a:srgbClr val="697382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COS3302 · Data Science  |  Mumbai University KT Students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4223D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4500"/>
            </a:avLst>
          </a:prstGeom>
          <a:noFill/>
          <a:ln w="13970">
            <a:solidFill>
              <a:srgbClr val="D8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COS3302 · Data Science — สอบกลางภาค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59575" y="6382512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ธนเสริฐ ตั้งตรงสกุลดี · 6805007181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ส่วนที่ 3 · NUMERIC × NUMERIC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50976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ความสัมพันธ์ ตัวเลข × ตัวเลข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92224"/>
            <a:ext cx="1371600" cy="40640"/>
          </a:xfrm>
          <a:prstGeom prst="rect">
            <a:avLst/>
          </a:prstGeom>
          <a:solidFill>
            <a:srgbClr val="7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98999"/>
            <a:ext cx="7680960" cy="32944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503920" y="1874519"/>
            <a:ext cx="27940" cy="4343401"/>
          </a:xfrm>
          <a:prstGeom prst="rect">
            <a:avLst/>
          </a:prstGeom>
          <a:solidFill>
            <a:srgbClr val="7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874519"/>
            <a:ext cx="3102559" cy="43434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350" b="1" i="0">
                <a:solidFill>
                  <a:srgbClr val="262D38"/>
                </a:solidFill>
                <a:latin typeface="Aptos"/>
              </a:rPr>
              <a:t>สัมพันธ์กับ Number_of_KTs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SGPA เดิม  r ≈ −0.35  (แรงสุด)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Study_Hours −0.30 · Attendance −0.30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Social_Media +0.18 · Commute_Time +0.11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350" b="1" i="0">
                <a:solidFill>
                  <a:srgbClr val="262D38"/>
                </a:solidFill>
                <a:latin typeface="Aptos"/>
              </a:rPr>
              <a:t>โครงสร้างรวม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Pearson ≈ Spearman → ความสัมพันธ์เชิงเส้น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ตัวแปรอินพุตสหสัมพันธ์กันเองต่ำ → ไม่มี multicollinearity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459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060B4"/>
                </a:solidFill>
                <a:latin typeface="Aptos"/>
              </a:defRPr>
            </a:pPr>
            <a:r>
              <a:t>RELATIONSHIP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10528"/>
            <a:ext cx="11155680" cy="7315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800">
                <a:solidFill>
                  <a:srgbClr val="697382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COS3302 · Data Science  |  Mumbai University KT Students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4223D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Rounded Rectangle 20"/>
          <p:cNvSpPr/>
          <p:nvPr/>
        </p:nvSpPr>
        <p:spPr>
          <a:xfrm>
            <a:off x="438912" y="960120"/>
            <a:ext cx="11201400" cy="5303520"/>
          </a:xfrm>
          <a:prstGeom prst="roundRect">
            <a:avLst/>
          </a:prstGeom>
          <a:solidFill>
            <a:srgbClr val="F5F7FA"/>
          </a:solidFill>
          <a:ln w="889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4500"/>
            </a:avLst>
          </a:prstGeom>
          <a:noFill/>
          <a:ln w="13970">
            <a:solidFill>
              <a:srgbClr val="D8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COS3302 · Data Science — สอบกลางภาค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59575" y="6382512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ธนเสริฐ ตั้งตรงสกุลดี · 6805007181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ส่วนที่ 3 · อ่านค่าจาก HEATMAP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50976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ปัจจัยตัวเลขที่ขับเคลื่อนจำนวน KT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92224"/>
            <a:ext cx="1371600" cy="40640"/>
          </a:xfrm>
          <a:prstGeom prst="rect">
            <a:avLst/>
          </a:prstGeom>
          <a:solidFill>
            <a:srgbClr val="7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2103120"/>
            <a:ext cx="5394960" cy="3291840"/>
          </a:xfrm>
          <a:prstGeom prst="roundRect">
            <a:avLst>
              <a:gd name="adj" fmla="val 4500"/>
            </a:avLst>
          </a:prstGeom>
          <a:solidFill>
            <a:srgbClr val="FCFAF4"/>
          </a:solidFill>
          <a:ln w="12700">
            <a:solidFill>
              <a:srgbClr val="D8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2103120"/>
            <a:ext cx="5166360" cy="3291840"/>
          </a:xfrm>
          <a:prstGeom prst="roundRect">
            <a:avLst>
              <a:gd name="adj" fmla="val 4500"/>
            </a:avLst>
          </a:prstGeom>
          <a:solidFill>
            <a:srgbClr val="FCFAF4"/>
          </a:solidFill>
          <a:ln w="12700">
            <a:solidFill>
              <a:srgbClr val="D8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600" b="1" i="0">
                <a:solidFill>
                  <a:srgbClr val="262D38"/>
                </a:solidFill>
                <a:latin typeface="Aptos"/>
              </a:rPr>
              <a:t>ลด KT  (สัมพันธ์เชิงลบ)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926080"/>
            <a:ext cx="49377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300" b="0" i="0">
                <a:solidFill>
                  <a:srgbClr val="262D38"/>
                </a:solidFill>
                <a:latin typeface="Aptos"/>
              </a:rPr>
              <a:t>•  Previous_Semester_SGPA   r ≈ −0.35</a:t>
            </a:r>
          </a:p>
          <a:p>
            <a:pPr algn="l">
              <a:lnSpc>
                <a:spcPct val="15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300" b="0" i="0">
                <a:solidFill>
                  <a:srgbClr val="262D38"/>
                </a:solidFill>
                <a:latin typeface="Aptos"/>
              </a:rPr>
              <a:t>•  Study_Hours_per_Day   r ≈ −0.30</a:t>
            </a:r>
          </a:p>
          <a:p>
            <a:pPr algn="l">
              <a:lnSpc>
                <a:spcPct val="15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300" b="0" i="0">
                <a:solidFill>
                  <a:srgbClr val="262D38"/>
                </a:solidFill>
                <a:latin typeface="Aptos"/>
              </a:rPr>
              <a:t>•  Attendance_Percentage   r ≈ −0.30</a:t>
            </a:r>
          </a:p>
          <a:p>
            <a:pPr algn="l">
              <a:lnSpc>
                <a:spcPct val="15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1">
                <a:solidFill>
                  <a:srgbClr val="262D38"/>
                </a:solidFill>
                <a:latin typeface="Aptos"/>
              </a:rPr>
              <a:t>ยิ่งค่ามาก จำนวน KT ยิ่งน้อย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33172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600" b="1" i="0">
                <a:solidFill>
                  <a:srgbClr val="262D38"/>
                </a:solidFill>
                <a:latin typeface="Aptos"/>
              </a:rPr>
              <a:t>เพิ่ม KT  (สัมพันธ์เชิงบวก)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926080"/>
            <a:ext cx="46634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300" b="0" i="0">
                <a:solidFill>
                  <a:srgbClr val="262D38"/>
                </a:solidFill>
                <a:latin typeface="Aptos"/>
              </a:rPr>
              <a:t>•  Social_Media_Hours_per_Day   r ≈ +0.18</a:t>
            </a:r>
          </a:p>
          <a:p>
            <a:pPr algn="l">
              <a:lnSpc>
                <a:spcPct val="15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300" b="0" i="0">
                <a:solidFill>
                  <a:srgbClr val="262D38"/>
                </a:solidFill>
                <a:latin typeface="Aptos"/>
              </a:rPr>
              <a:t>•  Commute_Time_mins   r ≈ +0.11</a:t>
            </a:r>
          </a:p>
          <a:p>
            <a:pPr algn="l">
              <a:lnSpc>
                <a:spcPct val="15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300" b="0" i="0">
                <a:solidFill>
                  <a:srgbClr val="262D38"/>
                </a:solidFill>
                <a:latin typeface="Aptos"/>
              </a:rPr>
              <a:t>•  Sleep_Hours_per_Night / Age   ≈ 0  (ไม่มีผล)</a:t>
            </a:r>
          </a:p>
          <a:p>
            <a:pPr algn="l">
              <a:lnSpc>
                <a:spcPct val="15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1">
                <a:solidFill>
                  <a:srgbClr val="262D38"/>
                </a:solidFill>
                <a:latin typeface="Aptos"/>
              </a:rPr>
              <a:t>ขนาดความสัมพันธ์ระดับอ่อน–ปานกลาง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62356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250" b="1" i="0">
                <a:solidFill>
                  <a:srgbClr val="262D38"/>
                </a:solidFill>
                <a:latin typeface="Aptos"/>
              </a:rPr>
              <a:t>→ ไม่มีปัจจัยเดี่ยวใดอธิบายจำนวน KT ได้ทั้งหมด ต้องใช้หลายปัจจัยร่วมกัน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6459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060B4"/>
                </a:solidFill>
                <a:latin typeface="Aptos"/>
              </a:defRPr>
            </a:pPr>
            <a:r>
              <a:t>DATA STORY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510528"/>
            <a:ext cx="11155680" cy="7315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800">
                <a:solidFill>
                  <a:srgbClr val="697382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COS3302 · Data Science  |  Mumbai University KT Students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4223D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4500"/>
            </a:avLst>
          </a:prstGeom>
          <a:noFill/>
          <a:ln w="13970">
            <a:solidFill>
              <a:srgbClr val="D8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COS3302 · Data Science — สอบกลางภาค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59575" y="6382512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ธนเสริฐ ตั้งตรงสกุลดี · 6805007181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ส่วนที่ 3 · NUMERIC ×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50976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ตัวขับเคลื่อนจำนวน KT (correlation + regression)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92224"/>
            <a:ext cx="1371600" cy="40640"/>
          </a:xfrm>
          <a:prstGeom prst="rect">
            <a:avLst/>
          </a:prstGeom>
          <a:solidFill>
            <a:srgbClr val="7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6_numeric_vs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813190"/>
            <a:ext cx="8961120" cy="246605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784080" y="1874519"/>
            <a:ext cx="27940" cy="4343401"/>
          </a:xfrm>
          <a:prstGeom prst="rect">
            <a:avLst/>
          </a:prstGeom>
          <a:solidFill>
            <a:srgbClr val="7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0" y="1874519"/>
            <a:ext cx="1822399" cy="43434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350" b="1" i="0">
                <a:solidFill>
                  <a:srgbClr val="262D38"/>
                </a:solidFill>
                <a:latin typeface="Aptos"/>
              </a:rPr>
              <a:t>ซ้าย: อันดับ Pearson r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SGPA / Study / Attendance ดึงลง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Social_Media / Commute ดันขึ้น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350" b="1" i="0">
                <a:solidFill>
                  <a:srgbClr val="262D38"/>
                </a:solidFill>
                <a:latin typeface="Aptos"/>
              </a:rPr>
              <a:t>ขวา: regression line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SGPA ยิ่งต่ำ จำนวน KT ยิ่งพุ่ง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ชั่วโมงโซเชียลสูง สัมพันธ์กับ KT เพิ่ม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459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060B4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10528"/>
            <a:ext cx="11155680" cy="7315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800">
                <a:solidFill>
                  <a:srgbClr val="697382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COS3302 · Data Science  |  Mumbai University KT Students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4223D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4500"/>
            </a:avLst>
          </a:prstGeom>
          <a:noFill/>
          <a:ln w="13970">
            <a:solidFill>
              <a:srgbClr val="D8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COS3302 · Data Science — สอบกลางภาค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59575" y="6382512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ธนเสริฐ ตั้งตรงสกุลดี · 6805007181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ส่วนที่ 3 · NUMERIC × CATEGORICAL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50976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ปัจจัยตัวเลข แยกตามสถานะ Has_KT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92224"/>
            <a:ext cx="1371600" cy="40640"/>
          </a:xfrm>
          <a:prstGeom prst="rect">
            <a:avLst/>
          </a:prstGeom>
          <a:solidFill>
            <a:srgbClr val="7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7_violin_by_hask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29696"/>
            <a:ext cx="7589520" cy="423304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412480" y="1874519"/>
            <a:ext cx="27940" cy="4343401"/>
          </a:xfrm>
          <a:prstGeom prst="rect">
            <a:avLst/>
          </a:prstGeom>
          <a:solidFill>
            <a:srgbClr val="7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874519"/>
            <a:ext cx="3193999" cy="43434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350" b="1" i="0">
                <a:solidFill>
                  <a:srgbClr val="262D38"/>
                </a:solidFill>
                <a:latin typeface="Aptos"/>
              </a:rPr>
              <a:t>violin + ANOVA F-test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กลุ่มติด KT: SGPA / เข้าเรียน / ชั่วโมงอ่าน ต่ำกว่าชัดเจน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กลุ่มติด KT: โซเชียล / เวลาเดินทาง สูงกว่า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ทุกคู่ p ≪ 0.001 (แตกต่างอย่างมีนัยสำคัญ)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การนอนต่างกันเล็กน้อย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459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060B4"/>
                </a:solidFill>
                <a:latin typeface="Aptos"/>
              </a:defRPr>
            </a:pPr>
            <a:r>
              <a:t>RELATIONSHIP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10528"/>
            <a:ext cx="11155680" cy="7315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800">
                <a:solidFill>
                  <a:srgbClr val="697382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COS3302 · Data Science  |  Mumbai University KT Students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4223D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Rounded Rectangle 16"/>
          <p:cNvSpPr/>
          <p:nvPr/>
        </p:nvSpPr>
        <p:spPr>
          <a:xfrm>
            <a:off x="438912" y="960120"/>
            <a:ext cx="11201400" cy="5303520"/>
          </a:xfrm>
          <a:prstGeom prst="roundRect">
            <a:avLst/>
          </a:prstGeom>
          <a:solidFill>
            <a:srgbClr val="F5F7FA"/>
          </a:solidFill>
          <a:ln w="889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4500"/>
            </a:avLst>
          </a:prstGeom>
          <a:noFill/>
          <a:ln w="13970">
            <a:solidFill>
              <a:srgbClr val="D8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COS3302 · Data Science — สอบกลางภาค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59575" y="6382512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ธนเสริฐ ตั้งตรงสกุลดี · 6805007181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ส่วนที่ 3 · CATEGORICAL ×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50976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ค่าเฉลี่ยจำนวน KT แยกตามตัวแปรกลุ่ม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92224"/>
            <a:ext cx="1371600" cy="40640"/>
          </a:xfrm>
          <a:prstGeom prst="rect">
            <a:avLst/>
          </a:prstGeom>
          <a:solidFill>
            <a:srgbClr val="7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8_meanKT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918955"/>
            <a:ext cx="8961120" cy="225452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784080" y="1874519"/>
            <a:ext cx="27940" cy="4343401"/>
          </a:xfrm>
          <a:prstGeom prst="rect">
            <a:avLst/>
          </a:prstGeom>
          <a:solidFill>
            <a:srgbClr val="7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0" y="1874519"/>
            <a:ext cx="1822399" cy="43434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350" b="1" i="0">
                <a:solidFill>
                  <a:srgbClr val="262D38"/>
                </a:solidFill>
                <a:latin typeface="Aptos"/>
              </a:rPr>
              <a:t>ปัจจัยกลุ่มที่แยกได้ชัด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Stress_Level: เฉลี่ย 0.6 → 1.9 → 3.5 วิชา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Commute_Mode: Local Train แย่กว่าโหมดอื่น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มี Peer_Learning / Mentorship = KT น้อยกว่า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350" b="1" i="0">
                <a:solidFill>
                  <a:srgbClr val="262D38"/>
                </a:solidFill>
                <a:latin typeface="Aptos"/>
              </a:rPr>
              <a:t>แถบ error = ช่วงเชื่อมั่น 95%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459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060B4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10528"/>
            <a:ext cx="11155680" cy="7315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800">
                <a:solidFill>
                  <a:srgbClr val="697382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COS3302 · Data Science  |  Mumbai University KT Students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4223D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4500"/>
            </a:avLst>
          </a:prstGeom>
          <a:noFill/>
          <a:ln w="13970">
            <a:solidFill>
              <a:srgbClr val="D8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COS3302 · Data Science — สอบกลางภาค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59575" y="6382512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ธนเสริฐ ตั้งตรงสกุลดี · 6805007181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ส่วนที่ 3 · CATEGORICAL × CATEGORICAL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50976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ความสัมพันธ์ กลุ่ม × กลุ่ม (Cramér's V)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92224"/>
            <a:ext cx="1371600" cy="40640"/>
          </a:xfrm>
          <a:prstGeom prst="rect">
            <a:avLst/>
          </a:prstGeom>
          <a:solidFill>
            <a:srgbClr val="7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9_cramers_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74519"/>
            <a:ext cx="4750897" cy="434340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573857" y="1874519"/>
            <a:ext cx="27940" cy="4343401"/>
          </a:xfrm>
          <a:prstGeom prst="rect">
            <a:avLst/>
          </a:prstGeom>
          <a:solidFill>
            <a:srgbClr val="7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56737" y="1874519"/>
            <a:ext cx="6032622" cy="43434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350" b="1" i="0">
                <a:solidFill>
                  <a:srgbClr val="262D38"/>
                </a:solidFill>
                <a:latin typeface="Aptos"/>
              </a:rPr>
              <a:t>Cramér's V (0–1)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Stress_Level × Has_KT: สูงเด่นชัด (~0.56)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Peer_Learning / Mentorship × Has_KT: อ่อน (~0.12)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350" b="1" i="0">
                <a:solidFill>
                  <a:srgbClr val="262D38"/>
                </a:solidFill>
                <a:latin typeface="Aptos"/>
              </a:rPr>
              <a:t>ข้อสังเกต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demographic (เพศ สาขา ชั้นปี ฐานะ) เป็นอิสระต่อกัน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ชุดข้อมูลออกแบบให้ตัวแปรพื้นฐานไม่พันกัน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459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060B4"/>
                </a:solidFill>
                <a:latin typeface="Aptos"/>
              </a:defRPr>
            </a:pPr>
            <a:r>
              <a:t>RELATIONSHIP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10528"/>
            <a:ext cx="11155680" cy="7315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800">
                <a:solidFill>
                  <a:srgbClr val="697382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COS3302 · Data Science  |  Mumbai University KT Students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4223D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4500"/>
            </a:avLst>
          </a:prstGeom>
          <a:noFill/>
          <a:ln w="13970">
            <a:solidFill>
              <a:srgbClr val="D8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COS3302 · Data Science — สอบกลางภาค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59575" y="6382512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ธนเสริฐ ตั้งตรงสกุลดี · 6805007181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ส่วนที่ 3 · RELATIONSHIP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50976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Stress_Level × Has_KT — ความสัมพันธ์ที่แรงที่สุด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92224"/>
            <a:ext cx="1371600" cy="40640"/>
          </a:xfrm>
          <a:prstGeom prst="rect">
            <a:avLst/>
          </a:prstGeom>
          <a:solidFill>
            <a:srgbClr val="7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0_stress_vs_hask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617102"/>
            <a:ext cx="8412480" cy="285823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235440" y="1874519"/>
            <a:ext cx="27940" cy="4343401"/>
          </a:xfrm>
          <a:prstGeom prst="rect">
            <a:avLst/>
          </a:prstGeom>
          <a:solidFill>
            <a:srgbClr val="7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0" y="1874519"/>
            <a:ext cx="2371039" cy="43434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350" b="1" i="0">
                <a:solidFill>
                  <a:srgbClr val="262D38"/>
                </a:solidFill>
                <a:latin typeface="Aptos"/>
              </a:rPr>
              <a:t>สัดส่วนติด KT ตามระดับความเครียด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Low → 50% · Medium → 98% · High → 100%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chi-square มีนัยสำคัญสูงมาก (p ≪ 0.001)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350" b="1" i="0">
                <a:solidFill>
                  <a:srgbClr val="262D38"/>
                </a:solidFill>
                <a:latin typeface="Aptos"/>
              </a:rPr>
              <a:t>ข้อควรระวัง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ความเครียดอาจเป็น "ผล" ของการติด KT ด้วย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→ อย่าใช้เป็น predictor แบบไร้เงื่อนไข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459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060B4"/>
                </a:solidFill>
                <a:latin typeface="Aptos"/>
              </a:defRPr>
            </a:pPr>
            <a:r>
              <a:t>DATA STORY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10528"/>
            <a:ext cx="11155680" cy="7315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800">
                <a:solidFill>
                  <a:srgbClr val="697382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COS3302 · Data Science  |  Mumbai University KT Students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4223D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4500"/>
            </a:avLst>
          </a:prstGeom>
          <a:noFill/>
          <a:ln w="13970">
            <a:solidFill>
              <a:srgbClr val="D8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COS3302 · Data Science — สอบกลางภาค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59575" y="6382512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ธนเสริฐ ตั้งตรงสกุลดี · 6805007181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ส่วนที่ 3 · MULTIVARIATE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50976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Pairplot ปัจจัยตัวเลขหลัก (สี = Has_KT)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92224"/>
            <a:ext cx="1371600" cy="40640"/>
          </a:xfrm>
          <a:prstGeom prst="rect">
            <a:avLst/>
          </a:prstGeom>
          <a:solidFill>
            <a:srgbClr val="7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1_pair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74519"/>
            <a:ext cx="4601113" cy="434340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24073" y="1874519"/>
            <a:ext cx="27940" cy="4343401"/>
          </a:xfrm>
          <a:prstGeom prst="rect">
            <a:avLst/>
          </a:prstGeom>
          <a:solidFill>
            <a:srgbClr val="7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06953" y="1874519"/>
            <a:ext cx="6182406" cy="43434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350" b="1" i="0">
                <a:solidFill>
                  <a:srgbClr val="262D38"/>
                </a:solidFill>
                <a:latin typeface="Aptos"/>
              </a:rPr>
              <a:t>ภาพหลายมิติ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กลุ่มสองสี (ติด/ไม่ติด KT) เหลื่อมกันมาก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ไม่มีคู่ตัวแปรใดแยกกลุ่มได้ขาด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350" b="1" i="0">
                <a:solidFill>
                  <a:srgbClr val="262D38"/>
                </a:solidFill>
                <a:latin typeface="Aptos"/>
              </a:rPr>
              <a:t>นัยยะ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ต้องใช้หลายปัจจัยร่วมกันในการทำนาย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เหมาะกับโมเดลที่รวมหลาย feature (เช่น logistic / tree)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459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060B4"/>
                </a:solidFill>
                <a:latin typeface="Aptos"/>
              </a:defRPr>
            </a:pPr>
            <a:r>
              <a:t>MULTIVARIATE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10528"/>
            <a:ext cx="11155680" cy="7315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800">
                <a:solidFill>
                  <a:srgbClr val="697382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COS3302 · Data Science  |  Mumbai University KT Students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4223D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4500"/>
            </a:avLst>
          </a:prstGeom>
          <a:noFill/>
          <a:ln w="13970">
            <a:solidFill>
              <a:srgbClr val="D8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COS3302 · Data Science — สอบกลางภาค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59575" y="6382512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ธนเสริฐ ตั้งตรงสกุลดี · 6805007181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ส่วนที่ 3 · INTERACTION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50976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Interaction: Stress_Level × ช่วงการเข้าเรียน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92224"/>
            <a:ext cx="1371600" cy="40640"/>
          </a:xfrm>
          <a:prstGeom prst="rect">
            <a:avLst/>
          </a:prstGeom>
          <a:solidFill>
            <a:srgbClr val="7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2_interac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015527"/>
            <a:ext cx="7589520" cy="406138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412480" y="1874519"/>
            <a:ext cx="27940" cy="4343401"/>
          </a:xfrm>
          <a:prstGeom prst="rect">
            <a:avLst/>
          </a:prstGeom>
          <a:solidFill>
            <a:srgbClr val="7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874519"/>
            <a:ext cx="3193999" cy="43434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350" b="1" i="0">
                <a:solidFill>
                  <a:srgbClr val="262D38"/>
                </a:solidFill>
                <a:latin typeface="Aptos"/>
              </a:rPr>
              <a:t>ค่าเฉลี่ย Number_of_KTs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เครียดสูง + เข้าเรียน &lt; 50% → เฉลี่ยเกือบ 4 วิชา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เครียดต่ำ + เข้าเรียนสูง → ต่ำกว่า 0.5 วิชา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350" b="1" i="0">
                <a:solidFill>
                  <a:srgbClr val="262D38"/>
                </a:solidFill>
                <a:latin typeface="Aptos"/>
              </a:rPr>
              <a:t>การใช้งาน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จุดตัดสองปัจจัยนี้ = กลุ่มเป้าหมายหลัก</a:t>
            </a:r>
          </a:p>
          <a:p>
            <a:pPr algn="l">
              <a:lnSpc>
                <a:spcPct val="12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150" b="0" i="0">
                <a:solidFill>
                  <a:srgbClr val="262D38"/>
                </a:solidFill>
                <a:latin typeface="Aptos"/>
              </a:rPr>
              <a:t>•  ของระบบ early-warning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459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060B4"/>
                </a:solidFill>
                <a:latin typeface="Aptos"/>
              </a:defRPr>
            </a:pPr>
            <a:r>
              <a:t>INTERACTION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10528"/>
            <a:ext cx="11155680" cy="7315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800">
                <a:solidFill>
                  <a:srgbClr val="697382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COS3302 · Data Science  |  Mumbai University KT Students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4223D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Rounded Rectangle 19"/>
          <p:cNvSpPr/>
          <p:nvPr/>
        </p:nvSpPr>
        <p:spPr>
          <a:xfrm>
            <a:off x="438912" y="960120"/>
            <a:ext cx="11201400" cy="5303520"/>
          </a:xfrm>
          <a:prstGeom prst="roundRect">
            <a:avLst/>
          </a:prstGeom>
          <a:solidFill>
            <a:srgbClr val="F5F7FA"/>
          </a:solidFill>
          <a:ln w="889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4500"/>
            </a:avLst>
          </a:prstGeom>
          <a:noFill/>
          <a:ln w="13970">
            <a:solidFill>
              <a:srgbClr val="D8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COS3302 · Data Science — สอบกลางภาค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59575" y="6382512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ธนเสริฐ ตั้งตรงสกุลดี · 6805007181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สรุป · KEY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50976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สรุปข้อค้นพบ (1/2)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92224"/>
            <a:ext cx="1371600" cy="40640"/>
          </a:xfrm>
          <a:prstGeom prst="rect">
            <a:avLst/>
          </a:prstGeom>
          <a:solidFill>
            <a:srgbClr val="4F6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103120"/>
            <a:ext cx="128016" cy="365760"/>
          </a:xfrm>
          <a:prstGeom prst="rect">
            <a:avLst/>
          </a:prstGeom>
          <a:solidFill>
            <a:srgbClr val="4F6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600" b="1" i="0">
                <a:solidFill>
                  <a:srgbClr val="262D38"/>
                </a:solidFill>
                <a:latin typeface="Aptos"/>
              </a:rPr>
              <a:t>โครงสร้าง &amp; คุณภาพข้อมูล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250" b="0" i="0">
                <a:solidFill>
                  <a:srgbClr val="262D38"/>
                </a:solidFill>
                <a:latin typeface="Aptos"/>
              </a:rPr>
              <a:t>•  10,000 × 21 · ไม่มีแถว/ID ซ้ำ · ค่าหาย ~2% เฉพาะ 4 คอลัมน์ตัวเลข กระจายแบบสุ่ม</a:t>
            </a:r>
          </a:p>
          <a:p>
            <a:pPr algn="l">
              <a:lnSpc>
                <a:spcPct val="128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250" b="0" i="0">
                <a:solidFill>
                  <a:srgbClr val="262D38"/>
                </a:solidFill>
                <a:latin typeface="Aptos"/>
              </a:rPr>
              <a:t>•  Has_KT, Cleared_in_First_Attempt, (Number_of_KTs&gt;0) = ข้อมูลชุดเดียวกัน → ระวัง target leakage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648456"/>
            <a:ext cx="128016" cy="365760"/>
          </a:xfrm>
          <a:prstGeom prst="rect">
            <a:avLst/>
          </a:prstGeom>
          <a:solidFill>
            <a:srgbClr val="B56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02736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600" b="1" i="0">
                <a:solidFill>
                  <a:srgbClr val="262D38"/>
                </a:solidFill>
                <a:latin typeface="Aptos"/>
              </a:rPr>
              <a:t>สถิติเชิงพรรณนา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105656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250" b="0" i="0">
                <a:solidFill>
                  <a:srgbClr val="262D38"/>
                </a:solidFill>
                <a:latin typeface="Aptos"/>
              </a:rPr>
              <a:t>•  ตัวแปรตัวเลขแจกแจงสมมาตร (|skew| &lt; 0.8) · kurtosis ติดลบ (หางบาง) คล้ายสุ่มจาก uniform/normal</a:t>
            </a:r>
          </a:p>
          <a:p>
            <a:pPr algn="l">
              <a:lnSpc>
                <a:spcPct val="128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250" b="0" i="0">
                <a:solidFill>
                  <a:srgbClr val="262D38"/>
                </a:solidFill>
                <a:latin typeface="Aptos"/>
              </a:rPr>
              <a:t>•  เป้าหมายไม่สมดุล: 74% ติด KT · เฉลี่ย 1.54 วิชา/คน · สูงสุด 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6459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060B4"/>
                </a:solidFill>
                <a:latin typeface="Aptos"/>
              </a:defRPr>
            </a:pPr>
            <a:r>
              <a:t>KEY FINDINGS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10528"/>
            <a:ext cx="11155680" cy="7315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800">
                <a:solidFill>
                  <a:srgbClr val="697382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COS3302 · Data Science  |  Mumbai University KT Students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4223D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" name="Rounded Rectangle 19"/>
          <p:cNvSpPr/>
          <p:nvPr/>
        </p:nvSpPr>
        <p:spPr>
          <a:xfrm>
            <a:off x="438912" y="960120"/>
            <a:ext cx="11201400" cy="5303520"/>
          </a:xfrm>
          <a:prstGeom prst="roundRect">
            <a:avLst/>
          </a:prstGeom>
          <a:solidFill>
            <a:srgbClr val="F5F7FA"/>
          </a:solidFill>
          <a:ln w="889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6032" y="256032"/>
            <a:ext cx="11679631" cy="6345936"/>
          </a:xfrm>
          <a:prstGeom prst="roundRect">
            <a:avLst>
              <a:gd name="adj" fmla="val 4500"/>
            </a:avLst>
          </a:prstGeom>
          <a:noFill/>
          <a:ln w="13970">
            <a:solidFill>
              <a:srgbClr val="D8C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COS3302 · Data Science — สอบกลางภาค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59575" y="6382512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900" b="0" i="0">
                <a:solidFill>
                  <a:srgbClr val="262D38"/>
                </a:solidFill>
                <a:latin typeface="Aptos"/>
              </a:rPr>
              <a:t>ธนเสริฐ ตั้งตรงสกุลดี · 6805007181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สรุป · KEY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50976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2700" b="1" i="0">
                <a:solidFill>
                  <a:srgbClr val="14223D"/>
                </a:solidFill>
                <a:latin typeface="Aptos Display"/>
              </a:rPr>
              <a:t>สรุปข้อค้นพบ (2/2)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92224"/>
            <a:ext cx="1371600" cy="40640"/>
          </a:xfrm>
          <a:prstGeom prst="rect">
            <a:avLst/>
          </a:prstGeom>
          <a:solidFill>
            <a:srgbClr val="4F6D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103120"/>
            <a:ext cx="128016" cy="365760"/>
          </a:xfrm>
          <a:prstGeom prst="rect">
            <a:avLst/>
          </a:prstGeom>
          <a:solidFill>
            <a:srgbClr val="7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600" b="1" i="0">
                <a:solidFill>
                  <a:srgbClr val="262D38"/>
                </a:solidFill>
                <a:latin typeface="Aptos"/>
              </a:rPr>
              <a:t>ความสัมพันธ์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250" b="0" i="0">
                <a:solidFill>
                  <a:srgbClr val="262D38"/>
                </a:solidFill>
                <a:latin typeface="Aptos"/>
              </a:rPr>
              <a:t>•  ลด KT: SGPA เดิม (r≈−0.35), ชั่วโมงอ่านหนังสือ (−0.30), การเข้าเรียน (−0.30)</a:t>
            </a:r>
          </a:p>
          <a:p>
            <a:pPr algn="l">
              <a:lnSpc>
                <a:spcPct val="128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250" b="0" i="0">
                <a:solidFill>
                  <a:srgbClr val="262D38"/>
                </a:solidFill>
                <a:latin typeface="Aptos"/>
              </a:rPr>
              <a:t>•  เพิ่ม KT: ชั่วโมงโซเชียล (r≈+0.18), เวลาเดินทาง (+0.11); การนอน/อายุ แทบไม่มีผล</a:t>
            </a:r>
          </a:p>
          <a:p>
            <a:pPr algn="l">
              <a:lnSpc>
                <a:spcPct val="128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250" b="0" i="0">
                <a:solidFill>
                  <a:srgbClr val="262D38"/>
                </a:solidFill>
                <a:latin typeface="Aptos"/>
              </a:rPr>
              <a:t>•  ปัจจัยกลุ่มที่แยกความเสี่ยงได้ชัด: Stress_Level (0.6 → 3.5), รองลงมา Commute_Mode, Peer_Learning, Mentorship</a:t>
            </a:r>
          </a:p>
          <a:p>
            <a:pPr algn="l">
              <a:lnSpc>
                <a:spcPct val="128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250" b="0" i="0">
                <a:solidFill>
                  <a:srgbClr val="262D38"/>
                </a:solidFill>
                <a:latin typeface="Aptos"/>
              </a:rPr>
              <a:t>•  ไม่มีผล: เพศ, สาขา, ชั้นปี, ฐานะการเงิน, กิจกรรมนอกหลักสูตร</a:t>
            </a:r>
          </a:p>
          <a:p>
            <a:pPr algn="l">
              <a:lnSpc>
                <a:spcPct val="128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250" b="0" i="0">
                <a:solidFill>
                  <a:srgbClr val="262D38"/>
                </a:solidFill>
                <a:latin typeface="Aptos"/>
              </a:rPr>
              <a:t>•  ตัวแปรอินพุตสหสัมพันธ์กันเองต่ำ → ทุกตัวให้ข้อมูลเสริมกัน ไม่มี multicollinearity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800600"/>
            <a:ext cx="128016" cy="365760"/>
          </a:xfrm>
          <a:prstGeom prst="rect">
            <a:avLst/>
          </a:prstGeom>
          <a:solidFill>
            <a:srgbClr val="2E2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7548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600" b="1" i="0">
                <a:solidFill>
                  <a:srgbClr val="262D38"/>
                </a:solidFill>
                <a:latin typeface="Aptos"/>
              </a:rPr>
              <a:t>นัยเชิงปฏิบัติ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25780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250" b="0" i="0">
                <a:solidFill>
                  <a:srgbClr val="262D38"/>
                </a:solidFill>
                <a:latin typeface="Aptos"/>
              </a:rPr>
              <a:t>•  กลุ่ม "เครียดสูง + เข้าเรียนน้อย + โซเชียลเยอะ + SGPA ต่ำ" คือเป้าหมายของระบบ early-warning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6459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060B4"/>
                </a:solidFill>
                <a:latin typeface="Aptos"/>
              </a:defRPr>
            </a:pPr>
            <a:r>
              <a:t>KEY FINDINGS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510528"/>
            <a:ext cx="11155680" cy="7315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800">
                <a:solidFill>
                  <a:srgbClr val="697382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COS3302 · Data Science  |  Mumbai University KT Students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4223D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Rounded Rectangle 12"/>
          <p:cNvSpPr/>
          <p:nvPr/>
        </p:nvSpPr>
        <p:spPr>
          <a:xfrm>
            <a:off x="438912" y="960120"/>
            <a:ext cx="11201400" cy="5303520"/>
          </a:xfrm>
          <a:prstGeom prst="roundRect">
            <a:avLst/>
          </a:prstGeom>
          <a:solidFill>
            <a:srgbClr val="F5F7FA"/>
          </a:solidFill>
          <a:ln w="8890">
            <a:solidFill>
              <a:srgbClr val="E1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2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468880"/>
            <a:ext cx="1463040" cy="44450"/>
          </a:xfrm>
          <a:prstGeom prst="rect">
            <a:avLst/>
          </a:prstGeom>
          <a:solidFill>
            <a:srgbClr val="B56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4000" b="1" i="0">
                <a:solidFill>
                  <a:srgbClr val="262D38"/>
                </a:solidFill>
                <a:latin typeface="Aptos"/>
              </a:rPr>
              <a:t>ขอบคุณครับ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7947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700" b="0" i="0">
                <a:solidFill>
                  <a:srgbClr val="262D38"/>
                </a:solidFill>
                <a:latin typeface="Aptos"/>
              </a:rPr>
              <a:t>ชื่อ–สกุล: </a:t>
            </a:r>
            <a:r>
              <a:rPr sz="1700" b="1" i="0">
                <a:solidFill>
                  <a:srgbClr val="262D38"/>
                </a:solidFill>
                <a:latin typeface="Aptos"/>
              </a:rPr>
              <a:t>ธนเสริฐ ตั้งตรงสกุลดี</a:t>
            </a:r>
          </a:p>
          <a:p>
            <a:pPr algn="l">
              <a:lnSpc>
                <a:spcPct val="135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700" b="0" i="0">
                <a:solidFill>
                  <a:srgbClr val="262D38"/>
                </a:solidFill>
                <a:latin typeface="Aptos"/>
              </a:rPr>
              <a:t>รหัสนักศึกษา: </a:t>
            </a:r>
            <a:r>
              <a:rPr sz="1700" b="1" i="0">
                <a:solidFill>
                  <a:srgbClr val="262D38"/>
                </a:solidFill>
                <a:latin typeface="Aptos"/>
              </a:rPr>
              <a:t>6805007181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3949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>
                <a:latin typeface="Sarabun"/>
              </a:defRPr>
            </a:pPr>
            <a:r>
              <a:rPr sz="1250" b="0" i="0">
                <a:solidFill>
                  <a:srgbClr val="262D38"/>
                </a:solidFill>
                <a:latin typeface="Aptos"/>
              </a:rPr>
              <a:t>โค้ดวิเคราะห์ทั้งหมด + กราฟทุกใบ อยู่ใน  mumbai_kt_eda.ipynb  และโฟลเดอร์  charts/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459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060B4"/>
                </a:solidFill>
                <a:latin typeface="Aptos"/>
              </a:defRPr>
            </a:pPr>
            <a:r>
              <a:t>DATA STORY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55680" cy="7315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47104"/>
            <a:ext cx="7315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800">
                <a:solidFill>
                  <a:srgbClr val="697382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COS3302 · Data Science  |  Mumbai University KT Students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14223D"/>
                </a:solidFill>
                <a:latin typeface="Aptos"/>
              </a:defRPr>
            </a:pPr>
            <a:r>
              <a:rPr sz="1700">
                <a:solidFill>
                  <a:srgbClr val="262D38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