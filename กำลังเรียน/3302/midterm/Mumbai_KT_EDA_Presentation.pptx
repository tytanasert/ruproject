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2286001"/>
          </a:xfrm>
          <a:prstGeom prst="rect">
            <a:avLst/>
          </a:prstGeom>
          <a:solidFill>
            <a:srgbClr val="3E6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64592" cy="2286001"/>
          </a:xfrm>
          <a:prstGeom prst="rect">
            <a:avLst/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164592" cy="2286001"/>
          </a:xfrm>
          <a:prstGeom prst="rect">
            <a:avLst/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8120" y="640080"/>
            <a:ext cx="3840480" cy="5577840"/>
          </a:xfrm>
          <a:prstGeom prst="roundRect">
            <a:avLst>
              <a:gd name="adj" fmla="val 60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960120"/>
            <a:ext cx="6858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defRPr>
                <a:latin typeface="Sarabun"/>
              </a:defRPr>
            </a:pPr>
            <a:r>
              <a:rPr sz="4100" b="1" i="0">
                <a:solidFill>
                  <a:srgbClr val="2B2620"/>
                </a:solidFill>
              </a:rPr>
              <a:t>ปัจจัยเสี่ยงของการ</a:t>
            </a:r>
          </a:p>
          <a:p>
            <a:pPr algn="l">
              <a:lnSpc>
                <a:spcPct val="104000"/>
              </a:lnSpc>
              <a:defRPr>
                <a:latin typeface="Sarabun"/>
              </a:defRPr>
            </a:pPr>
            <a:r>
              <a:rPr sz="4100" b="1" i="0">
                <a:solidFill>
                  <a:srgbClr val="B45539"/>
                </a:solidFill>
              </a:rPr>
              <a:t>ติด KT</a:t>
            </a:r>
            <a:r>
              <a:rPr sz="4100" b="1" i="0">
                <a:solidFill>
                  <a:srgbClr val="2B2620"/>
                </a:solidFill>
              </a:rPr>
              <a:t>  ในนักศึกษา</a:t>
            </a:r>
          </a:p>
          <a:p>
            <a:pPr algn="l">
              <a:lnSpc>
                <a:spcPct val="104000"/>
              </a:lnSpc>
              <a:defRPr>
                <a:latin typeface="Sarabun"/>
              </a:defRPr>
            </a:pPr>
            <a:r>
              <a:rPr sz="4100" b="1" i="0">
                <a:solidFill>
                  <a:srgbClr val="2B2620"/>
                </a:solidFill>
              </a:rPr>
              <a:t>มหาวิทยาลัยมุมไบ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310128"/>
            <a:ext cx="6675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>
                <a:latin typeface="Sarabun"/>
              </a:defRPr>
            </a:pPr>
            <a:r>
              <a:rPr sz="1700" b="0" i="0">
                <a:solidFill>
                  <a:srgbClr val="474138"/>
                </a:solidFill>
              </a:rPr>
              <a:t>การสำรวจและวิเคราะห์ข้อมูลเบื้องต้น (Exploratory Data Analysis)</a:t>
            </a:r>
          </a:p>
          <a:p>
            <a:pPr algn="l">
              <a:lnSpc>
                <a:spcPct val="125000"/>
              </a:lnSpc>
              <a:defRPr>
                <a:latin typeface="Sarabun"/>
              </a:defRPr>
            </a:pPr>
            <a:r>
              <a:rPr sz="1700" b="0" i="0">
                <a:solidFill>
                  <a:srgbClr val="474138"/>
                </a:solidFill>
              </a:rPr>
              <a:t>ค่าสถิติเชิงพรรณนา · ความสัมพันธ์ระหว่างตัวแปร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3108960"/>
            <a:ext cx="566928" cy="2103120"/>
          </a:xfrm>
          <a:prstGeom prst="roundRect">
            <a:avLst>
              <a:gd name="adj" fmla="val 12000"/>
            </a:avLst>
          </a:prstGeom>
          <a:solidFill>
            <a:srgbClr val="3E6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53144" y="1920240"/>
            <a:ext cx="566928" cy="3291840"/>
          </a:xfrm>
          <a:prstGeom prst="roundRect">
            <a:avLst>
              <a:gd name="adj" fmla="val 12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30968" y="3657600"/>
            <a:ext cx="566928" cy="1554480"/>
          </a:xfrm>
          <a:prstGeom prst="roundRect">
            <a:avLst>
              <a:gd name="adj" fmla="val 12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08792" y="2560320"/>
            <a:ext cx="566928" cy="2651760"/>
          </a:xfrm>
          <a:prstGeom prst="roundRect">
            <a:avLst>
              <a:gd name="adj" fmla="val 12000"/>
            </a:avLst>
          </a:prstGeom>
          <a:solidFill>
            <a:srgbClr val="C79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49056" y="1417320"/>
            <a:ext cx="219456" cy="219456"/>
          </a:xfrm>
          <a:prstGeom prst="ellipse">
            <a:avLst/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0" y="1417320"/>
            <a:ext cx="219456" cy="219456"/>
          </a:xfrm>
          <a:prstGeom prst="ellipse">
            <a:avLst/>
          </a:prstGeom>
          <a:solidFill>
            <a:srgbClr val="3E6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04704" y="1417320"/>
            <a:ext cx="219456" cy="219456"/>
          </a:xfrm>
          <a:prstGeom prst="ellipse">
            <a:avLst/>
          </a:prstGeom>
          <a:solidFill>
            <a:srgbClr val="C79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82528" y="1417320"/>
            <a:ext cx="219456" cy="219456"/>
          </a:xfrm>
          <a:prstGeom prst="ellipse">
            <a:avLst/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6968" y="4663440"/>
            <a:ext cx="1371600" cy="50800"/>
          </a:xfrm>
          <a:prstGeom prst="roundRect">
            <a:avLst>
              <a:gd name="adj" fmla="val 50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864608"/>
            <a:ext cx="6766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>
                <a:latin typeface="Sarabun"/>
              </a:defRPr>
            </a:pPr>
            <a:r>
              <a:rPr sz="1500" b="1" i="0">
                <a:solidFill>
                  <a:srgbClr val="2B2620"/>
                </a:solidFill>
              </a:rPr>
              <a:t>ชุดข้อมูล 10,000 records × 21 features</a:t>
            </a:r>
          </a:p>
          <a:p>
            <a:pPr algn="l">
              <a:lnSpc>
                <a:spcPct val="130000"/>
              </a:lnSpc>
              <a:defRPr>
                <a:latin typeface="Sarabun"/>
              </a:defRPr>
            </a:pPr>
            <a:r>
              <a:rPr sz="1300" b="0" i="0">
                <a:solidFill>
                  <a:srgbClr val="8C8273"/>
                </a:solidFill>
              </a:rPr>
              <a:t>จำแนกปัจจัยที่ทำให้นักศึกษาสอบไม่ผ่านและต้องสอบแก้ (Keep Terms)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6035040"/>
            <a:ext cx="10454335" cy="15240"/>
          </a:xfrm>
          <a:prstGeom prst="rect">
            <a:avLst/>
          </a:prstGeom>
          <a:solidFill>
            <a:srgbClr val="DDD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616305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250" b="0" i="0">
                <a:solidFill>
                  <a:srgbClr val="474138"/>
                </a:solidFill>
              </a:rPr>
              <a:t>วิชา COS3302 — Data Science · สอบกลางภาค    |    ชื่อ–สกุล: </a:t>
            </a:r>
            <a:r>
              <a:rPr sz="1250" b="1" i="0">
                <a:solidFill>
                  <a:srgbClr val="2B2620"/>
                </a:solidFill>
              </a:rPr>
              <a:t>ธนเสริฐ ตั้งตรงสกุลดี</a:t>
            </a:r>
            <a:r>
              <a:rPr sz="1250" b="0" i="0">
                <a:solidFill>
                  <a:srgbClr val="474138"/>
                </a:solidFill>
              </a:rPr>
              <a:t>    |    รหัสนักศึกษา: </a:t>
            </a:r>
            <a:r>
              <a:rPr sz="1250" b="1" i="0">
                <a:solidFill>
                  <a:srgbClr val="2B2620"/>
                </a:solidFill>
              </a:rPr>
              <a:t>6805007181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E6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1938512" cy="329184"/>
          </a:xfrm>
          <a:prstGeom prst="roundRect">
            <a:avLst>
              <a:gd name="adj" fmla="val 50000"/>
            </a:avLst>
          </a:prstGeom>
          <a:solidFill>
            <a:srgbClr val="E5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3E6392"/>
                </a:solidFill>
              </a:rPr>
              <a:t>ส่วนที่ 1 ·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ที่มา บริบท และความสำคัญของชุดข้อมูล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3E6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E5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194560"/>
            <a:ext cx="3584448" cy="3977639"/>
          </a:xfrm>
          <a:prstGeom prst="roundRect">
            <a:avLst>
              <a:gd name="adj" fmla="val 5000"/>
            </a:avLst>
          </a:prstGeom>
          <a:solidFill>
            <a:srgbClr val="E5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0976" y="2505456"/>
            <a:ext cx="658368" cy="658368"/>
          </a:xfrm>
          <a:prstGeom prst="ellipse">
            <a:avLst/>
          </a:prstGeom>
          <a:solidFill>
            <a:srgbClr val="3E6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>
                <a:latin typeface="Sarabun"/>
              </a:defRPr>
            </a:pPr>
            <a:r>
              <a:rPr sz="1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328416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700" b="1" i="0">
                <a:solidFill>
                  <a:srgbClr val="3E6392"/>
                </a:solidFill>
              </a:rPr>
              <a:t>ที่มา (Source)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895344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defRPr>
                <a:latin typeface="Sarabun"/>
              </a:defRPr>
            </a:pPr>
            <a:r>
              <a:rPr sz="1300" b="0" i="0">
                <a:solidFill>
                  <a:srgbClr val="474138"/>
                </a:solidFill>
              </a:rPr>
              <a:t>•  ชุดข้อมูล Mumbai University KT Students</a:t>
            </a:r>
          </a:p>
          <a:p>
            <a:pPr algn="l">
              <a:lnSpc>
                <a:spcPct val="128000"/>
              </a:lnSpc>
              <a:defRPr>
                <a:latin typeface="Sarabun"/>
              </a:defRPr>
            </a:pPr>
            <a:r>
              <a:rPr sz="1300" b="0" i="0">
                <a:solidFill>
                  <a:srgbClr val="474138"/>
                </a:solidFill>
              </a:rPr>
              <a:t>•  นักศึกษาคณะวิศวกรรมศาสตร์ในเครือ University of Mumbai (อินเดีย)</a:t>
            </a:r>
          </a:p>
          <a:p>
            <a:pPr algn="l">
              <a:lnSpc>
                <a:spcPct val="128000"/>
              </a:lnSpc>
              <a:defRPr>
                <a:latin typeface="Sarabun"/>
              </a:defRPr>
            </a:pPr>
            <a:r>
              <a:rPr sz="1300" b="0" i="0">
                <a:solidFill>
                  <a:srgbClr val="474138"/>
                </a:solidFill>
              </a:rPr>
              <a:t>•  1 แถว = นักศึกษา 1 คน · 10,000 แถว × 21 คอลัมน์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98848" y="2194560"/>
            <a:ext cx="3584448" cy="3977639"/>
          </a:xfrm>
          <a:prstGeom prst="roundRect">
            <a:avLst>
              <a:gd name="adj" fmla="val 5000"/>
            </a:avLst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91456" y="2505456"/>
            <a:ext cx="658368" cy="658368"/>
          </a:xfrm>
          <a:prstGeom prst="ellipse">
            <a:avLst/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>
                <a:latin typeface="Sarabun"/>
              </a:defRPr>
            </a:pPr>
            <a:r>
              <a:rPr sz="1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3328416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700" b="1" i="0">
                <a:solidFill>
                  <a:srgbClr val="B45539"/>
                </a:solidFill>
              </a:rPr>
              <a:t>บริบท: KT คืออะไร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3895344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defRPr>
                <a:latin typeface="Sarabun"/>
              </a:defRPr>
            </a:pPr>
            <a:r>
              <a:rPr sz="1300" b="0" i="0">
                <a:solidFill>
                  <a:srgbClr val="474138"/>
                </a:solidFill>
              </a:rPr>
              <a:t>•  KT = "Keep Terms" = สอบไม่ผ่านรายวิชา แต่ยังเลื่อนชั้นได้</a:t>
            </a:r>
          </a:p>
          <a:p>
            <a:pPr algn="l">
              <a:lnSpc>
                <a:spcPct val="128000"/>
              </a:lnSpc>
              <a:defRPr>
                <a:latin typeface="Sarabun"/>
              </a:defRPr>
            </a:pPr>
            <a:r>
              <a:rPr sz="1300" b="0" i="0">
                <a:solidFill>
                  <a:srgbClr val="474138"/>
                </a:solidFill>
              </a:rPr>
              <a:t>•  ต้องสอบแก้ (backlog) วิชานั้นภายหลัง</a:t>
            </a:r>
          </a:p>
          <a:p>
            <a:pPr algn="l">
              <a:lnSpc>
                <a:spcPct val="128000"/>
              </a:lnSpc>
              <a:defRPr>
                <a:latin typeface="Sarabun"/>
              </a:defRPr>
            </a:pPr>
            <a:r>
              <a:rPr sz="1300" b="0" i="0">
                <a:solidFill>
                  <a:srgbClr val="474138"/>
                </a:solidFill>
              </a:rPr>
              <a:t>•  เทียบได้กับการ "ติด F / ติดค้างวิชา" ในระบบไทย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9328" y="2194560"/>
            <a:ext cx="3584448" cy="3977639"/>
          </a:xfrm>
          <a:prstGeom prst="roundRect">
            <a:avLst>
              <a:gd name="adj" fmla="val 50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31936" y="2505456"/>
            <a:ext cx="658368" cy="658368"/>
          </a:xfrm>
          <a:prstGeom prst="ellipse">
            <a:avLst/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>
                <a:latin typeface="Sarabun"/>
              </a:defRPr>
            </a:pPr>
            <a:r>
              <a:rPr sz="1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3328416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700" b="1" i="0">
                <a:solidFill>
                  <a:srgbClr val="638B52"/>
                </a:solidFill>
              </a:rPr>
              <a:t>ความสำคัญ (Why)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3895344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defRPr>
                <a:latin typeface="Sarabun"/>
              </a:defRPr>
            </a:pPr>
            <a:r>
              <a:rPr sz="1300" b="0" i="0">
                <a:solidFill>
                  <a:srgbClr val="474138"/>
                </a:solidFill>
              </a:rPr>
              <a:t>•  อัตราการติด KT = ตัวชี้วัดความเสี่ยงการคงอยู่และการจบการศึกษา</a:t>
            </a:r>
          </a:p>
          <a:p>
            <a:pPr algn="l">
              <a:lnSpc>
                <a:spcPct val="128000"/>
              </a:lnSpc>
              <a:defRPr>
                <a:latin typeface="Sarabun"/>
              </a:defRPr>
            </a:pPr>
            <a:r>
              <a:rPr sz="1300" b="0" i="0">
                <a:solidFill>
                  <a:srgbClr val="474138"/>
                </a:solidFill>
              </a:rPr>
              <a:t>•  ตัวแปรครบทั้ง demographic / พฤติกรรม / ระบบสนับสนุน / ผลลัพธ์</a:t>
            </a:r>
          </a:p>
          <a:p>
            <a:pPr algn="l">
              <a:lnSpc>
                <a:spcPct val="128000"/>
              </a:lnSpc>
              <a:defRPr>
                <a:latin typeface="Sarabun"/>
              </a:defRPr>
            </a:pPr>
            <a:r>
              <a:rPr sz="1300" b="0" i="0">
                <a:solidFill>
                  <a:srgbClr val="474138"/>
                </a:solidFill>
              </a:rPr>
              <a:t>•  รู้ปัจจัยล่วงหน้า → ออกแบบระบบ early-warning ได้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2190884" cy="329184"/>
          </a:xfrm>
          <a:prstGeom prst="roundRect">
            <a:avLst>
              <a:gd name="adj" fmla="val 50000"/>
            </a:avLst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B45539"/>
                </a:solidFill>
              </a:rPr>
              <a:t>ส่วนที่ 2 · DESCRIPTIVE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โครงสร้างชุดข้อมูล — 21 คอลัมน์ · 6 กลุ่ม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3200400"/>
          <a:ext cx="10881360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8138160"/>
              </a:tblGrid>
              <a:tr h="420624">
                <a:tc>
                  <a:txBody>
                    <a:bodyPr/>
                    <a:lstStyle/>
                    <a:p>
                      <a:pPr>
                        <a:defRPr sz="135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กลุ่ม</a:t>
                      </a:r>
                    </a:p>
                  </a:txBody>
                  <a:tcPr anchor="ctr">
                    <a:solidFill>
                      <a:srgbClr val="B455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คอลัมน์</a:t>
                      </a:r>
                    </a:p>
                  </a:txBody>
                  <a:tcPr anchor="ctr">
                    <a:solidFill>
                      <a:srgbClr val="B4553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รหัส (1)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Student_ID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Demographic (4)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Age · Gender · Branch · Year_of_Study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การเดินทาง (2)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Commute_Mode · Commute_Time_mins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พฤติกรรม / เวลา (4)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Attendance_% · Study_Hours · Social_Media_Hours · Sleep_Hours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ระบบสนับสนุน (5)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Part_Time_Job · Extracurricular · Peer_Learning · Mentorship · Financial_Status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ผลลัพธ์ / เป้าหมาย (5)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Previous_Semester_SGPA · Stress_Level · Number_of_KTs · Has_KT · Cleared_in_First_Attempt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2286000"/>
            <a:ext cx="3529584" cy="749808"/>
          </a:xfrm>
          <a:prstGeom prst="roundRect">
            <a:avLst>
              <a:gd name="adj" fmla="val 16000"/>
            </a:avLst>
          </a:prstGeom>
          <a:solidFill>
            <a:srgbClr val="E5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359152"/>
            <a:ext cx="3072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300" b="1" i="0">
                <a:solidFill>
                  <a:srgbClr val="3E6392"/>
                </a:solidFill>
              </a:rPr>
              <a:t>10,000   </a:t>
            </a:r>
            <a:r>
              <a:rPr sz="1250" b="0" i="0">
                <a:solidFill>
                  <a:srgbClr val="474138"/>
                </a:solidFill>
              </a:rPr>
              <a:t>แถว (rows)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2286000"/>
            <a:ext cx="3529584" cy="749808"/>
          </a:xfrm>
          <a:prstGeom prst="roundRect">
            <a:avLst>
              <a:gd name="adj" fmla="val 16000"/>
            </a:avLst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359152"/>
            <a:ext cx="3072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300" b="1" i="0">
                <a:solidFill>
                  <a:srgbClr val="B45539"/>
                </a:solidFill>
              </a:rPr>
              <a:t>21   </a:t>
            </a:r>
            <a:r>
              <a:rPr sz="1250" b="0" i="0">
                <a:solidFill>
                  <a:srgbClr val="474138"/>
                </a:solidFill>
              </a:rPr>
              <a:t>คอลัมน์ (columns)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286000"/>
            <a:ext cx="3529584" cy="749808"/>
          </a:xfrm>
          <a:prstGeom prst="roundRect">
            <a:avLst>
              <a:gd name="adj" fmla="val 160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359152"/>
            <a:ext cx="3072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300" b="1" i="0">
                <a:solidFill>
                  <a:srgbClr val="638B52"/>
                </a:solidFill>
              </a:rPr>
              <a:t>74%   </a:t>
            </a:r>
            <a:r>
              <a:rPr sz="1250" b="0" i="0">
                <a:solidFill>
                  <a:srgbClr val="474138"/>
                </a:solidFill>
              </a:rPr>
              <a:t>ติด KT ≥ 1 วิชา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2275008" cy="329184"/>
          </a:xfrm>
          <a:prstGeom prst="roundRect">
            <a:avLst>
              <a:gd name="adj" fmla="val 50000"/>
            </a:avLst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B45539"/>
                </a:solidFill>
              </a:rPr>
              <a:t>ส่วนที่ 2 · 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คุณภาพข้อมูล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2240280"/>
            <a:ext cx="3602736" cy="3566160"/>
          </a:xfrm>
          <a:prstGeom prst="roundRect">
            <a:avLst>
              <a:gd name="adj" fmla="val 5000"/>
            </a:avLst>
          </a:prstGeom>
          <a:solidFill>
            <a:srgbClr val="E5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2240280"/>
            <a:ext cx="3602736" cy="63500"/>
          </a:xfrm>
          <a:prstGeom prst="roundRect">
            <a:avLst>
              <a:gd name="adj" fmla="val 50000"/>
            </a:avLst>
          </a:prstGeom>
          <a:solidFill>
            <a:srgbClr val="3E6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60320"/>
            <a:ext cx="305409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5800" b="1" i="0">
                <a:solidFill>
                  <a:srgbClr val="3E6392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941064"/>
            <a:ext cx="3035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600" b="1" i="0">
                <a:solidFill>
                  <a:srgbClr val="2B2620"/>
                </a:solidFill>
              </a:rPr>
              <a:t>แถวซ้ำ / รหัสซ้ำ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526280"/>
            <a:ext cx="303580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>
                <a:latin typeface="Sarabun"/>
              </a:defRPr>
            </a:pPr>
            <a:r>
              <a:rPr sz="1300" b="0" i="0">
                <a:solidFill>
                  <a:srgbClr val="474138"/>
                </a:solidFill>
              </a:rPr>
              <a:t>ข้อมูลสะอาด ไม่ต้อง de-duplicate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2272" y="2240280"/>
            <a:ext cx="3602736" cy="3566160"/>
          </a:xfrm>
          <a:prstGeom prst="roundRect">
            <a:avLst>
              <a:gd name="adj" fmla="val 5000"/>
            </a:avLst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62272" y="2240280"/>
            <a:ext cx="3602736" cy="63500"/>
          </a:xfrm>
          <a:prstGeom prst="roundRect">
            <a:avLst>
              <a:gd name="adj" fmla="val 50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2560320"/>
            <a:ext cx="305409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5800" b="1" i="0">
                <a:solidFill>
                  <a:srgbClr val="B45539"/>
                </a:solidFill>
              </a:rPr>
              <a:t>~2%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941064"/>
            <a:ext cx="3035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600" b="1" i="0">
                <a:solidFill>
                  <a:srgbClr val="2B2620"/>
                </a:solidFill>
              </a:rPr>
              <a:t>ค่าหาย ใน 4 คอลัมน์ตัวเลข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526280"/>
            <a:ext cx="303580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>
                <a:latin typeface="Sarabun"/>
              </a:defRPr>
            </a:pPr>
            <a:r>
              <a:rPr sz="1300" b="0" i="0">
                <a:solidFill>
                  <a:srgbClr val="474138"/>
                </a:solidFill>
              </a:rPr>
              <a:t>Study / Social_Media / Sleep / SGPA · กระจายแบบสุ่ม (คล้าย MCAR)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2240280"/>
            <a:ext cx="3602736" cy="3566160"/>
          </a:xfrm>
          <a:prstGeom prst="roundRect">
            <a:avLst>
              <a:gd name="adj" fmla="val 50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7888" y="2240280"/>
            <a:ext cx="3602736" cy="63500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8" y="2560320"/>
            <a:ext cx="3054096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5800" b="1" i="0">
                <a:solidFill>
                  <a:srgbClr val="638B52"/>
                </a:solidFill>
              </a:rPr>
              <a:t>3 →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3941064"/>
            <a:ext cx="3035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600" b="1" i="0">
                <a:solidFill>
                  <a:srgbClr val="2B2620"/>
                </a:solidFill>
              </a:rPr>
              <a:t>คอลัมน์เป้าหมายที่ซ้ำซ้อน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6" y="4526280"/>
            <a:ext cx="303580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>
                <a:latin typeface="Sarabun"/>
              </a:defRPr>
            </a:pPr>
            <a:r>
              <a:rPr sz="1300" b="0" i="0">
                <a:solidFill>
                  <a:srgbClr val="474138"/>
                </a:solidFill>
              </a:rPr>
              <a:t>Has_KT ≡ (KTs&gt;0) ≡ ตรงข้าม Cleared → ระวัง target leakage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2275008" cy="329184"/>
          </a:xfrm>
          <a:prstGeom prst="roundRect">
            <a:avLst>
              <a:gd name="adj" fmla="val 50000"/>
            </a:avLst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B45539"/>
                </a:solidFill>
              </a:rPr>
              <a:t>ส่วนที่ 2 · 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แผนที่ค่าหาย (Missing-Value Map)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55822"/>
            <a:ext cx="7025336" cy="211795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11136" y="2029968"/>
            <a:ext cx="3977639" cy="4169664"/>
          </a:xfrm>
          <a:prstGeom prst="roundRect">
            <a:avLst>
              <a:gd name="adj" fmla="val 4500"/>
            </a:avLst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11136" y="2029968"/>
            <a:ext cx="63500" cy="4169664"/>
          </a:xfrm>
          <a:prstGeom prst="roundRect">
            <a:avLst>
              <a:gd name="adj" fmla="val 50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7168" y="2167128"/>
            <a:ext cx="3520439" cy="3895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B45539"/>
                </a:solidFill>
              </a:rPr>
              <a:t>อ่านกราฟ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ซ้าย: อัตราค่าหายรายคอลัมน์ อยู่ที่ ~2% เท่านั้น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ขวา: จุดค่าหายกระจายทั่วตาราง ไม่เกาะกลุ่ม</a:t>
            </a:r>
          </a:p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B45539"/>
                </a:solidFill>
              </a:rPr>
              <a:t>นัยยะ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รูปแบบคล้าย MCAR → เติมด้วย median / model-based ได้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ไม่จำเป็นต้องตัดแถวทิ้ง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2190884" cy="329184"/>
          </a:xfrm>
          <a:prstGeom prst="roundRect">
            <a:avLst>
              <a:gd name="adj" fmla="val 50000"/>
            </a:avLst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B45539"/>
                </a:solidFill>
              </a:rPr>
              <a:t>ส่วนที่ 2 · DESCRIPTIVE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สถิติเชิงพรรณนา — ตัวแปรตัวเลขทั้ง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2148840"/>
          <a:ext cx="11155680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1143000"/>
                <a:gridCol w="1143000"/>
                <a:gridCol w="1005840"/>
                <a:gridCol w="1234440"/>
                <a:gridCol w="1051560"/>
                <a:gridCol w="1051560"/>
                <a:gridCol w="1325880"/>
              </a:tblGrid>
              <a:tr h="420624"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B455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B455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std</a:t>
                      </a:r>
                    </a:p>
                  </a:txBody>
                  <a:tcPr anchor="ctr">
                    <a:solidFill>
                      <a:srgbClr val="B455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min</a:t>
                      </a:r>
                    </a:p>
                  </a:txBody>
                  <a:tcPr anchor="ctr">
                    <a:solidFill>
                      <a:srgbClr val="B455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median</a:t>
                      </a:r>
                    </a:p>
                  </a:txBody>
                  <a:tcPr anchor="ctr">
                    <a:solidFill>
                      <a:srgbClr val="B455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max</a:t>
                      </a:r>
                    </a:p>
                  </a:txBody>
                  <a:tcPr anchor="ctr">
                    <a:solidFill>
                      <a:srgbClr val="B455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skew</a:t>
                      </a:r>
                    </a:p>
                  </a:txBody>
                  <a:tcPr anchor="ctr">
                    <a:solidFill>
                      <a:srgbClr val="B455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kurtosis</a:t>
                      </a:r>
                    </a:p>
                  </a:txBody>
                  <a:tcPr anchor="ctr">
                    <a:solidFill>
                      <a:srgbClr val="B4553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Age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21.02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2.02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-0.01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-1.28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Commute_Time_mins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69.10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35.11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0.30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-0.54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Attendance_Percentage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69.19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14.64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-0.13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-0.23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Study_Hours_per_Day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2.99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1.47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3.0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8.5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0.10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-0.33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Social_Media_Hours_per_Day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3.51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1.49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3.5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0.07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-0.23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Sleep_Hours_per_Night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6.52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1.19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3.0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6.5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10.0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0.02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-0.13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Previous_Semester_SGPA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5.53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0.86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2.32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5.52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9.08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0.02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-0.04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Number_of_KTs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1.54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1.33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0.79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0.44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76656" y="58064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>
                <a:latin typeface="Sarabun"/>
              </a:defRPr>
            </a:pPr>
            <a:r>
              <a:rPr sz="1300" b="0" i="0">
                <a:solidFill>
                  <a:srgbClr val="8C8273"/>
                </a:solidFill>
              </a:rPr>
              <a:t>ทุกตัว |skew| &lt; 0.8 → ค่อนข้างสมมาตร (mean ≈ median)  ·  kurtosis ติดลบเกือบทั้งหมด → หางบาง / ค่อนข้างแบน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2190884" cy="329184"/>
          </a:xfrm>
          <a:prstGeom prst="roundRect">
            <a:avLst>
              <a:gd name="adj" fmla="val 50000"/>
            </a:avLst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B45539"/>
                </a:solidFill>
              </a:rPr>
              <a:t>ส่วนที่ 2 · DESCRIPTIVE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ตัวแปรจัดกลุ่ม — การกระจายเด่น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2011680"/>
          <a:ext cx="10881360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503920"/>
              </a:tblGrid>
              <a:tr h="420624">
                <a:tc>
                  <a:txBody>
                    <a:bodyPr/>
                    <a:lstStyle/>
                    <a:p>
                      <a:pPr>
                        <a:defRPr sz="145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ตัวแปร</a:t>
                      </a:r>
                    </a:p>
                  </a:txBody>
                  <a:tcPr anchor="ctr">
                    <a:solidFill>
                      <a:srgbClr val="B455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การกระจาย (%)</a:t>
                      </a:r>
                    </a:p>
                  </a:txBody>
                  <a:tcPr anchor="ctr">
                    <a:solidFill>
                      <a:srgbClr val="B4553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Male 59.0 · Female 39.2 · Other 1.8   (ไม่สมดุล)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Branch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Computer Eng. 25 · IT 20 · AI&amp;DS 15 · EXTC 14 · อื่น ๆ 26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Year_of_Study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First / Second / Third / Final ≈ 25% เท่ากัน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Commute_Mode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Local Train 55 · Bus 20 · Two-Wheeler 15 · Walking 5 · Auto/Cab 5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Financial_Status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Middle 55 · Upper Middle 25 · Lower Middle 15 · Wealthy 5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Stress_Level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Low 50 · Medium 32 · High 18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1" i="0">
                          <a:solidFill>
                            <a:srgbClr val="2B2620"/>
                          </a:solidFill>
                          <a:latin typeface="Sarabun"/>
                        </a:defRPr>
                      </a:pPr>
                      <a:r>
                        <a:t>Has_KT</a:t>
                      </a:r>
                    </a:p>
                  </a:txBody>
                  <a:tcPr anchor="ctr">
                    <a:solidFill>
                      <a:srgbClr val="F3E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 i="0">
                          <a:solidFill>
                            <a:srgbClr val="474138"/>
                          </a:solidFill>
                          <a:latin typeface="Sarabun"/>
                        </a:defRPr>
                      </a:pPr>
                      <a:r>
                        <a:t>Yes 74.1 · No 25.9   (class imbalance)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2106760" cy="329184"/>
          </a:xfrm>
          <a:prstGeom prst="roundRect">
            <a:avLst>
              <a:gd name="adj" fmla="val 50000"/>
            </a:avLst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B45539"/>
                </a:solidFill>
              </a:rPr>
              <a:t>ส่วนที่ 2 · UNIVARIATE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การแจกแจงตัวแปรตัวเลขทั้ง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hist_nume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77034"/>
            <a:ext cx="7025336" cy="327553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11136" y="2029968"/>
            <a:ext cx="3977639" cy="4169664"/>
          </a:xfrm>
          <a:prstGeom prst="roundRect">
            <a:avLst>
              <a:gd name="adj" fmla="val 4500"/>
            </a:avLst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11136" y="2029968"/>
            <a:ext cx="63500" cy="4169664"/>
          </a:xfrm>
          <a:prstGeom prst="roundRect">
            <a:avLst>
              <a:gd name="adj" fmla="val 50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7168" y="2167128"/>
            <a:ext cx="3520439" cy="3895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B45539"/>
                </a:solidFill>
              </a:rPr>
              <a:t>รูปทรงการแจกแจง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เส้นแดง = mean, เส้นเขียว = median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เกือบทุกตัวสมมาตร mean ≈ median</a:t>
            </a:r>
          </a:p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B45539"/>
                </a:solidFill>
              </a:rPr>
              <a:t>ข้อสังเกต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Number_of_KTs เบ้ขวาเล็กน้อย (ข้อมูลนับ)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Age เป็นแบบไม่ต่อเนื่อง (18–24 ปี)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1770264" cy="329184"/>
          </a:xfrm>
          <a:prstGeom prst="roundRect">
            <a:avLst>
              <a:gd name="adj" fmla="val 50000"/>
            </a:avLst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B45539"/>
                </a:solidFill>
              </a:rPr>
              <a:t>ส่วนที่ 2 ·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ตัวแปรเป้าหมาย — Number_of_KTs &amp; Has_KT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54502"/>
            <a:ext cx="7025336" cy="27205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11136" y="2029968"/>
            <a:ext cx="3977639" cy="4169664"/>
          </a:xfrm>
          <a:prstGeom prst="roundRect">
            <a:avLst>
              <a:gd name="adj" fmla="val 4500"/>
            </a:avLst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11136" y="2029968"/>
            <a:ext cx="63500" cy="4169664"/>
          </a:xfrm>
          <a:prstGeom prst="roundRect">
            <a:avLst>
              <a:gd name="adj" fmla="val 50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7168" y="2167128"/>
            <a:ext cx="3520439" cy="3895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B45539"/>
                </a:solidFill>
              </a:rPr>
              <a:t>เป้าหมาย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ค่าเฉลี่ย 1.54 วิชา/คน · median 1 · สูงสุด 7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74% ของนักศึกษาติด KT อย่างน้อย 1 วิชา</a:t>
            </a:r>
          </a:p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B45539"/>
                </a:solidFill>
              </a:rPr>
              <a:t>นัยยะต่อการสร้างโมเดล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คลาสไม่สมดุล (74 : 26)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ควรใช้ metric เช่น F1 / ROC-AUC แทน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2286001"/>
          </a:xfrm>
          <a:prstGeom prst="rect">
            <a:avLst/>
          </a:prstGeom>
          <a:solidFill>
            <a:srgbClr val="3E6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64592" cy="2286001"/>
          </a:xfrm>
          <a:prstGeom prst="rect">
            <a:avLst/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164592" cy="2286001"/>
          </a:xfrm>
          <a:prstGeom prst="rect">
            <a:avLst/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37215" y="914400"/>
            <a:ext cx="237744" cy="237744"/>
          </a:xfrm>
          <a:prstGeom prst="ellipse">
            <a:avLst/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21263" y="914400"/>
            <a:ext cx="237744" cy="237744"/>
          </a:xfrm>
          <a:prstGeom prst="ellipse">
            <a:avLst/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05311" y="914400"/>
            <a:ext cx="237744" cy="237744"/>
          </a:xfrm>
          <a:prstGeom prst="ellipse">
            <a:avLst/>
          </a:prstGeom>
          <a:solidFill>
            <a:srgbClr val="3E6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600" b="1" i="0">
                <a:solidFill>
                  <a:srgbClr val="638B52"/>
                </a:solidFill>
              </a:rPr>
              <a:t>ส่วนที่ 3  ·  Relationships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288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4200" b="1" i="0">
                <a:solidFill>
                  <a:srgbClr val="2B2620"/>
                </a:solidFill>
              </a:rPr>
              <a:t>ความสัมพันธ์ระหว่างตัวแปร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17520"/>
            <a:ext cx="1554480" cy="50800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429000"/>
            <a:ext cx="10058400" cy="246888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270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429000"/>
            <a:ext cx="63500" cy="2468880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25296" y="3840480"/>
            <a:ext cx="155448" cy="155448"/>
          </a:xfrm>
          <a:prstGeom prst="ellipse">
            <a:avLst/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91056" y="3758184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700" b="1" i="0">
                <a:solidFill>
                  <a:srgbClr val="2B2620"/>
                </a:solidFill>
              </a:rPr>
              <a:t>ตัวเลข × ตัวเลข     </a:t>
            </a:r>
            <a:r>
              <a:rPr sz="1400" b="0" i="0">
                <a:solidFill>
                  <a:srgbClr val="8C8273"/>
                </a:solidFill>
              </a:rPr>
              <a:t>Pearson &amp; Spearman correlation · regression</a:t>
            </a:r>
          </a:p>
        </p:txBody>
      </p:sp>
      <p:sp>
        <p:nvSpPr>
          <p:cNvPr id="16" name="Oval 15"/>
          <p:cNvSpPr/>
          <p:nvPr/>
        </p:nvSpPr>
        <p:spPr>
          <a:xfrm>
            <a:off x="1225296" y="4498848"/>
            <a:ext cx="155448" cy="155448"/>
          </a:xfrm>
          <a:prstGeom prst="ellipse">
            <a:avLst/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91056" y="441655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700" b="1" i="0">
                <a:solidFill>
                  <a:srgbClr val="2B2620"/>
                </a:solidFill>
              </a:rPr>
              <a:t>ตัวเลข × กลุ่ม     </a:t>
            </a:r>
            <a:r>
              <a:rPr sz="1400" b="0" i="0">
                <a:solidFill>
                  <a:srgbClr val="8C8273"/>
                </a:solidFill>
              </a:rPr>
              <a:t>boxplot / violin · ค่าเฉลี่ยและมัธยฐานแยกกลุ่ม</a:t>
            </a:r>
          </a:p>
        </p:txBody>
      </p:sp>
      <p:sp>
        <p:nvSpPr>
          <p:cNvPr id="18" name="Oval 17"/>
          <p:cNvSpPr/>
          <p:nvPr/>
        </p:nvSpPr>
        <p:spPr>
          <a:xfrm>
            <a:off x="1225296" y="5157216"/>
            <a:ext cx="155448" cy="155448"/>
          </a:xfrm>
          <a:prstGeom prst="ellipse">
            <a:avLst/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91056" y="50749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700" b="1" i="0">
                <a:solidFill>
                  <a:srgbClr val="2B2620"/>
                </a:solidFill>
              </a:rPr>
              <a:t>กลุ่ม × กลุ่ม     </a:t>
            </a:r>
            <a:r>
              <a:rPr sz="1400" b="0" i="0">
                <a:solidFill>
                  <a:srgbClr val="8C8273"/>
                </a:solidFill>
              </a:rPr>
              <a:t>crosstab · stacked bar · Cramér's V (ค่าความสัมพันธ์)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2695628" cy="329184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638B52"/>
                </a:solidFill>
              </a:rPr>
              <a:t>ส่วนที่ 3 · NUMERIC × NUMERIC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ความสัมพันธ์ ตัวเลข × ตัวเลข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08181"/>
            <a:ext cx="7025336" cy="30132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11136" y="2029968"/>
            <a:ext cx="3977639" cy="4169664"/>
          </a:xfrm>
          <a:prstGeom prst="roundRect">
            <a:avLst>
              <a:gd name="adj" fmla="val 45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11136" y="2029968"/>
            <a:ext cx="63500" cy="4169664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7168" y="2167128"/>
            <a:ext cx="3520439" cy="3895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638B52"/>
                </a:solidFill>
              </a:rPr>
              <a:t>สัมพันธ์กับ Number_of_KTs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SGPA เดิม  r ≈ −0.35  (แรงสุด)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Study_Hours −0.30 · Attendance −0.30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Social_Media +0.18 · Commute_Time +0.11</a:t>
            </a:r>
          </a:p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638B52"/>
                </a:solidFill>
              </a:rPr>
              <a:t>โครงสร้างรวม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Pearson ≈ Spearman → ความสัมพันธ์เชิงเส้น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ตัวแปรอินพุตสัมพันธ์กันเองต่ำ → ไม่มี multicollinearity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3032124" cy="329184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638B52"/>
                </a:solidFill>
              </a:rPr>
              <a:t>ส่วนที่ 3 · NUMERIC × CATEGORICAL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ปัจจัยตัวเลข แยกตามสถานะ Has_KT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_violin_by_has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55613"/>
            <a:ext cx="7025336" cy="391837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11136" y="2029968"/>
            <a:ext cx="3977639" cy="4169664"/>
          </a:xfrm>
          <a:prstGeom prst="roundRect">
            <a:avLst>
              <a:gd name="adj" fmla="val 45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11136" y="2029968"/>
            <a:ext cx="63500" cy="4169664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7168" y="2167128"/>
            <a:ext cx="3520439" cy="3895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638B52"/>
                </a:solidFill>
              </a:rPr>
              <a:t>รูปทรงการกระจายแยกกลุ่ม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กลุ่มติด KT: SGPA / เข้าเรียน / ชั่วโมงอ่าน ต่ำกว่าชัดเจน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กลุ่มติด KT: โซเชียล / เวลาเดินทาง สูงกว่า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ความต่างของมัธยฐานสองกลุ่มเห็นชัดทุกปัจจัย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การนอนต่างกันเล็กน้อย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2948000" cy="329184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638B52"/>
                </a:solidFill>
              </a:rPr>
              <a:t>ส่วนที่ 3 · CATEGORICAL ×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ค่าเฉลี่ยจำนวน KT แยกตามตัวแปรกลุ่ม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8_meanKT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31047"/>
            <a:ext cx="7025336" cy="176750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11136" y="2029968"/>
            <a:ext cx="3977639" cy="4169664"/>
          </a:xfrm>
          <a:prstGeom prst="roundRect">
            <a:avLst>
              <a:gd name="adj" fmla="val 45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11136" y="2029968"/>
            <a:ext cx="63500" cy="4169664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7168" y="2167128"/>
            <a:ext cx="3520439" cy="3895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638B52"/>
                </a:solidFill>
              </a:rPr>
              <a:t>ปัจจัยกลุ่มที่แยกได้ชัด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Stress_Level: เฉลี่ย 0.6 → 1.9 → 3.5 วิชา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Commute_Mode: Local Train แย่กว่าโหมดอื่น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มี Peer_Learning / Mentorship = KT น้อยกว่า</a:t>
            </a:r>
          </a:p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638B52"/>
                </a:solidFill>
              </a:rPr>
              <a:t>แถบ error = ช่วงเชื่อมั่น 95%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3368620" cy="329184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638B52"/>
                </a:solidFill>
              </a:rPr>
              <a:t>ส่วนที่ 3 · CATEGORICAL × CATEGORICAL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ความสัมพันธ์ กลุ่ม × กลุ่ม (Cramér's 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_cramers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437" y="2029968"/>
            <a:ext cx="4560861" cy="41696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11136" y="2029968"/>
            <a:ext cx="3977639" cy="4169664"/>
          </a:xfrm>
          <a:prstGeom prst="roundRect">
            <a:avLst>
              <a:gd name="adj" fmla="val 45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11136" y="2029968"/>
            <a:ext cx="63500" cy="4169664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7168" y="2167128"/>
            <a:ext cx="3520439" cy="3895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638B52"/>
                </a:solidFill>
              </a:rPr>
              <a:t>Cramér's V (0–1)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Stress_Level × Has_KT: สูงเด่นชัด (~0.56)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Peer_Learning / Mentorship × Has_KT: อ่อน (~0.12)</a:t>
            </a:r>
          </a:p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638B52"/>
                </a:solidFill>
              </a:rPr>
              <a:t>ข้อสังเกต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demographic (เพศ สาขา ชั้นปี ฐานะ) เป็นอิสระต่อกัน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ชุดข้อมูลออกแบบให้ตัวแปรพื้นฐานไม่พันกัน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2275008" cy="329184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638B52"/>
                </a:solidFill>
              </a:rPr>
              <a:t>ส่วนที่ 3 · RELATIONSHIP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Stress_Level × Has_KT — ความสัมพันธ์ที่แรงที่สุด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0_stress_vs_has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1331"/>
            <a:ext cx="7025336" cy="23869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11136" y="2029968"/>
            <a:ext cx="3977639" cy="4169664"/>
          </a:xfrm>
          <a:prstGeom prst="roundRect">
            <a:avLst>
              <a:gd name="adj" fmla="val 45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11136" y="2029968"/>
            <a:ext cx="63500" cy="4169664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7168" y="2167128"/>
            <a:ext cx="3520439" cy="3895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638B52"/>
                </a:solidFill>
              </a:rPr>
              <a:t>สัดส่วนติด KT ตามระดับความเครียด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Low → 50% · Medium → 98% · High → 100%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ความสัมพันธ์แรงมาก (Cramér's V = 0.56)</a:t>
            </a:r>
          </a:p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638B52"/>
                </a:solidFill>
              </a:rPr>
              <a:t>ข้อควรระวัง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ความเครียดอาจเป็น "ผล" ของการติด KT ด้วย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→ อย่าใช้เป็น predictor แบบไร้เงื่อนไข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2275008" cy="329184"/>
          </a:xfrm>
          <a:prstGeom prst="roundRect">
            <a:avLst>
              <a:gd name="adj" fmla="val 500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638B52"/>
                </a:solidFill>
              </a:rPr>
              <a:t>ส่วนที่ 3 · MULTIVARIATE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Pairplot ปัจจัยตัวเลขหลัก (สี = Has_KT)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1_pai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334" y="2029968"/>
            <a:ext cx="4417068" cy="41696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11136" y="2029968"/>
            <a:ext cx="3977639" cy="4169664"/>
          </a:xfrm>
          <a:prstGeom prst="roundRect">
            <a:avLst>
              <a:gd name="adj" fmla="val 45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11136" y="2029968"/>
            <a:ext cx="63500" cy="4169664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7168" y="2167128"/>
            <a:ext cx="3520439" cy="3895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638B52"/>
                </a:solidFill>
              </a:rPr>
              <a:t>ภาพหลายมิติ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กลุ่มสองสี (ติด / ไม่ติด KT) เหลื่อมกันมาก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ไม่มีคู่ตัวแปรใดแยกกลุ่มได้ขาด</a:t>
            </a:r>
          </a:p>
          <a:p>
            <a:pPr algn="l">
              <a:lnSpc>
                <a:spcPct val="124000"/>
              </a:lnSpc>
              <a:spcAft>
                <a:spcPts val="300"/>
              </a:spcAft>
              <a:defRPr>
                <a:latin typeface="Sarabun"/>
              </a:defRPr>
            </a:pPr>
            <a:r>
              <a:rPr sz="1800" b="1" i="0">
                <a:solidFill>
                  <a:srgbClr val="638B52"/>
                </a:solidFill>
              </a:rPr>
              <a:t>นัยยะ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ต้องใช้หลายปัจจัยร่วมกันในการทำนาย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เหมาะกับโมเดลที่รวมหลาย feature</a:t>
            </a:r>
          </a:p>
          <a:p>
            <a:pPr algn="l">
              <a:lnSpc>
                <a:spcPct val="124000"/>
              </a:lnSpc>
              <a:spcAft>
                <a:spcPts val="600"/>
              </a:spcAft>
              <a:defRPr>
                <a:latin typeface="Sarabun"/>
              </a:defRPr>
            </a:pPr>
            <a:r>
              <a:rPr sz="1600" b="0" i="0">
                <a:solidFill>
                  <a:srgbClr val="474138"/>
                </a:solidFill>
              </a:rPr>
              <a:t>•  (เช่น logistic regression / decision tree)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E6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1854388" cy="329184"/>
          </a:xfrm>
          <a:prstGeom prst="roundRect">
            <a:avLst>
              <a:gd name="adj" fmla="val 50000"/>
            </a:avLst>
          </a:prstGeom>
          <a:solidFill>
            <a:srgbClr val="E5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3E6392"/>
                </a:solidFill>
              </a:rPr>
              <a:t>สรุป · 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สรุปข้อค้นพบ (1/2)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3E6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E5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965960"/>
            <a:ext cx="10881360" cy="1517904"/>
          </a:xfrm>
          <a:prstGeom prst="roundRect">
            <a:avLst>
              <a:gd name="adj" fmla="val 5000"/>
            </a:avLst>
          </a:prstGeom>
          <a:solidFill>
            <a:srgbClr val="E5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63500" cy="1517904"/>
          </a:xfrm>
          <a:prstGeom prst="roundRect">
            <a:avLst>
              <a:gd name="adj" fmla="val 50000"/>
            </a:avLst>
          </a:prstGeom>
          <a:solidFill>
            <a:srgbClr val="3E6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13055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700" b="1" i="0">
                <a:solidFill>
                  <a:srgbClr val="3E6392"/>
                </a:solidFill>
              </a:rPr>
              <a:t>โครงสร้าง &amp; คุณภาพข้อมูล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624328"/>
            <a:ext cx="10058400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defRPr>
                <a:latin typeface="Sarabun"/>
              </a:defRPr>
            </a:pPr>
            <a:r>
              <a:rPr sz="1400" b="0" i="0">
                <a:solidFill>
                  <a:srgbClr val="474138"/>
                </a:solidFill>
              </a:rPr>
              <a:t>•  10,000 × 21 · ไม่มีแถว/ID ซ้ำ · ค่าหาย ~2% เฉพาะ 4 คอลัมน์ตัวเลข กระจายแบบสุ่ม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defRPr>
                <a:latin typeface="Sarabun"/>
              </a:defRPr>
            </a:pPr>
            <a:r>
              <a:rPr sz="1400" b="0" i="0">
                <a:solidFill>
                  <a:srgbClr val="474138"/>
                </a:solidFill>
              </a:rPr>
              <a:t>•  Has_KT, Cleared_in_First_Attempt, (Number_of_KTs&gt;0) = ข้อมูลชุดเดียวกัน → ระวัง target leakage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739896"/>
            <a:ext cx="10881360" cy="1517904"/>
          </a:xfrm>
          <a:prstGeom prst="roundRect">
            <a:avLst>
              <a:gd name="adj" fmla="val 5000"/>
            </a:avLst>
          </a:prstGeom>
          <a:solidFill>
            <a:srgbClr val="F3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3739896"/>
            <a:ext cx="63500" cy="1517904"/>
          </a:xfrm>
          <a:prstGeom prst="roundRect">
            <a:avLst>
              <a:gd name="adj" fmla="val 50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90448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700" b="1" i="0">
                <a:solidFill>
                  <a:srgbClr val="B45539"/>
                </a:solidFill>
              </a:rPr>
              <a:t>สถิติเชิงพรรณนา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398264"/>
            <a:ext cx="10058400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defRPr>
                <a:latin typeface="Sarabun"/>
              </a:defRPr>
            </a:pPr>
            <a:r>
              <a:rPr sz="1400" b="0" i="0">
                <a:solidFill>
                  <a:srgbClr val="474138"/>
                </a:solidFill>
              </a:rPr>
              <a:t>•  ตัวแปรตัวเลขแจกแจงสมมาตร (|skew| &lt; 0.8) · kurtosis ติดลบ (หางบาง) คล้ายสุ่มจาก uniform/normal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defRPr>
                <a:latin typeface="Sarabun"/>
              </a:defRPr>
            </a:pPr>
            <a:r>
              <a:rPr sz="1400" b="0" i="0">
                <a:solidFill>
                  <a:srgbClr val="474138"/>
                </a:solidFill>
              </a:rPr>
              <a:t>•  เป้าหมายไม่สมดุล: 74% ติด KT · เฉลี่ย 1.54 วิชา/คน · สูงสุด 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64224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3855" y="63642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>
                <a:latin typeface="Sarabun"/>
              </a:defRPr>
            </a:pPr>
            <a:r>
              <a:rPr sz="1000" b="0" i="0">
                <a:solidFill>
                  <a:srgbClr val="8C8273"/>
                </a:solidFill>
              </a:rPr>
              <a:t>ธนเสริฐ ตั้งตรงสกุลดี · 6805007181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E6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548640"/>
            <a:ext cx="1854388" cy="329184"/>
          </a:xfrm>
          <a:prstGeom prst="roundRect">
            <a:avLst>
              <a:gd name="adj" fmla="val 50000"/>
            </a:avLst>
          </a:prstGeom>
          <a:solidFill>
            <a:srgbClr val="E5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25400" bIns="25400"/>
          <a:lstStyle/>
          <a:p>
            <a:pPr algn="ctr">
              <a:defRPr>
                <a:latin typeface="Sarabun"/>
              </a:defRPr>
            </a:pPr>
            <a:r>
              <a:rPr sz="1100" b="1" i="0">
                <a:solidFill>
                  <a:srgbClr val="3E6392"/>
                </a:solidFill>
              </a:rPr>
              <a:t>สรุป · 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0584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2800" b="1" i="0">
                <a:solidFill>
                  <a:srgbClr val="2B2620"/>
                </a:solidFill>
              </a:rPr>
              <a:t>สรุปข้อค้นพบ (2/2)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3E6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49424" y="1801368"/>
            <a:ext cx="128016" cy="128016"/>
          </a:xfrm>
          <a:prstGeom prst="ellipse">
            <a:avLst/>
          </a:prstGeom>
          <a:solidFill>
            <a:srgbClr val="E5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965960"/>
            <a:ext cx="10881360" cy="2724912"/>
          </a:xfrm>
          <a:prstGeom prst="roundRect">
            <a:avLst>
              <a:gd name="adj" fmla="val 5000"/>
            </a:avLst>
          </a:prstGeom>
          <a:solidFill>
            <a:srgbClr val="E7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63500" cy="2724912"/>
          </a:xfrm>
          <a:prstGeom prst="roundRect">
            <a:avLst>
              <a:gd name="adj" fmla="val 5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130552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700" b="1" i="0">
                <a:solidFill>
                  <a:srgbClr val="638B52"/>
                </a:solidFill>
              </a:rPr>
              <a:t>ความสัมพันธ์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624328"/>
            <a:ext cx="10058400" cy="2084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defRPr>
                <a:latin typeface="Sarabun"/>
              </a:defRPr>
            </a:pPr>
            <a:r>
              <a:rPr sz="1400" b="0" i="0">
                <a:solidFill>
                  <a:srgbClr val="474138"/>
                </a:solidFill>
              </a:rPr>
              <a:t>•  ลด KT: SGPA เดิม (r≈−0.35), ชั่วโมงอ่านหนังสือ (−0.30), การเข้าเรียน (−0.30)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defRPr>
                <a:latin typeface="Sarabun"/>
              </a:defRPr>
            </a:pPr>
            <a:r>
              <a:rPr sz="1400" b="0" i="0">
                <a:solidFill>
                  <a:srgbClr val="474138"/>
                </a:solidFill>
              </a:rPr>
              <a:t>•  เพิ่ม KT: ชั่วโมงโซเชียล (r≈+0.18), เวลาเดินทาง (+0.11); การนอน/อายุ แทบไม่มีผล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defRPr>
                <a:latin typeface="Sarabun"/>
              </a:defRPr>
            </a:pPr>
            <a:r>
              <a:rPr sz="1400" b="0" i="0">
                <a:solidFill>
                  <a:srgbClr val="474138"/>
                </a:solidFill>
              </a:rPr>
              <a:t>•  ปัจจัยกลุ่มที่แยกความเสี่ยงชัด: Stress_Level (0.6 → 3.5) รองลงมา Commute_Mode, Peer_Learning, Mentorship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defRPr>
                <a:latin typeface="Sarabun"/>
              </a:defRPr>
            </a:pPr>
            <a:r>
              <a:rPr sz="1400" b="0" i="0">
                <a:solidFill>
                  <a:srgbClr val="474138"/>
                </a:solidFill>
              </a:rPr>
              <a:t>•  ไม่มีผล: เพศ, สาขา, ชั้นปี, ฐานะการเงิน, กิจกรรมนอกหลักสูตร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defRPr>
                <a:latin typeface="Sarabun"/>
              </a:defRPr>
            </a:pPr>
            <a:r>
              <a:rPr sz="1400" b="0" i="0">
                <a:solidFill>
                  <a:srgbClr val="474138"/>
                </a:solidFill>
              </a:rPr>
              <a:t>•  ตัวแปรอินพุตสัมพันธ์กันเองต่ำ → ทุกตัวให้ข้อมูลเสริมกัน ไม่มี multicollinearity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946904"/>
            <a:ext cx="10881360" cy="1115568"/>
          </a:xfrm>
          <a:prstGeom prst="roundRect">
            <a:avLst>
              <a:gd name="adj" fmla="val 5000"/>
            </a:avLst>
          </a:prstGeom>
          <a:solidFill>
            <a:srgbClr val="F4E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946904"/>
            <a:ext cx="63500" cy="1115568"/>
          </a:xfrm>
          <a:prstGeom prst="roundRect">
            <a:avLst>
              <a:gd name="adj" fmla="val 50000"/>
            </a:avLst>
          </a:prstGeom>
          <a:solidFill>
            <a:srgbClr val="C79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111496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1700" b="1" i="0">
                <a:solidFill>
                  <a:srgbClr val="C7973B"/>
                </a:solidFill>
              </a:rPr>
              <a:t>นัยเชิงปฏิบัติ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5605272"/>
            <a:ext cx="10058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defRPr>
                <a:latin typeface="Sarabun"/>
              </a:defRPr>
            </a:pPr>
            <a:r>
              <a:rPr sz="1400" b="0" i="0">
                <a:solidFill>
                  <a:srgbClr val="474138"/>
                </a:solidFill>
              </a:rPr>
              <a:t>•  กลุ่ม "เครียดสูง + เข้าเรียนน้อย + โซเชียลเยอะ + SGPA ต่ำ" คือเป้าหมายของระบบ early-warning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2331720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3E63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25880" y="2331720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83080" y="2331720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63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880360"/>
            <a:ext cx="1554480" cy="50800"/>
          </a:xfrm>
          <a:prstGeom prst="roundRect">
            <a:avLst>
              <a:gd name="adj" fmla="val 50000"/>
            </a:avLst>
          </a:prstGeom>
          <a:solidFill>
            <a:srgbClr val="B45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>
                <a:latin typeface="Sarabun"/>
              </a:defRPr>
            </a:pPr>
            <a:r>
              <a:rPr sz="4000" b="1" i="0">
                <a:solidFill>
                  <a:srgbClr val="FFFFFF"/>
                </a:solidFill>
              </a:rPr>
              <a:t>ขอบคุณครับ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297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>
                <a:latin typeface="Sarabun"/>
              </a:defRPr>
            </a:pPr>
            <a:r>
              <a:rPr sz="1800" b="0" i="0">
                <a:solidFill>
                  <a:srgbClr val="CFC7BA"/>
                </a:solidFill>
              </a:rPr>
              <a:t>ชื่อ–สกุล: </a:t>
            </a:r>
            <a:r>
              <a:rPr sz="1800" b="1" i="0">
                <a:solidFill>
                  <a:srgbClr val="FFFFFF"/>
                </a:solidFill>
              </a:rPr>
              <a:t>ธนเสริฐ ตั้งตรงสกุลดี</a:t>
            </a:r>
          </a:p>
          <a:p>
            <a:pPr algn="l">
              <a:lnSpc>
                <a:spcPct val="140000"/>
              </a:lnSpc>
              <a:defRPr>
                <a:latin typeface="Sarabun"/>
              </a:defRPr>
            </a:pPr>
            <a:r>
              <a:rPr sz="1800" b="0" i="0">
                <a:solidFill>
                  <a:srgbClr val="CFC7BA"/>
                </a:solidFill>
              </a:rPr>
              <a:t>รหัสนักศึกษา: </a:t>
            </a:r>
            <a:r>
              <a:rPr sz="1800" b="1" i="0">
                <a:solidFill>
                  <a:srgbClr val="FFFFFF"/>
                </a:solidFill>
              </a:rPr>
              <a:t>6805007181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