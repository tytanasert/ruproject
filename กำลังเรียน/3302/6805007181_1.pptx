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i1NveQaD+BfOMqEPpJ73WUSTQ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4f1cec761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4f1cec761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4f1cec761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4f1cec761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4f1cec761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4f1cec761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4f1cec761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4f1cec761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4f1cec761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4f1cec761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4f1cec761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4f1cec761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4f1cec761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4f1cec761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/>
          <p:nvPr/>
        </p:nvSpPr>
        <p:spPr>
          <a:xfrm>
            <a:off x="3127386" y="1976768"/>
            <a:ext cx="6929120" cy="4877511"/>
          </a:xfrm>
          <a:custGeom>
            <a:rect b="b" l="l" r="r" t="t"/>
            <a:pathLst>
              <a:path extrusionOk="0" h="4877511" w="6929120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ap between two buildings against the blue sky" id="17" name="Google Shape;17;p15"/>
          <p:cNvPicPr preferRelativeResize="0"/>
          <p:nvPr/>
        </p:nvPicPr>
        <p:blipFill rotWithShape="1">
          <a:blip r:embed="rId2">
            <a:alphaModFix/>
          </a:blip>
          <a:srcRect b="8386" l="0" r="0" t="2550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5"/>
          <p:cNvSpPr txBox="1"/>
          <p:nvPr>
            <p:ph type="ctrTitle"/>
          </p:nvPr>
        </p:nvSpPr>
        <p:spPr>
          <a:xfrm>
            <a:off x="816767" y="1399032"/>
            <a:ext cx="6757416" cy="3427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816768" y="417444"/>
            <a:ext cx="7414940" cy="883258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  <a:defRPr sz="2400" cap="none"/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" showMasterSp="0">
  <p:cSld name="Title and content with imag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6696221" y="640080"/>
            <a:ext cx="5029200" cy="215798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/>
          <p:nvPr>
            <p:ph idx="2" type="pic"/>
          </p:nvPr>
        </p:nvSpPr>
        <p:spPr>
          <a:xfrm>
            <a:off x="1395412" y="653461"/>
            <a:ext cx="4597556" cy="55499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696221" y="3127248"/>
            <a:ext cx="4834517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 cap="none"/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None/>
              <a:defRPr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/>
          <p:nvPr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 rot="-5400000">
            <a:off x="8854442" y="2953511"/>
            <a:ext cx="6291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03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" name="Google Shape;29;p17"/>
          <p:cNvSpPr txBox="1"/>
          <p:nvPr>
            <p:ph type="title"/>
          </p:nvPr>
        </p:nvSpPr>
        <p:spPr>
          <a:xfrm>
            <a:off x="6693408" y="640080"/>
            <a:ext cx="5093208" cy="218922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/>
          <p:nvPr>
            <p:ph idx="2" type="pic"/>
          </p:nvPr>
        </p:nvSpPr>
        <p:spPr>
          <a:xfrm>
            <a:off x="832104" y="640080"/>
            <a:ext cx="4727448" cy="5559552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6693408" y="3145536"/>
            <a:ext cx="4306824" cy="23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8E8E8F"/>
              </a:buClr>
              <a:buSzPts val="2000"/>
              <a:buFont typeface="Avenir"/>
              <a:buNone/>
              <a:defRPr sz="2000">
                <a:solidFill>
                  <a:srgbClr val="8E8E8F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800"/>
              <a:buFont typeface="Avenir"/>
              <a:buNone/>
              <a:defRPr sz="1800">
                <a:solidFill>
                  <a:srgbClr val="8E8E8F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Font typeface="Avenir"/>
              <a:buNone/>
              <a:defRPr sz="1600">
                <a:solidFill>
                  <a:srgbClr val="8E8E8F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Font typeface="Avenir"/>
              <a:buNone/>
              <a:defRPr sz="1600">
                <a:solidFill>
                  <a:srgbClr val="8E8E8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9pPr>
          </a:lstStyle>
          <a:p/>
        </p:txBody>
      </p:sp>
      <p:sp>
        <p:nvSpPr>
          <p:cNvPr id="32" name="Google Shape;32;p17"/>
          <p:cNvSpPr/>
          <p:nvPr/>
        </p:nvSpPr>
        <p:spPr>
          <a:xfrm>
            <a:off x="4903412" y="3140474"/>
            <a:ext cx="1314946" cy="1314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and image">
  <p:cSld name="Title, subtitle, and imag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47383" y="1106424"/>
            <a:ext cx="6839712" cy="174650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50392" y="3236976"/>
            <a:ext cx="5248656" cy="2660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8E8E8F"/>
              </a:buClr>
              <a:buSzPts val="2000"/>
              <a:buFont typeface="Avenir"/>
              <a:buNone/>
              <a:defRPr sz="2000">
                <a:solidFill>
                  <a:srgbClr val="8E8E8F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800"/>
              <a:buFont typeface="Avenir"/>
              <a:buNone/>
              <a:defRPr sz="1800">
                <a:solidFill>
                  <a:srgbClr val="8E8E8F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Font typeface="Avenir"/>
              <a:buNone/>
              <a:defRPr sz="1600">
                <a:solidFill>
                  <a:srgbClr val="8E8E8F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Font typeface="Avenir"/>
              <a:buNone/>
              <a:defRPr sz="1600">
                <a:solidFill>
                  <a:srgbClr val="8E8E8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9pPr>
          </a:lstStyle>
          <a:p/>
        </p:txBody>
      </p:sp>
      <p:sp>
        <p:nvSpPr>
          <p:cNvPr id="36" name="Google Shape;36;p18"/>
          <p:cNvSpPr/>
          <p:nvPr>
            <p:ph idx="2" type="pic"/>
          </p:nvPr>
        </p:nvSpPr>
        <p:spPr>
          <a:xfrm>
            <a:off x="7680960" y="804672"/>
            <a:ext cx="3475649" cy="524865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sp>
      <p:sp>
        <p:nvSpPr>
          <p:cNvPr id="37" name="Google Shape;37;p18"/>
          <p:cNvSpPr txBox="1"/>
          <p:nvPr>
            <p:ph idx="11" type="ftr"/>
          </p:nvPr>
        </p:nvSpPr>
        <p:spPr>
          <a:xfrm rot="-5400000">
            <a:off x="8854442" y="2953511"/>
            <a:ext cx="6291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03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 showMasterSp="0">
  <p:cSld name="Title and sub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accessory&#10;&#10;Description automatically generated" id="40" name="Google Shape;40;p19"/>
          <p:cNvPicPr preferRelativeResize="0"/>
          <p:nvPr/>
        </p:nvPicPr>
        <p:blipFill rotWithShape="1">
          <a:blip r:embed="rId2">
            <a:alphaModFix/>
          </a:blip>
          <a:srcRect b="1533" l="0" r="21975" t="0"/>
          <a:stretch/>
        </p:blipFill>
        <p:spPr>
          <a:xfrm rot="8325578">
            <a:off x="-1775001" y="-1607470"/>
            <a:ext cx="10567962" cy="8905077"/>
          </a:xfrm>
          <a:custGeom>
            <a:rect b="b" l="l" r="r" t="t"/>
            <a:pathLst>
              <a:path extrusionOk="0" h="8905077" w="10567962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1" name="Google Shape;41;p19"/>
          <p:cNvSpPr/>
          <p:nvPr/>
        </p:nvSpPr>
        <p:spPr>
          <a:xfrm>
            <a:off x="925160" y="4144752"/>
            <a:ext cx="4788322" cy="2713249"/>
          </a:xfrm>
          <a:custGeom>
            <a:rect b="b" l="l" r="r" t="t"/>
            <a:pathLst>
              <a:path extrusionOk="0" h="2713249" w="4788322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74117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2" name="Google Shape;42;p19"/>
          <p:cNvSpPr txBox="1"/>
          <p:nvPr>
            <p:ph type="title"/>
          </p:nvPr>
        </p:nvSpPr>
        <p:spPr>
          <a:xfrm>
            <a:off x="6693408" y="1325880"/>
            <a:ext cx="5093208" cy="28163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subTitle"/>
          </p:nvPr>
        </p:nvSpPr>
        <p:spPr>
          <a:xfrm>
            <a:off x="6693408" y="4462272"/>
            <a:ext cx="3995928" cy="195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 cap="none"/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4" name="Google Shape;44;p19"/>
          <p:cNvSpPr/>
          <p:nvPr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 and 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/>
          <p:nvPr/>
        </p:nvSpPr>
        <p:spPr>
          <a:xfrm>
            <a:off x="4410512" y="4010866"/>
            <a:ext cx="5056094" cy="2847135"/>
          </a:xfrm>
          <a:custGeom>
            <a:rect b="b" l="l" r="r" t="t"/>
            <a:pathLst>
              <a:path extrusionOk="0" h="2847135" w="5056094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Modern house with cubic design" id="47" name="Google Shape;47;p20"/>
          <p:cNvPicPr preferRelativeResize="0"/>
          <p:nvPr/>
        </p:nvPicPr>
        <p:blipFill rotWithShape="1">
          <a:blip r:embed="rId2">
            <a:alphaModFix/>
          </a:blip>
          <a:srcRect b="23487" l="-406" r="17667" t="0"/>
          <a:stretch/>
        </p:blipFill>
        <p:spPr>
          <a:xfrm>
            <a:off x="4124294" y="2125402"/>
            <a:ext cx="7678065" cy="473259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0"/>
          <p:cNvSpPr txBox="1"/>
          <p:nvPr>
            <p:ph type="title"/>
          </p:nvPr>
        </p:nvSpPr>
        <p:spPr>
          <a:xfrm>
            <a:off x="850392" y="420624"/>
            <a:ext cx="109545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b="0" i="0" sz="3200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body"/>
          </p:nvPr>
        </p:nvSpPr>
        <p:spPr>
          <a:xfrm>
            <a:off x="850899" y="2231136"/>
            <a:ext cx="482803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1" type="ftr"/>
          </p:nvPr>
        </p:nvSpPr>
        <p:spPr>
          <a:xfrm rot="-5400000">
            <a:off x="8854442" y="2953511"/>
            <a:ext cx="6291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03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21"/>
          <p:cNvGrpSpPr/>
          <p:nvPr/>
        </p:nvGrpSpPr>
        <p:grpSpPr>
          <a:xfrm>
            <a:off x="-1" y="-2"/>
            <a:ext cx="12191610" cy="6858001"/>
            <a:chOff x="-1" y="-2"/>
            <a:chExt cx="12191610" cy="6858001"/>
          </a:xfrm>
        </p:grpSpPr>
        <p:pic>
          <p:nvPicPr>
            <p:cNvPr descr="White modern architecture" id="54" name="Google Shape;54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6155702" y="-2"/>
              <a:ext cx="6035907" cy="6858001"/>
            </a:xfrm>
            <a:prstGeom prst="rect">
              <a:avLst/>
            </a:prstGeom>
            <a:solidFill>
              <a:srgbClr val="D6FBF5"/>
            </a:solidFill>
            <a:ln>
              <a:noFill/>
            </a:ln>
          </p:spPr>
        </p:pic>
        <p:pic>
          <p:nvPicPr>
            <p:cNvPr descr="White modern architecture" id="55" name="Google Shape;5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1" y="-2"/>
              <a:ext cx="6035907" cy="6858001"/>
            </a:xfrm>
            <a:prstGeom prst="rect">
              <a:avLst/>
            </a:prstGeom>
            <a:solidFill>
              <a:srgbClr val="D6FBF5"/>
            </a:solidFill>
            <a:ln>
              <a:noFill/>
            </a:ln>
          </p:spPr>
        </p:pic>
      </p:grpSp>
      <p:sp>
        <p:nvSpPr>
          <p:cNvPr id="56" name="Google Shape;56;p21"/>
          <p:cNvSpPr txBox="1"/>
          <p:nvPr>
            <p:ph type="title"/>
          </p:nvPr>
        </p:nvSpPr>
        <p:spPr>
          <a:xfrm>
            <a:off x="2648932" y="0"/>
            <a:ext cx="6894136" cy="6894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with image">
  <p:cSld name="Two content with imag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 txBox="1"/>
          <p:nvPr>
            <p:ph type="title"/>
          </p:nvPr>
        </p:nvSpPr>
        <p:spPr>
          <a:xfrm>
            <a:off x="846879" y="868680"/>
            <a:ext cx="5248656" cy="2157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/>
          <p:nvPr>
            <p:ph idx="2" type="pic"/>
          </p:nvPr>
        </p:nvSpPr>
        <p:spPr>
          <a:xfrm>
            <a:off x="0" y="3159126"/>
            <a:ext cx="4577463" cy="369887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6729984" y="786384"/>
            <a:ext cx="4617720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b="1" sz="1800" cap="non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3" type="body"/>
          </p:nvPr>
        </p:nvSpPr>
        <p:spPr>
          <a:xfrm>
            <a:off x="6729984" y="3858768"/>
            <a:ext cx="4617720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b="1" sz="1800" cap="none">
                <a:latin typeface="Avenir"/>
                <a:ea typeface="Avenir"/>
                <a:cs typeface="Avenir"/>
                <a:sym typeface="Avenir"/>
              </a:defRPr>
            </a:lvl1pPr>
            <a:lvl2pPr indent="-3683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1" type="ftr"/>
          </p:nvPr>
        </p:nvSpPr>
        <p:spPr>
          <a:xfrm rot="-5400000">
            <a:off x="8854442" y="2953511"/>
            <a:ext cx="6291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03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/>
          <p:nvPr>
            <p:ph type="title"/>
          </p:nvPr>
        </p:nvSpPr>
        <p:spPr>
          <a:xfrm>
            <a:off x="850392" y="182880"/>
            <a:ext cx="10122632" cy="1307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850392" y="1837944"/>
            <a:ext cx="10085832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2" type="body"/>
          </p:nvPr>
        </p:nvSpPr>
        <p:spPr>
          <a:xfrm>
            <a:off x="850392" y="3950208"/>
            <a:ext cx="10085832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 rot="-5400000">
            <a:off x="8854442" y="2953511"/>
            <a:ext cx="6291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03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">
  <p:cSld name="Two Content 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850392" y="182880"/>
            <a:ext cx="10122632" cy="1307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>
            <a:off x="850392" y="1837944"/>
            <a:ext cx="3941064" cy="4270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b="1" sz="1800" cap="none"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2" type="body"/>
          </p:nvPr>
        </p:nvSpPr>
        <p:spPr>
          <a:xfrm>
            <a:off x="5614416" y="1837944"/>
            <a:ext cx="5358384" cy="427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 rot="-5400000">
            <a:off x="8854442" y="2953511"/>
            <a:ext cx="6291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03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>
            <a:off x="850392" y="182880"/>
            <a:ext cx="10122632" cy="1307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>
            <a:off x="850168" y="1828800"/>
            <a:ext cx="1012636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1" type="ftr"/>
          </p:nvPr>
        </p:nvSpPr>
        <p:spPr>
          <a:xfrm rot="-5400000">
            <a:off x="8854442" y="2953511"/>
            <a:ext cx="6291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03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"/>
          <p:cNvSpPr txBox="1"/>
          <p:nvPr>
            <p:ph type="title"/>
          </p:nvPr>
        </p:nvSpPr>
        <p:spPr>
          <a:xfrm>
            <a:off x="850392" y="182880"/>
            <a:ext cx="10085832" cy="1307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" type="body"/>
          </p:nvPr>
        </p:nvSpPr>
        <p:spPr>
          <a:xfrm>
            <a:off x="850392" y="1911096"/>
            <a:ext cx="4837176" cy="2898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 cap="none"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2" type="body"/>
          </p:nvPr>
        </p:nvSpPr>
        <p:spPr>
          <a:xfrm>
            <a:off x="6812280" y="1911096"/>
            <a:ext cx="4453128" cy="1911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cap="none"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400"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6"/>
          <p:cNvSpPr/>
          <p:nvPr>
            <p:ph idx="3" type="pic"/>
          </p:nvPr>
        </p:nvSpPr>
        <p:spPr>
          <a:xfrm>
            <a:off x="6812280" y="4242816"/>
            <a:ext cx="4123944" cy="2615184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sp>
      <p:sp>
        <p:nvSpPr>
          <p:cNvPr id="86" name="Google Shape;86;p26"/>
          <p:cNvSpPr txBox="1"/>
          <p:nvPr>
            <p:ph idx="11" type="ftr"/>
          </p:nvPr>
        </p:nvSpPr>
        <p:spPr>
          <a:xfrm rot="-5400000">
            <a:off x="8854442" y="2953511"/>
            <a:ext cx="6291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030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rge walking intersection with one lone person" id="89" name="Google Shape;8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1811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7"/>
          <p:cNvSpPr/>
          <p:nvPr/>
        </p:nvSpPr>
        <p:spPr>
          <a:xfrm>
            <a:off x="777819" y="0"/>
            <a:ext cx="8272488" cy="6858000"/>
          </a:xfrm>
          <a:custGeom>
            <a:rect b="b" l="l" r="r" t="t"/>
            <a:pathLst>
              <a:path extrusionOk="0" h="6858000" w="8272488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1" name="Google Shape;91;p27"/>
          <p:cNvSpPr txBox="1"/>
          <p:nvPr>
            <p:ph type="title"/>
          </p:nvPr>
        </p:nvSpPr>
        <p:spPr>
          <a:xfrm>
            <a:off x="1907196" y="2188196"/>
            <a:ext cx="5985159" cy="159450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b="1" i="0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" type="body"/>
          </p:nvPr>
        </p:nvSpPr>
        <p:spPr>
          <a:xfrm>
            <a:off x="1907196" y="4078224"/>
            <a:ext cx="5444517" cy="1731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b="0" i="0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2000"/>
              <a:buFont typeface="Avenir"/>
              <a:buNone/>
              <a:defRPr sz="2000">
                <a:solidFill>
                  <a:srgbClr val="8E8E8F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800"/>
              <a:buFont typeface="Avenir"/>
              <a:buNone/>
              <a:defRPr sz="1800">
                <a:solidFill>
                  <a:srgbClr val="8E8E8F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Font typeface="Avenir"/>
              <a:buNone/>
              <a:defRPr sz="1600">
                <a:solidFill>
                  <a:srgbClr val="8E8E8F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Font typeface="Avenir"/>
              <a:buNone/>
              <a:defRPr sz="1600">
                <a:solidFill>
                  <a:srgbClr val="8E8E8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E8F"/>
              </a:buClr>
              <a:buSzPts val="1600"/>
              <a:buNone/>
              <a:defRPr sz="1600">
                <a:solidFill>
                  <a:srgbClr val="8E8E8F"/>
                </a:solidFill>
              </a:defRPr>
            </a:lvl9pPr>
          </a:lstStyle>
          <a:p/>
        </p:txBody>
      </p:sp>
      <p:sp>
        <p:nvSpPr>
          <p:cNvPr id="93" name="Google Shape;93;p27"/>
          <p:cNvSpPr/>
          <p:nvPr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392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4" name="Google Shape;94;p27"/>
          <p:cNvSpPr/>
          <p:nvPr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392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 rot="-5400000">
            <a:off x="8570975" y="3236976"/>
            <a:ext cx="6858000" cy="3840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" name="Google Shape;11;p14"/>
          <p:cNvSpPr txBox="1"/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  <a:defRPr b="1" i="0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4"/>
          <p:cNvSpPr txBox="1"/>
          <p:nvPr>
            <p:ph idx="1" type="body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None/>
              <a:defRPr b="0" i="0" sz="2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4"/>
          <p:cNvSpPr txBox="1"/>
          <p:nvPr>
            <p:ph idx="11" type="ftr"/>
          </p:nvPr>
        </p:nvSpPr>
        <p:spPr>
          <a:xfrm rot="-5400000">
            <a:off x="8854442" y="2953511"/>
            <a:ext cx="62910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030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orient="horz" pos="1152">
          <p15:clr>
            <a:srgbClr val="547EBF"/>
          </p15:clr>
        </p15:guide>
        <p15:guide id="3" pos="7440">
          <p15:clr>
            <a:srgbClr val="547EBF"/>
          </p15:clr>
        </p15:guide>
        <p15:guide id="4" orient="horz" pos="4080">
          <p15:clr>
            <a:srgbClr val="547EBF"/>
          </p15:clr>
        </p15:guide>
        <p15:guide id="5">
          <p15:clr>
            <a:srgbClr val="547EBF"/>
          </p15:clr>
        </p15:guide>
        <p15:guide id="6" pos="7680">
          <p15:clr>
            <a:srgbClr val="547EBF"/>
          </p15:clr>
        </p15:guide>
        <p15:guide id="7" pos="528">
          <p15:clr>
            <a:srgbClr val="547EBF"/>
          </p15:clr>
        </p15:guide>
        <p15:guide id="8" pos="6912">
          <p15:clr>
            <a:srgbClr val="547EBF"/>
          </p15:clr>
        </p15:guide>
        <p15:guide id="9" orient="horz" pos="240">
          <p15:clr>
            <a:srgbClr val="547EBF"/>
          </p15:clr>
        </p15:guide>
        <p15:guide id="10" orient="horz" pos="552">
          <p15:clr>
            <a:srgbClr val="547EB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mirjam@adatum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816767" y="1399032"/>
            <a:ext cx="6757416" cy="3427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/>
              <a:t>ข้อมูลจากกลุ่มตัวอย่างจากจังหวัดปราจีน</a:t>
            </a:r>
            <a:endParaRPr/>
          </a:p>
        </p:txBody>
      </p: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816768" y="417444"/>
            <a:ext cx="7414940" cy="883258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6805007181 ธนเสริฐ ตั้งตรงสกุลดี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489515" y="208072"/>
            <a:ext cx="11041200" cy="1858500"/>
          </a:xfrm>
          <a:prstGeom prst="rect">
            <a:avLst/>
          </a:prstGeom>
          <a:solidFill>
            <a:schemeClr val="accent1">
              <a:alpha val="8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6" name="Google Shape;106;p2"/>
          <p:cNvSpPr txBox="1"/>
          <p:nvPr>
            <p:ph idx="12" type="sldNum"/>
          </p:nvPr>
        </p:nvSpPr>
        <p:spPr>
          <a:xfrm rot="-5400000">
            <a:off x="11716512" y="638251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83788" l="0" r="20798" t="0"/>
          <a:stretch/>
        </p:blipFill>
        <p:spPr>
          <a:xfrm>
            <a:off x="1171626" y="381000"/>
            <a:ext cx="9505382" cy="168557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28109" r="0" t="24196"/>
          <a:stretch/>
        </p:blipFill>
        <p:spPr>
          <a:xfrm>
            <a:off x="3698875" y="1828802"/>
            <a:ext cx="5162320" cy="4715725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6693400" y="640077"/>
            <a:ext cx="50931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/>
              <a:t>เพศ</a:t>
            </a:r>
            <a:endParaRPr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6693400" y="2250900"/>
            <a:ext cx="48375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ปราจีนมีเพศชายและเพศหญิงจำนวนใกล้เคียงกัน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28109" r="0" t="24196"/>
          <a:stretch/>
        </p:blipFill>
        <p:spPr>
          <a:xfrm>
            <a:off x="1659750" y="697651"/>
            <a:ext cx="5391927" cy="492547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21125"/>
            <a:ext cx="2030488" cy="33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f4f1cec761_0_21"/>
          <p:cNvPicPr preferRelativeResize="0"/>
          <p:nvPr/>
        </p:nvPicPr>
        <p:blipFill rotWithShape="1">
          <a:blip r:embed="rId3">
            <a:alphaModFix/>
          </a:blip>
          <a:srcRect b="0" l="28109" r="0" t="24196"/>
          <a:stretch/>
        </p:blipFill>
        <p:spPr>
          <a:xfrm>
            <a:off x="1659750" y="697651"/>
            <a:ext cx="5391927" cy="492547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  <p:sp>
        <p:nvSpPr>
          <p:cNvPr id="122" name="Google Shape;122;g3f4f1cec761_0_21"/>
          <p:cNvSpPr txBox="1"/>
          <p:nvPr>
            <p:ph type="title"/>
          </p:nvPr>
        </p:nvSpPr>
        <p:spPr>
          <a:xfrm>
            <a:off x="6693400" y="640077"/>
            <a:ext cx="50931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/>
              <a:t>อายุ</a:t>
            </a:r>
            <a:endParaRPr/>
          </a:p>
        </p:txBody>
      </p:sp>
      <p:sp>
        <p:nvSpPr>
          <p:cNvPr id="123" name="Google Shape;123;g3f4f1cec761_0_21"/>
          <p:cNvSpPr txBox="1"/>
          <p:nvPr>
            <p:ph idx="1" type="body"/>
          </p:nvPr>
        </p:nvSpPr>
        <p:spPr>
          <a:xfrm>
            <a:off x="6693400" y="2250900"/>
            <a:ext cx="48375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ปราจีนมีคนอายุอยู่ในวัยผู้ใหญ่เยอะที่สุด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รองลงมาคือผู้สูงอายุ และเด็กตามลำดับ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t/>
            </a:r>
            <a:endParaRPr/>
          </a:p>
        </p:txBody>
      </p:sp>
      <p:pic>
        <p:nvPicPr>
          <p:cNvPr id="124" name="Google Shape;124;g3f4f1cec761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21125"/>
            <a:ext cx="2030488" cy="33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f4f1cec761_0_42"/>
          <p:cNvPicPr preferRelativeResize="0"/>
          <p:nvPr/>
        </p:nvPicPr>
        <p:blipFill rotWithShape="1">
          <a:blip r:embed="rId3">
            <a:alphaModFix/>
          </a:blip>
          <a:srcRect b="0" l="28109" r="0" t="24196"/>
          <a:stretch/>
        </p:blipFill>
        <p:spPr>
          <a:xfrm>
            <a:off x="1659750" y="697651"/>
            <a:ext cx="5391927" cy="492547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  <p:sp>
        <p:nvSpPr>
          <p:cNvPr id="130" name="Google Shape;130;g3f4f1cec761_0_42"/>
          <p:cNvSpPr txBox="1"/>
          <p:nvPr>
            <p:ph type="title"/>
          </p:nvPr>
        </p:nvSpPr>
        <p:spPr>
          <a:xfrm>
            <a:off x="6693400" y="640077"/>
            <a:ext cx="50931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/>
              <a:t>อาชีพ</a:t>
            </a:r>
            <a:endParaRPr/>
          </a:p>
        </p:txBody>
      </p:sp>
      <p:sp>
        <p:nvSpPr>
          <p:cNvPr id="131" name="Google Shape;131;g3f4f1cec761_0_42"/>
          <p:cNvSpPr txBox="1"/>
          <p:nvPr>
            <p:ph idx="1" type="body"/>
          </p:nvPr>
        </p:nvSpPr>
        <p:spPr>
          <a:xfrm>
            <a:off x="6693400" y="2250900"/>
            <a:ext cx="48375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อาชีพที่ทำกันเยอะที่สุดคือ รับจ้างทั่วไป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อาชีพที่รองลงมาคือ กำลังศึกษา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อาชีพรองอันดับที่2 คือ พนักงานบริษัท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ปราจีนมีคนทำอาชีพเกษตร-ทำนา , ปศุสัตว์ ,ทำไร่,ประมง เพียง 11.44%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t/>
            </a:r>
            <a:endParaRPr/>
          </a:p>
        </p:txBody>
      </p:sp>
      <p:pic>
        <p:nvPicPr>
          <p:cNvPr id="132" name="Google Shape;132;g3f4f1cec761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21125"/>
            <a:ext cx="2030488" cy="33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f4f1cec761_0_49"/>
          <p:cNvPicPr preferRelativeResize="0"/>
          <p:nvPr/>
        </p:nvPicPr>
        <p:blipFill rotWithShape="1">
          <a:blip r:embed="rId3">
            <a:alphaModFix/>
          </a:blip>
          <a:srcRect b="0" l="28109" r="0" t="24196"/>
          <a:stretch/>
        </p:blipFill>
        <p:spPr>
          <a:xfrm>
            <a:off x="1659750" y="697651"/>
            <a:ext cx="5391927" cy="492547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  <p:sp>
        <p:nvSpPr>
          <p:cNvPr id="138" name="Google Shape;138;g3f4f1cec761_0_49"/>
          <p:cNvSpPr txBox="1"/>
          <p:nvPr>
            <p:ph idx="1" type="body"/>
          </p:nvPr>
        </p:nvSpPr>
        <p:spPr>
          <a:xfrm>
            <a:off x="6693400" y="2250900"/>
            <a:ext cx="48375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อายุ ผู้ใหญ่ ทำงานรับจ้างทั่ว กับ พนักงานบริษัท และมีส่วน</a:t>
            </a:r>
            <a:endParaRPr/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มีผู้ใหญ๋ที่กำลังศึกษาอยู่ 8.24%</a:t>
            </a:r>
            <a:endParaRPr/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อายุเด็ก กำลังศึกษาเกือบทุกคน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4f1cec761_0_49"/>
          <p:cNvSpPr txBox="1"/>
          <p:nvPr>
            <p:ph type="title"/>
          </p:nvPr>
        </p:nvSpPr>
        <p:spPr>
          <a:xfrm>
            <a:off x="6693400" y="640077"/>
            <a:ext cx="50931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/>
              <a:t>อายุ กับ อาชีพ</a:t>
            </a:r>
            <a:endParaRPr/>
          </a:p>
        </p:txBody>
      </p:sp>
      <p:pic>
        <p:nvPicPr>
          <p:cNvPr id="140" name="Google Shape;140;g3f4f1cec761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21125"/>
            <a:ext cx="2030488" cy="33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f4f1cec761_0_56"/>
          <p:cNvPicPr preferRelativeResize="0"/>
          <p:nvPr/>
        </p:nvPicPr>
        <p:blipFill rotWithShape="1">
          <a:blip r:embed="rId3">
            <a:alphaModFix/>
          </a:blip>
          <a:srcRect b="0" l="28109" r="0" t="24196"/>
          <a:stretch/>
        </p:blipFill>
        <p:spPr>
          <a:xfrm>
            <a:off x="1659750" y="697651"/>
            <a:ext cx="5391927" cy="492547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  <p:sp>
        <p:nvSpPr>
          <p:cNvPr id="146" name="Google Shape;146;g3f4f1cec761_0_56"/>
          <p:cNvSpPr txBox="1"/>
          <p:nvPr>
            <p:ph type="title"/>
          </p:nvPr>
        </p:nvSpPr>
        <p:spPr>
          <a:xfrm>
            <a:off x="6693400" y="640077"/>
            <a:ext cx="50931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/>
              <a:t>เพศ อายุ</a:t>
            </a:r>
            <a:endParaRPr/>
          </a:p>
        </p:txBody>
      </p:sp>
      <p:sp>
        <p:nvSpPr>
          <p:cNvPr id="147" name="Google Shape;147;g3f4f1cec761_0_56"/>
          <p:cNvSpPr txBox="1"/>
          <p:nvPr>
            <p:ph idx="1" type="body"/>
          </p:nvPr>
        </p:nvSpPr>
        <p:spPr>
          <a:xfrm>
            <a:off x="6693400" y="2250900"/>
            <a:ext cx="48375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ปราจีนมีมีผู้หญิงจำนวนใกล้เคียงกับผู้ชาย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ทั้งชายและหญิง เป็นผู้ใหญ่ เป็นส่วนมาก รองลงมาเป็น ผู้สูงอายุ และเด็กตามลำดับเหมือนกัน</a:t>
            </a:r>
            <a:endParaRPr/>
          </a:p>
        </p:txBody>
      </p:sp>
      <p:pic>
        <p:nvPicPr>
          <p:cNvPr id="148" name="Google Shape;148;g3f4f1cec761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21125"/>
            <a:ext cx="2030488" cy="33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f4f1cec761_0_63"/>
          <p:cNvPicPr preferRelativeResize="0"/>
          <p:nvPr/>
        </p:nvPicPr>
        <p:blipFill rotWithShape="1">
          <a:blip r:embed="rId3">
            <a:alphaModFix/>
          </a:blip>
          <a:srcRect b="0" l="28109" r="0" t="24196"/>
          <a:stretch/>
        </p:blipFill>
        <p:spPr>
          <a:xfrm>
            <a:off x="1659750" y="697651"/>
            <a:ext cx="5391927" cy="492547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  <p:sp>
        <p:nvSpPr>
          <p:cNvPr id="154" name="Google Shape;154;g3f4f1cec761_0_63"/>
          <p:cNvSpPr txBox="1"/>
          <p:nvPr>
            <p:ph type="title"/>
          </p:nvPr>
        </p:nvSpPr>
        <p:spPr>
          <a:xfrm>
            <a:off x="6693400" y="640077"/>
            <a:ext cx="50931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/>
              <a:t>เพศ อาชีพ</a:t>
            </a:r>
            <a:endParaRPr/>
          </a:p>
        </p:txBody>
      </p:sp>
      <p:sp>
        <p:nvSpPr>
          <p:cNvPr id="155" name="Google Shape;155;g3f4f1cec761_0_63"/>
          <p:cNvSpPr txBox="1"/>
          <p:nvPr>
            <p:ph idx="1" type="body"/>
          </p:nvPr>
        </p:nvSpPr>
        <p:spPr>
          <a:xfrm>
            <a:off x="6693400" y="2250900"/>
            <a:ext cx="48375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เพศชายและเพศหญิงมีทำอาชีพที่คล้ายกัน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อาชีพที่ทำมากที่สุดคือ รับจ้างทั่วไป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อาชีพที่ทำรองลงมาคือ กำลังศึกษาและพนักงานบริษัทจำนวนใกล้เคียงกัน</a:t>
            </a:r>
            <a:endParaRPr/>
          </a:p>
        </p:txBody>
      </p:sp>
      <p:pic>
        <p:nvPicPr>
          <p:cNvPr id="156" name="Google Shape;156;g3f4f1cec761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21125"/>
            <a:ext cx="2030488" cy="33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f4f1cec761_0_75"/>
          <p:cNvPicPr preferRelativeResize="0"/>
          <p:nvPr/>
        </p:nvPicPr>
        <p:blipFill rotWithShape="1">
          <a:blip r:embed="rId3">
            <a:alphaModFix/>
          </a:blip>
          <a:srcRect b="0" l="28109" r="0" t="24196"/>
          <a:stretch/>
        </p:blipFill>
        <p:spPr>
          <a:xfrm>
            <a:off x="1659750" y="697651"/>
            <a:ext cx="5391927" cy="492547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  <p:sp>
        <p:nvSpPr>
          <p:cNvPr id="162" name="Google Shape;162;g3f4f1cec761_0_75"/>
          <p:cNvSpPr txBox="1"/>
          <p:nvPr>
            <p:ph type="title"/>
          </p:nvPr>
        </p:nvSpPr>
        <p:spPr>
          <a:xfrm>
            <a:off x="6693400" y="640077"/>
            <a:ext cx="50931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/>
              <a:t>เพศ อายุ อาชีพ</a:t>
            </a:r>
            <a:endParaRPr/>
          </a:p>
        </p:txBody>
      </p:sp>
      <p:sp>
        <p:nvSpPr>
          <p:cNvPr id="163" name="Google Shape;163;g3f4f1cec761_0_75"/>
          <p:cNvSpPr txBox="1"/>
          <p:nvPr>
            <p:ph idx="1" type="body"/>
          </p:nvPr>
        </p:nvSpPr>
        <p:spPr>
          <a:xfrm>
            <a:off x="6693400" y="2250900"/>
            <a:ext cx="48375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เพศชายและเพศหญิงมีความอายุและอาชีพที่คล้ายคลึงกันมาก</a:t>
            </a:r>
            <a:br>
              <a:rPr lang="en-US"/>
            </a:br>
            <a:r>
              <a:rPr lang="en-US"/>
              <a:t>ไม่ได้มีความหลากหลายคือแตกต่างกัน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อาจเป็นเพราะให้ความสำคัญกับทุกคนอย่างเทียม</a:t>
            </a:r>
            <a:endParaRPr/>
          </a:p>
        </p:txBody>
      </p:sp>
      <p:pic>
        <p:nvPicPr>
          <p:cNvPr id="164" name="Google Shape;164;g3f4f1cec761_0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21125"/>
            <a:ext cx="2030488" cy="33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f4f1cec761_0_82"/>
          <p:cNvPicPr preferRelativeResize="0"/>
          <p:nvPr/>
        </p:nvPicPr>
        <p:blipFill rotWithShape="1">
          <a:blip r:embed="rId3">
            <a:alphaModFix/>
          </a:blip>
          <a:srcRect b="0" l="28109" r="0" t="24196"/>
          <a:stretch/>
        </p:blipFill>
        <p:spPr>
          <a:xfrm>
            <a:off x="1659750" y="697651"/>
            <a:ext cx="5391927" cy="4925476"/>
          </a:xfrm>
          <a:prstGeom prst="rect">
            <a:avLst/>
          </a:prstGeom>
          <a:solidFill>
            <a:srgbClr val="D6FBF5"/>
          </a:solidFill>
          <a:ln>
            <a:noFill/>
          </a:ln>
        </p:spPr>
      </p:pic>
      <p:sp>
        <p:nvSpPr>
          <p:cNvPr id="170" name="Google Shape;170;g3f4f1cec761_0_82"/>
          <p:cNvSpPr txBox="1"/>
          <p:nvPr>
            <p:ph type="title"/>
          </p:nvPr>
        </p:nvSpPr>
        <p:spPr>
          <a:xfrm>
            <a:off x="6693400" y="640077"/>
            <a:ext cx="50931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/>
              <a:t>เพศ อายุ อาชีพ</a:t>
            </a:r>
            <a:endParaRPr/>
          </a:p>
        </p:txBody>
      </p:sp>
      <p:sp>
        <p:nvSpPr>
          <p:cNvPr id="171" name="Google Shape;171;g3f4f1cec761_0_82"/>
          <p:cNvSpPr txBox="1"/>
          <p:nvPr>
            <p:ph idx="1" type="body"/>
          </p:nvPr>
        </p:nvSpPr>
        <p:spPr>
          <a:xfrm>
            <a:off x="6693400" y="2250900"/>
            <a:ext cx="4837500" cy="3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จากการสังเกตอายุในจังหวัดปราจีนสังเกตเห็นว่า</a:t>
            </a:r>
            <a:br>
              <a:rPr lang="en-US"/>
            </a:br>
            <a:r>
              <a:rPr lang="en-US"/>
              <a:t>เป็นผู้ใหญ่ และผู้สูงอายุ 90.4%</a:t>
            </a:r>
            <a:br>
              <a:rPr lang="en-US"/>
            </a:br>
            <a:r>
              <a:rPr lang="en-US"/>
              <a:t>โดยเป็นผู้สูงอายุ 26.4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ผู้ใหญ่ 64%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</a:pPr>
            <a:r>
              <a:rPr lang="en-US"/>
              <a:t>ดังนั้นอนาคตจะเข้าสู่สังคมสูงวัย</a:t>
            </a:r>
            <a:endParaRPr/>
          </a:p>
        </p:txBody>
      </p:sp>
      <p:pic>
        <p:nvPicPr>
          <p:cNvPr id="172" name="Google Shape;172;g3f4f1cec761_0_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21125"/>
            <a:ext cx="2030488" cy="33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/>
          <p:nvPr>
            <p:ph type="title"/>
          </p:nvPr>
        </p:nvSpPr>
        <p:spPr>
          <a:xfrm>
            <a:off x="1907196" y="2188196"/>
            <a:ext cx="5985159" cy="159450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79" name="Google Shape;179;p13"/>
          <p:cNvSpPr txBox="1"/>
          <p:nvPr>
            <p:ph idx="1" type="body"/>
          </p:nvPr>
        </p:nvSpPr>
        <p:spPr>
          <a:xfrm>
            <a:off x="1907196" y="4078224"/>
            <a:ext cx="5444517" cy="1731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rPr lang="en-US"/>
              <a:t>Frey Munch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mirjam@adatum.com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rPr lang="en-US"/>
              <a:t>www.adatum.com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2022-06-22T01:27:02Z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